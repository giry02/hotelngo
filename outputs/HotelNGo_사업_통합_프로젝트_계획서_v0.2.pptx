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b041b2bad9543e8" /><Relationship Type="http://schemas.openxmlformats.org/officeDocument/2006/relationships/extended-properties" Target="/docProps/app.xml" Id="Re1bcc332841a48c8" /><Relationship Type="http://schemas.openxmlformats.org/officeDocument/2006/relationships/officeDocument" Target="/ppt/presentation.xml" Id="R65b02b186ce9450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cbe5fba37f84cad"/>
  </p:sldMasterIdLst>
  <p:notesMasterIdLst>
    <p:notesMasterId xmlns:r="http://schemas.openxmlformats.org/officeDocument/2006/relationships" r:id="Rf1e61b3df2384f85"/>
  </p:notesMasterIdLst>
  <p:sldIdLst>
    <p:sldId xmlns:r="http://schemas.openxmlformats.org/officeDocument/2006/relationships" id="256" r:id="Rdf8630df3b7a4aa3"/>
    <p:sldId xmlns:r="http://schemas.openxmlformats.org/officeDocument/2006/relationships" id="257" r:id="Rb3124da760bf4814"/>
    <p:sldId xmlns:r="http://schemas.openxmlformats.org/officeDocument/2006/relationships" id="258" r:id="R6380b849d2ad4e6c"/>
    <p:sldId xmlns:r="http://schemas.openxmlformats.org/officeDocument/2006/relationships" id="259" r:id="R15d6e399e2d04da8"/>
    <p:sldId xmlns:r="http://schemas.openxmlformats.org/officeDocument/2006/relationships" id="260" r:id="R10c500c57fab43f3"/>
    <p:sldId xmlns:r="http://schemas.openxmlformats.org/officeDocument/2006/relationships" id="261" r:id="R6229cee3d4204a72"/>
    <p:sldId xmlns:r="http://schemas.openxmlformats.org/officeDocument/2006/relationships" id="262" r:id="R0064234c4f0b4cc7"/>
    <p:sldId xmlns:r="http://schemas.openxmlformats.org/officeDocument/2006/relationships" id="263" r:id="Rcc55af5382394ac7"/>
    <p:sldId xmlns:r="http://schemas.openxmlformats.org/officeDocument/2006/relationships" id="264" r:id="R113dd928eebe41f2"/>
    <p:sldId xmlns:r="http://schemas.openxmlformats.org/officeDocument/2006/relationships" id="265" r:id="Re6769d509d1c4ca3"/>
    <p:sldId xmlns:r="http://schemas.openxmlformats.org/officeDocument/2006/relationships" id="266" r:id="R9667a2652ca043b9"/>
    <p:sldId xmlns:r="http://schemas.openxmlformats.org/officeDocument/2006/relationships" id="267" r:id="Rfaca5f99aeac4b57"/>
    <p:sldId xmlns:r="http://schemas.openxmlformats.org/officeDocument/2006/relationships" id="268" r:id="R62f915905e564cc0"/>
    <p:sldId xmlns:r="http://schemas.openxmlformats.org/officeDocument/2006/relationships" id="269" r:id="Rc0542231357a403d"/>
    <p:sldId xmlns:r="http://schemas.openxmlformats.org/officeDocument/2006/relationships" id="270" r:id="R52e92761dc864a0b"/>
    <p:sldId xmlns:r="http://schemas.openxmlformats.org/officeDocument/2006/relationships" id="271" r:id="R414acc664a754e3f"/>
    <p:sldId xmlns:r="http://schemas.openxmlformats.org/officeDocument/2006/relationships" id="272" r:id="Rec2699c7c28c419e"/>
    <p:sldId xmlns:r="http://schemas.openxmlformats.org/officeDocument/2006/relationships" id="273" r:id="R82df81a295514d98"/>
    <p:sldId xmlns:r="http://schemas.openxmlformats.org/officeDocument/2006/relationships" id="274" r:id="R790e840af3a64025"/>
    <p:sldId xmlns:r="http://schemas.openxmlformats.org/officeDocument/2006/relationships" id="275" r:id="R3082bea713824d11"/>
    <p:sldId xmlns:r="http://schemas.openxmlformats.org/officeDocument/2006/relationships" id="276" r:id="R7fc004a1115f4f99"/>
    <p:sldId xmlns:r="http://schemas.openxmlformats.org/officeDocument/2006/relationships" id="277" r:id="Rc87095eb4d194922"/>
    <p:sldId xmlns:r="http://schemas.openxmlformats.org/officeDocument/2006/relationships" id="278" r:id="Redcc16c92a9c45d7"/>
  </p:sldIdLst>
  <p:sldSz cx="9906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p="http://schemas.openxmlformats.org/presentationml/2006/main"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eb4b04dd9624418" /><Relationship Type="http://schemas.openxmlformats.org/officeDocument/2006/relationships/slideMaster" Target="/ppt/slideMasters/slideMaster1.xml" Id="R2cbe5fba37f84cad" /><Relationship Type="http://schemas.openxmlformats.org/officeDocument/2006/relationships/notesMaster" Target="/ppt/notesMasters/notesMaster1.xml" Id="Rf1e61b3df2384f85" /><Relationship Type="http://schemas.openxmlformats.org/officeDocument/2006/relationships/presProps" Target="/ppt/presProps.xml" Id="Rfd5ac322cdb34f8a" /><Relationship Type="http://schemas.openxmlformats.org/officeDocument/2006/relationships/viewProps" Target="/ppt/viewProps.xml" Id="R41b9402ff6c445d3" /><Relationship Type="http://schemas.openxmlformats.org/officeDocument/2006/relationships/tableStyles" Target="/ppt/tableStyles.xml" Id="Rbf345c00550242c2" /><Relationship Type="http://schemas.openxmlformats.org/officeDocument/2006/relationships/slide" Target="/ppt/slides/slide1.xml" Id="Rdf8630df3b7a4aa3" /><Relationship Type="http://schemas.openxmlformats.org/officeDocument/2006/relationships/slide" Target="/ppt/slides/slide2.xml" Id="Rb3124da760bf4814" /><Relationship Type="http://schemas.openxmlformats.org/officeDocument/2006/relationships/slide" Target="/ppt/slides/slide3.xml" Id="R6380b849d2ad4e6c" /><Relationship Type="http://schemas.openxmlformats.org/officeDocument/2006/relationships/slide" Target="/ppt/slides/slide4.xml" Id="R15d6e399e2d04da8" /><Relationship Type="http://schemas.openxmlformats.org/officeDocument/2006/relationships/slide" Target="/ppt/slides/slide5.xml" Id="R10c500c57fab43f3" /><Relationship Type="http://schemas.openxmlformats.org/officeDocument/2006/relationships/slide" Target="/ppt/slides/slide6.xml" Id="R6229cee3d4204a72" /><Relationship Type="http://schemas.openxmlformats.org/officeDocument/2006/relationships/slide" Target="/ppt/slides/slide7.xml" Id="R0064234c4f0b4cc7" /><Relationship Type="http://schemas.openxmlformats.org/officeDocument/2006/relationships/slide" Target="/ppt/slides/slide8.xml" Id="Rcc55af5382394ac7" /><Relationship Type="http://schemas.openxmlformats.org/officeDocument/2006/relationships/slide" Target="/ppt/slides/slide9.xml" Id="R113dd928eebe41f2" /><Relationship Type="http://schemas.openxmlformats.org/officeDocument/2006/relationships/slide" Target="/ppt/slides/slide10.xml" Id="Re6769d509d1c4ca3" /><Relationship Type="http://schemas.openxmlformats.org/officeDocument/2006/relationships/slide" Target="/ppt/slides/slide11.xml" Id="R9667a2652ca043b9" /><Relationship Type="http://schemas.openxmlformats.org/officeDocument/2006/relationships/slide" Target="/ppt/slides/slide12.xml" Id="Rfaca5f99aeac4b57" /><Relationship Type="http://schemas.openxmlformats.org/officeDocument/2006/relationships/slide" Target="/ppt/slides/slide13.xml" Id="R62f915905e564cc0" /><Relationship Type="http://schemas.openxmlformats.org/officeDocument/2006/relationships/slide" Target="/ppt/slides/slide14.xml" Id="Rc0542231357a403d" /><Relationship Type="http://schemas.openxmlformats.org/officeDocument/2006/relationships/slide" Target="/ppt/slides/slide15.xml" Id="R52e92761dc864a0b" /><Relationship Type="http://schemas.openxmlformats.org/officeDocument/2006/relationships/slide" Target="/ppt/slides/slide16.xml" Id="R414acc664a754e3f" /><Relationship Type="http://schemas.openxmlformats.org/officeDocument/2006/relationships/slide" Target="/ppt/slides/slide17.xml" Id="Rec2699c7c28c419e" /><Relationship Type="http://schemas.openxmlformats.org/officeDocument/2006/relationships/slide" Target="/ppt/slides/slide18.xml" Id="R82df81a295514d98" /><Relationship Type="http://schemas.openxmlformats.org/officeDocument/2006/relationships/slide" Target="/ppt/slides/slide19.xml" Id="R790e840af3a64025" /><Relationship Type="http://schemas.openxmlformats.org/officeDocument/2006/relationships/slide" Target="/ppt/slides/slide20.xml" Id="R3082bea713824d11" /><Relationship Type="http://schemas.openxmlformats.org/officeDocument/2006/relationships/slide" Target="/ppt/slides/slide21.xml" Id="R7fc004a1115f4f99" /><Relationship Type="http://schemas.openxmlformats.org/officeDocument/2006/relationships/slide" Target="/ppt/slides/slide22.xml" Id="Rc87095eb4d194922" /><Relationship Type="http://schemas.openxmlformats.org/officeDocument/2006/relationships/slide" Target="/ppt/slides/slide23.xml" Id="Redcc16c92a9c45d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9c39d89eb9c482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테마">
  <a:themeElements>
    <a:clrScheme name="회색조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회색조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18779628c8e4353" /><Relationship Type="http://schemas.openxmlformats.org/officeDocument/2006/relationships/notesMaster" Target="/ppt/notesMasters/notesMaster1.xml" Id="Rb91e8033d81349d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0a34a15fa894258" /><Relationship Type="http://schemas.openxmlformats.org/officeDocument/2006/relationships/notesMaster" Target="/ppt/notesMasters/notesMaster1.xml" Id="Re9b7ae06c381442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b6c5fee5f634e04" /><Relationship Type="http://schemas.openxmlformats.org/officeDocument/2006/relationships/notesMaster" Target="/ppt/notesMasters/notesMaster1.xml" Id="Rb0e138f714d74a4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6e6be27bbd6406a" /><Relationship Type="http://schemas.openxmlformats.org/officeDocument/2006/relationships/notesMaster" Target="/ppt/notesMasters/notesMaster1.xml" Id="R9995f5601ffe4cc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5c864170d934fc9" /><Relationship Type="http://schemas.openxmlformats.org/officeDocument/2006/relationships/notesMaster" Target="/ppt/notesMasters/notesMaster1.xml" Id="R98cd572e0ad543e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5811a1050784598" /><Relationship Type="http://schemas.openxmlformats.org/officeDocument/2006/relationships/notesMaster" Target="/ppt/notesMasters/notesMaster1.xml" Id="R47feaab1487a494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a538b2ae2d540f0" /><Relationship Type="http://schemas.openxmlformats.org/officeDocument/2006/relationships/notesMaster" Target="/ppt/notesMasters/notesMaster1.xml" Id="R4c0ca2caf775461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dbd281b7ee94372" /><Relationship Type="http://schemas.openxmlformats.org/officeDocument/2006/relationships/notesMaster" Target="/ppt/notesMasters/notesMaster1.xml" Id="R0e19f2385a9c462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41e2c7a2b4d43c5" /><Relationship Type="http://schemas.openxmlformats.org/officeDocument/2006/relationships/notesMaster" Target="/ppt/notesMasters/notesMaster1.xml" Id="R64d1c5f52ad1470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8a7ce125e1c419a" /><Relationship Type="http://schemas.openxmlformats.org/officeDocument/2006/relationships/notesMaster" Target="/ppt/notesMasters/notesMaster1.xml" Id="R89e7f46ac04e4ee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a210e7e1e1048c8" /><Relationship Type="http://schemas.openxmlformats.org/officeDocument/2006/relationships/notesMaster" Target="/ppt/notesMasters/notesMaster1.xml" Id="R954523edb9d64da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8ad54184499414c" /><Relationship Type="http://schemas.openxmlformats.org/officeDocument/2006/relationships/notesMaster" Target="/ppt/notesMasters/notesMaster1.xml" Id="Rdbe3513f8846415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ae1e804ba75498d" /><Relationship Type="http://schemas.openxmlformats.org/officeDocument/2006/relationships/notesMaster" Target="/ppt/notesMasters/notesMaster1.xml" Id="R5ffe14fe33cc44c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1404ffb405d44d2" /><Relationship Type="http://schemas.openxmlformats.org/officeDocument/2006/relationships/notesMaster" Target="/ppt/notesMasters/notesMaster1.xml" Id="R8fe0c929815f414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2ec133672fa44aa" /><Relationship Type="http://schemas.openxmlformats.org/officeDocument/2006/relationships/notesMaster" Target="/ppt/notesMasters/notesMaster1.xml" Id="R813ac1c13376421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b5fd4113b71416d" /><Relationship Type="http://schemas.openxmlformats.org/officeDocument/2006/relationships/notesMaster" Target="/ppt/notesMasters/notesMaster1.xml" Id="Rb03433108b00410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90f08144bf24382" /><Relationship Type="http://schemas.openxmlformats.org/officeDocument/2006/relationships/notesMaster" Target="/ppt/notesMasters/notesMaster1.xml" Id="R6dfef74e0e214c4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7eb94011edc4dba" /><Relationship Type="http://schemas.openxmlformats.org/officeDocument/2006/relationships/notesMaster" Target="/ppt/notesMasters/notesMaster1.xml" Id="R3813443260a8441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b492cb18811442b" /><Relationship Type="http://schemas.openxmlformats.org/officeDocument/2006/relationships/notesMaster" Target="/ppt/notesMasters/notesMaster1.xml" Id="Ra9ac269e65ab4df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ff2eaf21d874929" /><Relationship Type="http://schemas.openxmlformats.org/officeDocument/2006/relationships/notesMaster" Target="/ppt/notesMasters/notesMaster1.xml" Id="Rd8197d3eb5314faa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a1e26f658b1e4a3b" /><Relationship Type="http://schemas.openxmlformats.org/officeDocument/2006/relationships/notesMaster" Target="/ppt/notesMasters/notesMaster1.xml" Id="R0f47b96c34624e7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eb3daf8544a84781" /><Relationship Type="http://schemas.openxmlformats.org/officeDocument/2006/relationships/notesMaster" Target="/ppt/notesMasters/notesMaster1.xml" Id="R3b707182bbc04e18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00325c7ee7f842c5" /><Relationship Type="http://schemas.openxmlformats.org/officeDocument/2006/relationships/notesMaster" Target="/ppt/notesMasters/notesMaster1.xml" Id="R42bd62708c81478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1: HotelNGo</a:t>
            </a:r>
          </a:p>
          <a:p xmlns:a="http://schemas.openxmlformats.org/drawingml/2006/main">
            <a:r>
              <a:t>사업·통합 프로젝트 계획서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발표 포인트</a:t>
            </a:r>
          </a:p>
          <a:p xmlns:a="http://schemas.openxmlformats.org/drawingml/2006/main">
            <a:r>
              <a:t>- 본 자료는 구현 현황 보고가 아니라 HotelNGo를 이렇게 구축·사업화한다는 계획을 설명합니다.</a:t>
            </a:r>
          </a:p>
          <a:p xmlns:a="http://schemas.openxmlformats.org/drawingml/2006/main">
            <a:r>
              <a:t>- 고객 가치, 공급 운영, 거래 신뢰, 단계별 검증 Gate를 중심으로 설명합니다.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docs/hotelngo/27-integrated-project-plan-draft.md (local source plan)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2: 목 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발표 포인트</a:t>
            </a:r>
          </a:p>
          <a:p xmlns:a="http://schemas.openxmlformats.org/drawingml/2006/main">
            <a:r>
              <a:t>- 본 자료는 구현 현황 보고가 아니라 HotelNGo를 이렇게 구축·사업화한다는 계획을 설명합니다.</a:t>
            </a:r>
          </a:p>
          <a:p xmlns:a="http://schemas.openxmlformats.org/drawingml/2006/main">
            <a:r>
              <a:t>- 고객 가치, 공급 운영, 거래 신뢰, 단계별 검증 Gate를 중심으로 설명합니다.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docs/hotelngo/27-integrated-project-plan-draft.md (local source plan)</a:t>
            </a:r>
          </a:p>
          <a:p xmlns:a="http://schemas.openxmlformats.org/drawingml/2006/main">
            <a:r>
              <a:t>- HotelNGo local prototype pages, captured 2026-07-27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3: I. 사업 구상과</a:t>
            </a:r>
          </a:p>
          <a:p xmlns:a="http://schemas.openxmlformats.org/drawingml/2006/main">
            <a:r>
              <a:t>고객 가치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발표 포인트</a:t>
            </a:r>
          </a:p>
          <a:p xmlns:a="http://schemas.openxmlformats.org/drawingml/2006/main">
            <a:r>
              <a:t>- 본 자료는 구현 현황 보고가 아니라 HotelNGo를 이렇게 구축·사업화한다는 계획을 설명합니다.</a:t>
            </a:r>
          </a:p>
          <a:p xmlns:a="http://schemas.openxmlformats.org/drawingml/2006/main">
            <a:r>
              <a:t>- 고객 가치, 공급 운영, 거래 신뢰, 단계별 검증 Gate를 중심으로 설명합니다.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docs/hotelngo/27-integrated-project-plan-draft.md (local source plan)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4: 1. HotelNGo 사업 정의와 추진 방향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발표 포인트</a:t>
            </a:r>
          </a:p>
          <a:p xmlns:a="http://schemas.openxmlformats.org/drawingml/2006/main">
            <a:r>
              <a:t>- 본 자료는 구현 현황 보고가 아니라 HotelNGo를 이렇게 구축·사업화한다는 계획을 설명합니다.</a:t>
            </a:r>
          </a:p>
          <a:p xmlns:a="http://schemas.openxmlformats.org/drawingml/2006/main">
            <a:r>
              <a:t>- 고객 가치, 공급 운영, 거래 신뢰, 단계별 검증 Gate를 중심으로 설명합니다.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docs/hotelngo/27-integrated-project-plan-draft.md (local source plan)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5: HotelNGo Service Promise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발표 포인트</a:t>
            </a:r>
          </a:p>
          <a:p xmlns:a="http://schemas.openxmlformats.org/drawingml/2006/main">
            <a:r>
              <a:t>- 본 자료는 구현 현황 보고가 아니라 HotelNGo를 이렇게 구축·사업화한다는 계획을 설명합니다.</a:t>
            </a:r>
          </a:p>
          <a:p xmlns:a="http://schemas.openxmlformats.org/drawingml/2006/main">
            <a:r>
              <a:t>- 고객 가치, 공급 운영, 거래 신뢰, 단계별 검증 Gate를 중심으로 설명합니다.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docs/hotelngo/27-integrated-project-plan-draft.md (local source plan)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6: 2. 고객·공급자·플랫폼의 문제 정의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발표 포인트</a:t>
            </a:r>
          </a:p>
          <a:p xmlns:a="http://schemas.openxmlformats.org/drawingml/2006/main">
            <a:r>
              <a:t>- 본 자료는 구현 현황 보고가 아니라 HotelNGo를 이렇게 구축·사업화한다는 계획을 설명합니다.</a:t>
            </a:r>
          </a:p>
          <a:p xmlns:a="http://schemas.openxmlformats.org/drawingml/2006/main">
            <a:r>
              <a:t>- 고객 가치, 공급 운영, 거래 신뢰, 단계별 검증 Gate를 중심으로 설명합니다.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docs/hotelngo/27-integrated-project-plan-draft.md (local source plan)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7: 목적지 발견 → 일정 구성 → 여행 카트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발표 포인트</a:t>
            </a:r>
          </a:p>
          <a:p xmlns:a="http://schemas.openxmlformats.org/drawingml/2006/main">
            <a:r>
              <a:t>- 본 자료는 구현 현황 보고가 아니라 HotelNGo를 이렇게 구축·사업화한다는 계획을 설명합니다.</a:t>
            </a:r>
          </a:p>
          <a:p xmlns:a="http://schemas.openxmlformats.org/drawingml/2006/main">
            <a:r>
              <a:t>- 고객 가치, 공급 운영, 거래 신뢰, 단계별 검증 Gate를 중심으로 설명합니다.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docs/hotelngo/27-integrated-project-plan-draft.md (local source plan)</a:t>
            </a:r>
          </a:p>
          <a:p xmlns:a="http://schemas.openxmlformats.org/drawingml/2006/main">
            <a:r>
              <a:t>- HotelNGo local prototype pages, captured 2026-07-27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8: CUSTOMER EXPERIENCE</a:t>
            </a:r>
          </a:p>
          <a:p xmlns:a="http://schemas.openxmlformats.org/drawingml/2006/main">
            <a:r>
              <a:t>발견에서 예약까지 하나의 여정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#DISCOVER #ITINERARY #HOTEL #CART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발표 포인트</a:t>
            </a:r>
          </a:p>
          <a:p xmlns:a="http://schemas.openxmlformats.org/drawingml/2006/main">
            <a:r>
              <a:t>- 본 자료는 구현 현황 보고가 아니라 HotelNGo를 이렇게 구축·사업화한다는 계획을 설명합니다.</a:t>
            </a:r>
          </a:p>
          <a:p xmlns:a="http://schemas.openxmlformats.org/drawingml/2006/main">
            <a:r>
              <a:t>- 고객 가치, 공급 운영, 거래 신뢰, 단계별 검증 Gate를 중심으로 설명합니다.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docs/hotelngo/27-integrated-project-plan-draft.md (local source plan)</a:t>
            </a:r>
          </a:p>
          <a:p xmlns:a="http://schemas.openxmlformats.org/drawingml/2006/main">
            <a:r>
              <a:t>- HotelNGo local prototype pages, captured 2026-07-27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9: MOBILE EXPERIENCE</a:t>
            </a:r>
          </a:p>
          <a:p xmlns:a="http://schemas.openxmlformats.org/drawingml/2006/main">
            <a:r>
              <a:t>여행 중에도 발견·일정·호텔을 같은 흐름으로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#RESPONSIVE #TRAVEL_ON_THE_GO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발표 포인트</a:t>
            </a:r>
          </a:p>
          <a:p xmlns:a="http://schemas.openxmlformats.org/drawingml/2006/main">
            <a:r>
              <a:t>- 본 자료는 구현 현황 보고가 아니라 HotelNGo를 이렇게 구축·사업화한다는 계획을 설명합니다.</a:t>
            </a:r>
          </a:p>
          <a:p xmlns:a="http://schemas.openxmlformats.org/drawingml/2006/main">
            <a:r>
              <a:t>- 고객 가치, 공급 운영, 거래 신뢰, 단계별 검증 Gate를 중심으로 설명합니다.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docs/hotelngo/27-integrated-project-plan-draft.md (local source plan)</a:t>
            </a:r>
          </a:p>
          <a:p xmlns:a="http://schemas.openxmlformats.org/drawingml/2006/main">
            <a:r>
              <a:t>- HotelNGo local prototype pages, captured 2026-07-27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10: II. 서비스와</a:t>
            </a:r>
          </a:p>
          <a:p xmlns:a="http://schemas.openxmlformats.org/drawingml/2006/main">
            <a:r>
              <a:t>운영 구조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발표 포인트</a:t>
            </a:r>
          </a:p>
          <a:p xmlns:a="http://schemas.openxmlformats.org/drawingml/2006/main">
            <a:r>
              <a:t>- 본 자료는 구현 현황 보고가 아니라 HotelNGo를 이렇게 구축·사업화한다는 계획을 설명합니다.</a:t>
            </a:r>
          </a:p>
          <a:p xmlns:a="http://schemas.openxmlformats.org/drawingml/2006/main">
            <a:r>
              <a:t>- 고객 가치, 공급 운영, 거래 신뢰, 단계별 검증 Gate를 중심으로 설명합니다.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docs/hotelngo/27-integrated-project-plan-draft.md (local source plan)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11: 3. 독립 시스템을 API로 연결하는 사업 구조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발표 포인트</a:t>
            </a:r>
          </a:p>
          <a:p xmlns:a="http://schemas.openxmlformats.org/drawingml/2006/main">
            <a:r>
              <a:t>- 본 자료는 구현 현황 보고가 아니라 HotelNGo를 이렇게 구축·사업화한다는 계획을 설명합니다.</a:t>
            </a:r>
          </a:p>
          <a:p xmlns:a="http://schemas.openxmlformats.org/drawingml/2006/main">
            <a:r>
              <a:t>- 고객 가치, 공급 운영, 거래 신뢰, 단계별 검증 Gate를 중심으로 설명합니다.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docs/hotelngo/27-integrated-project-plan-draft.md (local source plan)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12: 4. 발견·일정·예약을 하나의 여정 데이터로 연결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발표 포인트</a:t>
            </a:r>
          </a:p>
          <a:p xmlns:a="http://schemas.openxmlformats.org/drawingml/2006/main">
            <a:r>
              <a:t>- 본 자료는 구현 현황 보고가 아니라 HotelNGo를 이렇게 구축·사업화한다는 계획을 설명합니다.</a:t>
            </a:r>
          </a:p>
          <a:p xmlns:a="http://schemas.openxmlformats.org/drawingml/2006/main">
            <a:r>
              <a:t>- 고객 가치, 공급 운영, 거래 신뢰, 단계별 검증 Gate를 중심으로 설명합니다.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docs/hotelngo/27-integrated-project-plan-draft.md (local source plan)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13: 5. AI 여행의 역할과 검증 가능한 RAG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발표 포인트</a:t>
            </a:r>
          </a:p>
          <a:p xmlns:a="http://schemas.openxmlformats.org/drawingml/2006/main">
            <a:r>
              <a:t>- 본 자료는 구현 현황 보고가 아니라 HotelNGo를 이렇게 구축·사업화한다는 계획을 설명합니다.</a:t>
            </a:r>
          </a:p>
          <a:p xmlns:a="http://schemas.openxmlformats.org/drawingml/2006/main">
            <a:r>
              <a:t>- 고객 가치, 공급 운영, 거래 신뢰, 단계별 검증 Gate를 중심으로 설명합니다.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docs/hotelngo/27-integrated-project-plan-draft.md (local source plan)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14: 6. 공급 유형별 운영 모델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발표 포인트</a:t>
            </a:r>
          </a:p>
          <a:p xmlns:a="http://schemas.openxmlformats.org/drawingml/2006/main">
            <a:r>
              <a:t>- 본 자료는 구현 현황 보고가 아니라 HotelNGo를 이렇게 구축·사업화한다는 계획을 설명합니다.</a:t>
            </a:r>
          </a:p>
          <a:p xmlns:a="http://schemas.openxmlformats.org/drawingml/2006/main">
            <a:r>
              <a:t>- 고객 가치, 공급 운영, 거래 신뢰, 단계별 검증 Gate를 중심으로 설명합니다.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docs/hotelngo/27-integrated-project-plan-draft.md (local source plan)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15: 7. Hotel_PMS 연동 계획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발표 포인트</a:t>
            </a:r>
          </a:p>
          <a:p xmlns:a="http://schemas.openxmlformats.org/drawingml/2006/main">
            <a:r>
              <a:t>- 본 자료는 구현 현황 보고가 아니라 HotelNGo를 이렇게 구축·사업화한다는 계획을 설명합니다.</a:t>
            </a:r>
          </a:p>
          <a:p xmlns:a="http://schemas.openxmlformats.org/drawingml/2006/main">
            <a:r>
              <a:t>- 고객 가치, 공급 운영, 거래 신뢰, 단계별 검증 Gate를 중심으로 설명합니다.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docs/hotelngo/27-integrated-project-plan-draft.md (local source plan)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16: 8. 예약·결제·정산의 거래 구조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발표 포인트</a:t>
            </a:r>
          </a:p>
          <a:p xmlns:a="http://schemas.openxmlformats.org/drawingml/2006/main">
            <a:r>
              <a:t>- 본 자료는 구현 현황 보고가 아니라 HotelNGo를 이렇게 구축·사업화한다는 계획을 설명합니다.</a:t>
            </a:r>
          </a:p>
          <a:p xmlns:a="http://schemas.openxmlformats.org/drawingml/2006/main">
            <a:r>
              <a:t>- 고객 가치, 공급 운영, 거래 신뢰, 단계별 검증 Gate를 중심으로 설명합니다.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docs/hotelngo/27-integrated-project-plan-draft.md (local source plan)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17: OPERATIONS EXPERIENCE</a:t>
            </a:r>
          </a:p>
          <a:p xmlns:a="http://schemas.openxmlformats.org/drawingml/2006/main">
            <a:r>
              <a:t>공급·예약·정산·채널 상태를 역할별로 관리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#HOTEL #PARTNER #ADMIN #CHANNEL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발표 포인트</a:t>
            </a:r>
          </a:p>
          <a:p xmlns:a="http://schemas.openxmlformats.org/drawingml/2006/main">
            <a:r>
              <a:t>- 본 자료는 구현 현황 보고가 아니라 HotelNGo를 이렇게 구축·사업화한다는 계획을 설명합니다.</a:t>
            </a:r>
          </a:p>
          <a:p xmlns:a="http://schemas.openxmlformats.org/drawingml/2006/main">
            <a:r>
              <a:t>- 고객 가치, 공급 운영, 거래 신뢰, 단계별 검증 Gate를 중심으로 설명합니다.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docs/hotelngo/27-integrated-project-plan-draft.md (local source plan)</a:t>
            </a:r>
          </a:p>
          <a:p xmlns:a="http://schemas.openxmlformats.org/drawingml/2006/main">
            <a:r>
              <a:t>- HotelNGo local prototype pages, captured 2026-07-27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18: III. 사업성과</a:t>
            </a:r>
          </a:p>
          <a:p xmlns:a="http://schemas.openxmlformats.org/drawingml/2006/main">
            <a:r>
              <a:t>실행 로드맵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발표 포인트</a:t>
            </a:r>
          </a:p>
          <a:p xmlns:a="http://schemas.openxmlformats.org/drawingml/2006/main">
            <a:r>
              <a:t>- 본 자료는 구현 현황 보고가 아니라 HotelNGo를 이렇게 구축·사업화한다는 계획을 설명합니다.</a:t>
            </a:r>
          </a:p>
          <a:p xmlns:a="http://schemas.openxmlformats.org/drawingml/2006/main">
            <a:r>
              <a:t>- 고객 가치, 공급 운영, 거래 신뢰, 단계별 검증 Gate를 중심으로 설명합니다.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docs/hotelngo/27-integrated-project-plan-draft.md (local source plan)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19: 9. 수익 모델과 단위 경제성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발표 포인트</a:t>
            </a:r>
          </a:p>
          <a:p xmlns:a="http://schemas.openxmlformats.org/drawingml/2006/main">
            <a:r>
              <a:t>- 본 자료는 구현 현황 보고가 아니라 HotelNGo를 이렇게 구축·사업화한다는 계획을 설명합니다.</a:t>
            </a:r>
          </a:p>
          <a:p xmlns:a="http://schemas.openxmlformats.org/drawingml/2006/main">
            <a:r>
              <a:t>- 고객 가치, 공급 운영, 거래 신뢰, 단계별 검증 Gate를 중심으로 설명합니다.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docs/hotelngo/27-integrated-project-plan-draft.md (local source plan)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20: 10. 시장 진입과 Go-to-Market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발표 포인트</a:t>
            </a:r>
          </a:p>
          <a:p xmlns:a="http://schemas.openxmlformats.org/drawingml/2006/main">
            <a:r>
              <a:t>- 본 자료는 구현 현황 보고가 아니라 HotelNGo를 이렇게 구축·사업화한다는 계획을 설명합니다.</a:t>
            </a:r>
          </a:p>
          <a:p xmlns:a="http://schemas.openxmlformats.org/drawingml/2006/main">
            <a:r>
              <a:t>- 고객 가치, 공급 운영, 거래 신뢰, 단계별 검증 Gate를 중심으로 설명합니다.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docs/hotelngo/27-integrated-project-plan-draft.md (local source plan)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21: 11. 단계별 출시 로드맵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발표 포인트</a:t>
            </a:r>
          </a:p>
          <a:p xmlns:a="http://schemas.openxmlformats.org/drawingml/2006/main">
            <a:r>
              <a:t>- 본 자료는 구현 현황 보고가 아니라 HotelNGo를 이렇게 구축·사업화한다는 계획을 설명합니다.</a:t>
            </a:r>
          </a:p>
          <a:p xmlns:a="http://schemas.openxmlformats.org/drawingml/2006/main">
            <a:r>
              <a:t>- 고객 가치, 공급 운영, 거래 신뢰, 단계별 검증 Gate를 중심으로 설명합니다.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docs/hotelngo/27-integrated-project-plan-draft.md (local source plan)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22: 12. KPI·위험·의사결정 Gate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발표 포인트</a:t>
            </a:r>
          </a:p>
          <a:p xmlns:a="http://schemas.openxmlformats.org/drawingml/2006/main">
            <a:r>
              <a:t>- 본 자료는 구현 현황 보고가 아니라 HotelNGo를 이렇게 구축·사업화한다는 계획을 설명합니다.</a:t>
            </a:r>
          </a:p>
          <a:p xmlns:a="http://schemas.openxmlformats.org/drawingml/2006/main">
            <a:r>
              <a:t>- 고객 가치, 공급 운영, 거래 신뢰, 단계별 검증 Gate를 중심으로 설명합니다.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docs/hotelngo/27-integrated-project-plan-draft.md (local source plan)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23: HotelNGo와 함께</a:t>
            </a:r>
          </a:p>
          <a:p xmlns:a="http://schemas.openxmlformats.org/drawingml/2006/main">
            <a:r>
              <a:t>여행을 하나의 흐름으로 만들겠습니다.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발표 포인트</a:t>
            </a:r>
          </a:p>
          <a:p xmlns:a="http://schemas.openxmlformats.org/drawingml/2006/main">
            <a:r>
              <a:t>- 본 자료는 구현 현황 보고가 아니라 HotelNGo를 이렇게 구축·사업화한다는 계획을 설명합니다.</a:t>
            </a:r>
          </a:p>
          <a:p xmlns:a="http://schemas.openxmlformats.org/drawingml/2006/main">
            <a:r>
              <a:t>- 고객 가치, 공급 운영, 거래 신뢰, 단계별 검증 Gate를 중심으로 설명합니다.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docs/hotelngo/27-integrated-project-plan-draft.md (local source plan)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5d01a43b2041ef" /><Relationship Type="http://schemas.openxmlformats.org/officeDocument/2006/relationships/image" Target="/ppt/media/image.png" Id="R57176acc770d4e8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da994922de4f4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927543870749b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24c22a24c74578" /><Relationship Type="http://schemas.openxmlformats.org/officeDocument/2006/relationships/image" Target="/ppt/media/image2.png" Id="R121d5758f81845ab" /><Relationship Type="http://schemas.openxmlformats.org/officeDocument/2006/relationships/image" Target="/ppt/media/image3.png" Id="R6e2195d027db4c9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7b699ecae143b2" /><Relationship Type="http://schemas.openxmlformats.org/officeDocument/2006/relationships/image" Target="/ppt/media/image2.png" Id="Ree97f732b1ae4102" /><Relationship Type="http://schemas.openxmlformats.org/officeDocument/2006/relationships/image" Target="/ppt/media/image3.png" Id="Rc23e0dcec57f4a9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f1ef3aae87457a" /><Relationship Type="http://schemas.openxmlformats.org/officeDocument/2006/relationships/image" Target="/ppt/media/image2.png" Id="Raddc885ddeca461e" /><Relationship Type="http://schemas.openxmlformats.org/officeDocument/2006/relationships/image" Target="/ppt/media/image3.png" Id="Ra6948eedb9f248c9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e63883481c4bc3" /><Relationship Type="http://schemas.openxmlformats.org/officeDocument/2006/relationships/image" Target="/ppt/media/image3.png" Id="Rd4601416475043d6" /><Relationship Type="http://schemas.openxmlformats.org/officeDocument/2006/relationships/image" Target="/ppt/media/image2.png" Id="R68b9ae0d781743cd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9d33572f4b42ce" /><Relationship Type="http://schemas.openxmlformats.org/officeDocument/2006/relationships/image" Target="/ppt/media/image2.png" Id="R7f141b1249624dd7" /><Relationship Type="http://schemas.openxmlformats.org/officeDocument/2006/relationships/image" Target="/ppt/media/image3.png" Id="R207a9594da994964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9a32a129434168" /><Relationship Type="http://schemas.openxmlformats.org/officeDocument/2006/relationships/image" Target="/ppt/media/image2.png" Id="Rf3c7e97854df4b0e" /><Relationship Type="http://schemas.openxmlformats.org/officeDocument/2006/relationships/image" Target="/ppt/media/image3.png" Id="R6ce7362215bf4e17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1409231ba74fd4" /><Relationship Type="http://schemas.openxmlformats.org/officeDocument/2006/relationships/image" Target="/ppt/media/image2.png" Id="Recc6899665174bc4" /><Relationship Type="http://schemas.openxmlformats.org/officeDocument/2006/relationships/image" Target="/ppt/media/image3.png" Id="Re84e2858a89442f4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a552a32d204e29" /><Relationship Type="http://schemas.openxmlformats.org/officeDocument/2006/relationships/image" Target="/ppt/media/image2.png" Id="R06e79075e29c4b79" /><Relationship Type="http://schemas.openxmlformats.org/officeDocument/2006/relationships/image" Target="/ppt/media/image3.png" Id="Race78ceff9024c09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268064ccd7452b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9204c4e8f14636" /></Relationships>
</file>

<file path=ppt/slideLayouts/slideLayout1.xml><?xml version="1.0" encoding="utf-8"?>
<p:sldLayout xmlns:p="http://schemas.openxmlformats.org/presentationml/2006/main" userDrawn="1">
  <p:cSld name="표지">
    <p:bg>
      <p:bgPr>
        <a:solidFill xmlns:a="http://schemas.openxmlformats.org/drawingml/2006/main">
          <a:srgbClr val="D8304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그림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176acc770d4e8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95250" y="6572250"/>
            <a:ext cx="952500" cy="209550"/>
          </a:xfrm>
          <a:prstGeom xmlns:a="http://schemas.openxmlformats.org/drawingml/2006/main" prst="rect">
            <a:avLst/>
          </a:prstGeom>
        </p:spPr>
      </p:pic>
      <p:sp>
        <p:nvSpPr>
          <p:cNvPr id="3" name="직사각형 2">
            <a:extLst xmlns:a="http://schemas.openxmlformats.org/drawingml/2006/main">
              <a:ext uri="{FF2B5EF4-FFF2-40B4-BE49-F238E27FC236}">
                <a16:creationId xmlns:a16="http://schemas.microsoft.com/office/drawing/2014/main" id="{DA623A47-C02F-4534-B7A1-734E9430D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906000" cy="45811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3B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</p:cSld>
</p:sldLayout>
</file>

<file path=ppt/slideLayouts/slideLayout2.xml><?xml version="1.0" encoding="utf-8"?>
<p:sldLayout xmlns:p="http://schemas.openxmlformats.org/presentationml/2006/main" showMasterSp="0" preserve="1" userDrawn="1">
  <p:cSld name="제목 슬라이드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userDrawn="1">
  <p:cSld name="목차 및 간지"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4.xml><?xml version="1.0" encoding="utf-8"?>
<p:sldLayout xmlns:p="http://schemas.openxmlformats.org/presentationml/2006/main" preserve="1" userDrawn="1">
  <p:cSld name="내용 일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직사각형 5">
            <a:extLst xmlns:a="http://schemas.openxmlformats.org/drawingml/2006/main">
              <a:ext uri="{FF2B5EF4-FFF2-40B4-BE49-F238E27FC236}">
                <a16:creationId xmlns:a16="http://schemas.microsoft.com/office/drawing/2014/main" id="{E0FFB432-5983-4F18-8B24-2F12E047B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906000" cy="7495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3B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5" name="그림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1d5758f81845a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95250" y="6572250"/>
            <a:ext cx="952500" cy="209550"/>
          </a:xfrm>
          <a:prstGeom xmlns:a="http://schemas.openxmlformats.org/drawingml/2006/main" prst="rect">
            <a:avLst/>
          </a:prstGeom>
        </p:spPr>
      </p:pic>
      <p:sp>
        <p:nvSpPr>
          <p:cNvPr id="3" name="직선 연결선 2">
            <a:extLst xmlns:a="http://schemas.openxmlformats.org/drawingml/2006/main">
              <a:ext uri="{FF2B5EF4-FFF2-40B4-BE49-F238E27FC236}">
                <a16:creationId xmlns:a16="http://schemas.microsoft.com/office/drawing/2014/main" id="{0C36DE50-9B94-4C03-BBFD-8607C15B3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14678"/>
            <a:ext cx="9906000" cy="0"/>
          </a:xfrm>
          <a:prstGeom xmlns:a="http://schemas.openxmlformats.org/drawingml/2006/main" prst="line">
            <a:avLst/>
          </a:prstGeom>
          <a:ln xmlns:a="http://schemas.openxmlformats.org/drawingml/2006/main" w="6350">
            <a:solidFill>
              <a:srgbClr val="0070C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" name="슬라이드 번호 개체 틀 1">
            <a:extLst xmlns:a="http://schemas.openxmlformats.org/drawingml/2006/main">
              <a:ext uri="{FF2B5EF4-FFF2-40B4-BE49-F238E27FC236}">
                <a16:creationId xmlns:a16="http://schemas.microsoft.com/office/drawing/2014/main" id="{C2ABBA0A-E78F-4C97-846C-73EAFE2AD0A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3793728" y="6566331"/>
            <a:ext cx="2311400" cy="22110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algn="ctr">
              <a:buNone/>
              <a:defRPr sz="1000"/>
            </a:lvl1pPr>
          </a:lstStyle>
          <a:p xmlns:a="http://schemas.openxmlformats.org/drawingml/2006/main">
            <a:fld id="{05A0B550-DE95-4243-AB76-39B8893DB58B}" type="slidenum">
              <a:rPr>
                <a:latin typeface="나눔고딕"/>
                <a:ea typeface="나눔고딕"/>
                <a:cs typeface="나눔고딕"/>
              </a:rPr>
              <a:t>‹#›</a:t>
            </a:fld>
          </a:p>
        </p:txBody>
      </p:sp>
      <p:pic>
        <p:nvPicPr>
          <p:cNvPr id="18" name="그림 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e2195d027db4c98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8913440" y="6587850"/>
            <a:ext cx="864096" cy="206476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5.xml><?xml version="1.0" encoding="utf-8"?>
<p:sldLayout xmlns:p="http://schemas.openxmlformats.org/presentationml/2006/main" preserve="1" userDrawn="1">
  <p:cSld name="마이크로사이트 개발방안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직사각형 5">
            <a:extLst xmlns:a="http://schemas.openxmlformats.org/drawingml/2006/main">
              <a:ext uri="{FF2B5EF4-FFF2-40B4-BE49-F238E27FC236}">
                <a16:creationId xmlns:a16="http://schemas.microsoft.com/office/drawing/2014/main" id="{E0FFB432-5983-4F18-8B24-2F12E047B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906000" cy="7495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3B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5" name="그림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97f732b1ae410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95250" y="6572250"/>
            <a:ext cx="952500" cy="209550"/>
          </a:xfrm>
          <a:prstGeom xmlns:a="http://schemas.openxmlformats.org/drawingml/2006/main" prst="rect">
            <a:avLst/>
          </a:prstGeom>
        </p:spPr>
      </p:pic>
      <p:sp>
        <p:nvSpPr>
          <p:cNvPr id="3" name="직선 연결선 2">
            <a:extLst xmlns:a="http://schemas.openxmlformats.org/drawingml/2006/main">
              <a:ext uri="{FF2B5EF4-FFF2-40B4-BE49-F238E27FC236}">
                <a16:creationId xmlns:a16="http://schemas.microsoft.com/office/drawing/2014/main" id="{A27DBF46-C530-49D1-BD57-0A858BD9A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14678"/>
            <a:ext cx="9906000" cy="0"/>
          </a:xfrm>
          <a:prstGeom xmlns:a="http://schemas.openxmlformats.org/drawingml/2006/main" prst="line">
            <a:avLst/>
          </a:prstGeom>
          <a:ln xmlns:a="http://schemas.openxmlformats.org/drawingml/2006/main" w="6350">
            <a:solidFill>
              <a:srgbClr val="0070C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제목 71">
            <a:extLst xmlns:a="http://schemas.openxmlformats.org/drawingml/2006/main">
              <a:ext uri="{FF2B5EF4-FFF2-40B4-BE49-F238E27FC236}">
                <a16:creationId xmlns:a16="http://schemas.microsoft.com/office/drawing/2014/main" id="{0E53FBBE-11AB-4DA8-95E6-3EB97A3D8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3120" y="71414"/>
            <a:ext cx="3888432" cy="57150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6800" rIns="91440" bIns="46800" anchor="b">
            <a:normAutofit/>
          </a:bodyPr>
          <a:lstStyle xmlns:a="http://schemas.openxmlformats.org/drawingml/2006/main">
            <a:lvl1pPr algn="l" defTabSz="914400">
              <a:spcBef>
                <a:spcPct val="0"/>
              </a:spcBef>
              <a:buNone/>
              <a:defRPr sz="1800" b="1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marL="285750" indent="-285750" algn="r">
              <a:buFont typeface="+mj-lt"/>
              <a:buAutoNum type="romanUcPeriod"/>
            </a:pPr>
            <a:r>
              <a:rPr sz="1100">
                <a:solidFill>
                  <a:schemeClr val="bg1"/>
                </a:solidFill>
                <a:latin typeface="나눔고딕"/>
                <a:ea typeface="나눔고딕"/>
                <a:cs typeface="나눔고딕"/>
              </a:rPr>
              <a:t>HotelNGo 사업·통합 프로젝트 계획서</a:t>
            </a:r>
          </a:p>
        </p:txBody>
      </p:sp>
      <p:sp>
        <p:nvSpPr>
          <p:cNvPr id="11" name="슬라이드 번호 개체 틀 1">
            <a:extLst xmlns:a="http://schemas.openxmlformats.org/drawingml/2006/main">
              <a:ext uri="{FF2B5EF4-FFF2-40B4-BE49-F238E27FC236}">
                <a16:creationId xmlns:a16="http://schemas.microsoft.com/office/drawing/2014/main" id="{C6E0F514-5679-46A3-85C9-2B9713A23D1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3793728" y="6566331"/>
            <a:ext cx="2311400" cy="22110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algn="ctr">
              <a:buNone/>
              <a:defRPr sz="1000"/>
            </a:lvl1pPr>
          </a:lstStyle>
          <a:p xmlns:a="http://schemas.openxmlformats.org/drawingml/2006/main">
            <a:fld id="{05A0B550-DE95-4243-AB76-39B8893DB58B}" type="slidenum">
              <a:rPr>
                <a:latin typeface="나눔고딕"/>
                <a:ea typeface="나눔고딕"/>
                <a:cs typeface="나눔고딕"/>
              </a:rPr>
              <a:t>‹#›</a:t>
            </a:fld>
          </a:p>
        </p:txBody>
      </p:sp>
      <p:pic>
        <p:nvPicPr>
          <p:cNvPr id="19" name="그림 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23e0dcec57f4a90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8913440" y="6587850"/>
            <a:ext cx="864096" cy="206476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6.xml><?xml version="1.0" encoding="utf-8"?>
<p:sldLayout xmlns:p="http://schemas.openxmlformats.org/presentationml/2006/main" preserve="1" userDrawn="1">
  <p:cSld name="차이홍 디지털 BM 시스템 구축 개요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직사각형 5">
            <a:extLst xmlns:a="http://schemas.openxmlformats.org/drawingml/2006/main">
              <a:ext uri="{FF2B5EF4-FFF2-40B4-BE49-F238E27FC236}">
                <a16:creationId xmlns:a16="http://schemas.microsoft.com/office/drawing/2014/main" id="{E0FFB432-5983-4F18-8B24-2F12E047B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906000" cy="7495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3B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6" name="그림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dc885ddeca461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95250" y="6572250"/>
            <a:ext cx="952500" cy="209550"/>
          </a:xfrm>
          <a:prstGeom xmlns:a="http://schemas.openxmlformats.org/drawingml/2006/main" prst="rect">
            <a:avLst/>
          </a:prstGeom>
        </p:spPr>
      </p:pic>
      <p:sp>
        <p:nvSpPr>
          <p:cNvPr id="3" name="직선 연결선 2">
            <a:extLst xmlns:a="http://schemas.openxmlformats.org/drawingml/2006/main">
              <a:ext uri="{FF2B5EF4-FFF2-40B4-BE49-F238E27FC236}">
                <a16:creationId xmlns:a16="http://schemas.microsoft.com/office/drawing/2014/main" id="{BD35F510-0C16-4157-983A-997D207F3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14678"/>
            <a:ext cx="9906000" cy="0"/>
          </a:xfrm>
          <a:prstGeom xmlns:a="http://schemas.openxmlformats.org/drawingml/2006/main" prst="line">
            <a:avLst/>
          </a:prstGeom>
          <a:ln xmlns:a="http://schemas.openxmlformats.org/drawingml/2006/main" w="6350">
            <a:solidFill>
              <a:srgbClr val="0070C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제목 71">
            <a:extLst xmlns:a="http://schemas.openxmlformats.org/drawingml/2006/main">
              <a:ext uri="{FF2B5EF4-FFF2-40B4-BE49-F238E27FC236}">
                <a16:creationId xmlns:a16="http://schemas.microsoft.com/office/drawing/2014/main" id="{EDFC8136-740C-4A55-9B17-DE6B9A003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3120" y="71414"/>
            <a:ext cx="3888432" cy="57150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6800" rIns="91440" bIns="46800" anchor="b">
            <a:normAutofit/>
          </a:bodyPr>
          <a:lstStyle xmlns:a="http://schemas.openxmlformats.org/drawingml/2006/main">
            <a:lvl1pPr algn="l" defTabSz="914400">
              <a:spcBef>
                <a:spcPct val="0"/>
              </a:spcBef>
              <a:buNone/>
              <a:defRPr sz="1800" b="1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marL="285750" indent="-285750" algn="r">
              <a:buFont typeface="+mj-lt"/>
              <a:buAutoNum type="romanUcPeriod"/>
            </a:pPr>
            <a:r>
              <a:rPr sz="1100">
                <a:solidFill>
                  <a:schemeClr val="bg1"/>
                </a:solidFill>
                <a:latin typeface="나눔고딕"/>
                <a:ea typeface="나눔고딕"/>
                <a:cs typeface="나눔고딕"/>
              </a:rPr>
              <a:t>HotelNGo 사업·통합 프로젝트 계획서</a:t>
            </a:r>
          </a:p>
        </p:txBody>
      </p:sp>
      <p:sp>
        <p:nvSpPr>
          <p:cNvPr id="12" name="슬라이드 번호 개체 틀 1">
            <a:extLst xmlns:a="http://schemas.openxmlformats.org/drawingml/2006/main">
              <a:ext uri="{FF2B5EF4-FFF2-40B4-BE49-F238E27FC236}">
                <a16:creationId xmlns:a16="http://schemas.microsoft.com/office/drawing/2014/main" id="{7C1AE683-197F-4C5A-80FC-9793BD91E8D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3793728" y="6566331"/>
            <a:ext cx="2311400" cy="22110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algn="ctr">
              <a:buNone/>
              <a:defRPr sz="1000"/>
            </a:lvl1pPr>
          </a:lstStyle>
          <a:p xmlns:a="http://schemas.openxmlformats.org/drawingml/2006/main">
            <a:fld id="{05A0B550-DE95-4243-AB76-39B8893DB58B}" type="slidenum">
              <a:rPr>
                <a:latin typeface="나눔고딕"/>
                <a:ea typeface="나눔고딕"/>
                <a:cs typeface="나눔고딕"/>
              </a:rPr>
              <a:t>‹#›</a:t>
            </a:fld>
          </a:p>
        </p:txBody>
      </p:sp>
      <p:pic>
        <p:nvPicPr>
          <p:cNvPr id="20" name="그림 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6948eedb9f248c9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8913440" y="6587850"/>
            <a:ext cx="864096" cy="206476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7.xml><?xml version="1.0" encoding="utf-8"?>
<p:sldLayout xmlns:p="http://schemas.openxmlformats.org/presentationml/2006/main" preserve="1" userDrawn="1">
  <p:cSld name="단위 시스템 별 개발 기능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직사각형 5">
            <a:extLst xmlns:a="http://schemas.openxmlformats.org/drawingml/2006/main">
              <a:ext uri="{FF2B5EF4-FFF2-40B4-BE49-F238E27FC236}">
                <a16:creationId xmlns:a16="http://schemas.microsoft.com/office/drawing/2014/main" id="{E0FFB432-5983-4F18-8B24-2F12E047B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906000" cy="7495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3B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4" name="그림 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4601416475043d6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8913440" y="6587850"/>
            <a:ext cx="864096" cy="206476"/>
          </a:xfrm>
          <a:prstGeom xmlns:a="http://schemas.openxmlformats.org/drawingml/2006/main" prst="rect">
            <a:avLst/>
          </a:prstGeom>
        </p:spPr>
      </p:pic>
      <p:pic>
        <p:nvPicPr>
          <p:cNvPr id="15" name="그림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b9ae0d781743c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95250" y="6572250"/>
            <a:ext cx="952500" cy="209550"/>
          </a:xfrm>
          <a:prstGeom xmlns:a="http://schemas.openxmlformats.org/drawingml/2006/main" prst="rect">
            <a:avLst/>
          </a:prstGeom>
        </p:spPr>
      </p:pic>
      <p:sp>
        <p:nvSpPr>
          <p:cNvPr id="3" name="직선 연결선 2">
            <a:extLst xmlns:a="http://schemas.openxmlformats.org/drawingml/2006/main">
              <a:ext uri="{FF2B5EF4-FFF2-40B4-BE49-F238E27FC236}">
                <a16:creationId xmlns:a16="http://schemas.microsoft.com/office/drawing/2014/main" id="{ED58792A-9089-4E52-82CC-E67E357E0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14678"/>
            <a:ext cx="9906000" cy="0"/>
          </a:xfrm>
          <a:prstGeom xmlns:a="http://schemas.openxmlformats.org/drawingml/2006/main" prst="line">
            <a:avLst/>
          </a:prstGeom>
          <a:ln xmlns:a="http://schemas.openxmlformats.org/drawingml/2006/main" w="6350">
            <a:solidFill>
              <a:srgbClr val="0070C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제목 71">
            <a:extLst xmlns:a="http://schemas.openxmlformats.org/drawingml/2006/main">
              <a:ext uri="{FF2B5EF4-FFF2-40B4-BE49-F238E27FC236}">
                <a16:creationId xmlns:a16="http://schemas.microsoft.com/office/drawing/2014/main" id="{EDFC8136-740C-4A55-9B17-DE6B9A003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3120" y="71414"/>
            <a:ext cx="3888432" cy="57150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6800" rIns="91440" bIns="46800" anchor="b">
            <a:normAutofit/>
          </a:bodyPr>
          <a:lstStyle xmlns:a="http://schemas.openxmlformats.org/drawingml/2006/main">
            <a:lvl1pPr algn="l" defTabSz="914400">
              <a:spcBef>
                <a:spcPct val="0"/>
              </a:spcBef>
              <a:buNone/>
              <a:defRPr sz="1800" b="1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marL="285750" indent="-285750" algn="r">
              <a:buFont typeface="+mj-lt"/>
              <a:buAutoNum type="romanUcPeriod" startAt="2"/>
            </a:pPr>
            <a:r>
              <a:rPr sz="1100">
                <a:solidFill>
                  <a:schemeClr val="bg1"/>
                </a:solidFill>
                <a:latin typeface="나눔고딕"/>
                <a:ea typeface="나눔고딕"/>
                <a:cs typeface="나눔고딕"/>
              </a:rPr>
              <a:t>HotelNGo 사업·통합 프로젝트 계획서</a:t>
            </a:r>
          </a:p>
        </p:txBody>
      </p:sp>
      <p:sp>
        <p:nvSpPr>
          <p:cNvPr id="10" name="슬라이드 번호 개체 틀 1">
            <a:extLst xmlns:a="http://schemas.openxmlformats.org/drawingml/2006/main">
              <a:ext uri="{FF2B5EF4-FFF2-40B4-BE49-F238E27FC236}">
                <a16:creationId xmlns:a16="http://schemas.microsoft.com/office/drawing/2014/main" id="{C10EDAF3-DC33-4D5A-B523-ED9A568A977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3793728" y="6566331"/>
            <a:ext cx="2311400" cy="22110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algn="ctr">
              <a:buNone/>
              <a:defRPr sz="1000"/>
            </a:lvl1pPr>
          </a:lstStyle>
          <a:p xmlns:a="http://schemas.openxmlformats.org/drawingml/2006/main">
            <a:fld id="{05A0B550-DE95-4243-AB76-39B8893DB58B}" type="slidenum">
              <a:rPr>
                <a:latin typeface="나눔고딕"/>
                <a:ea typeface="나눔고딕"/>
                <a:cs typeface="나눔고딕"/>
              </a:rPr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주요 기능 개발 방안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직사각형 5">
            <a:extLst xmlns:a="http://schemas.openxmlformats.org/drawingml/2006/main">
              <a:ext uri="{FF2B5EF4-FFF2-40B4-BE49-F238E27FC236}">
                <a16:creationId xmlns:a16="http://schemas.microsoft.com/office/drawing/2014/main" id="{E0FFB432-5983-4F18-8B24-2F12E047B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906000" cy="7495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3B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4" name="그림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141b1249624dd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95250" y="6572250"/>
            <a:ext cx="952500" cy="209550"/>
          </a:xfrm>
          <a:prstGeom xmlns:a="http://schemas.openxmlformats.org/drawingml/2006/main" prst="rect">
            <a:avLst/>
          </a:prstGeom>
        </p:spPr>
      </p:pic>
      <p:sp>
        <p:nvSpPr>
          <p:cNvPr id="3" name="직선 연결선 2">
            <a:extLst xmlns:a="http://schemas.openxmlformats.org/drawingml/2006/main">
              <a:ext uri="{FF2B5EF4-FFF2-40B4-BE49-F238E27FC236}">
                <a16:creationId xmlns:a16="http://schemas.microsoft.com/office/drawing/2014/main" id="{DBD60667-71D9-488C-87CE-CAFDFFBF8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14678"/>
            <a:ext cx="9906000" cy="0"/>
          </a:xfrm>
          <a:prstGeom xmlns:a="http://schemas.openxmlformats.org/drawingml/2006/main" prst="line">
            <a:avLst/>
          </a:prstGeom>
          <a:ln xmlns:a="http://schemas.openxmlformats.org/drawingml/2006/main" w="6350">
            <a:solidFill>
              <a:srgbClr val="0070C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제목 71">
            <a:extLst xmlns:a="http://schemas.openxmlformats.org/drawingml/2006/main">
              <a:ext uri="{FF2B5EF4-FFF2-40B4-BE49-F238E27FC236}">
                <a16:creationId xmlns:a16="http://schemas.microsoft.com/office/drawing/2014/main" id="{EDFC8136-740C-4A55-9B17-DE6B9A003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3120" y="71414"/>
            <a:ext cx="3888432" cy="57150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6800" rIns="91440" bIns="46800" anchor="b">
            <a:normAutofit/>
          </a:bodyPr>
          <a:lstStyle xmlns:a="http://schemas.openxmlformats.org/drawingml/2006/main">
            <a:lvl1pPr algn="l" defTabSz="914400">
              <a:spcBef>
                <a:spcPct val="0"/>
              </a:spcBef>
              <a:buNone/>
              <a:defRPr sz="1800" b="1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marL="285750" indent="-285750" algn="r">
              <a:buFont typeface="+mj-lt"/>
              <a:buAutoNum type="romanUcPeriod" startAt="3"/>
            </a:pPr>
            <a:r>
              <a:rPr sz="1100">
                <a:solidFill>
                  <a:schemeClr val="bg1"/>
                </a:solidFill>
                <a:latin typeface="나눔고딕"/>
                <a:ea typeface="나눔고딕"/>
                <a:cs typeface="나눔고딕"/>
              </a:rPr>
              <a:t>HotelNGo 사업·통합 프로젝트 계획서</a:t>
            </a:r>
          </a:p>
        </p:txBody>
      </p:sp>
      <p:sp>
        <p:nvSpPr>
          <p:cNvPr id="10" name="슬라이드 번호 개체 틀 1">
            <a:extLst xmlns:a="http://schemas.openxmlformats.org/drawingml/2006/main">
              <a:ext uri="{FF2B5EF4-FFF2-40B4-BE49-F238E27FC236}">
                <a16:creationId xmlns:a16="http://schemas.microsoft.com/office/drawing/2014/main" id="{BEE35289-6206-446C-8C58-599780BC8E9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3793728" y="6566331"/>
            <a:ext cx="2311400" cy="22110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algn="ctr">
              <a:buNone/>
              <a:defRPr sz="1000"/>
            </a:lvl1pPr>
          </a:lstStyle>
          <a:p xmlns:a="http://schemas.openxmlformats.org/drawingml/2006/main">
            <a:fld id="{05A0B550-DE95-4243-AB76-39B8893DB58B}" type="slidenum">
              <a:rPr>
                <a:latin typeface="나눔고딕"/>
                <a:ea typeface="나눔고딕"/>
                <a:cs typeface="나눔고딕"/>
              </a:rPr>
              <a:t>‹#›</a:t>
            </a:fld>
          </a:p>
        </p:txBody>
      </p:sp>
      <p:pic>
        <p:nvPicPr>
          <p:cNvPr id="18" name="그림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07a9594da994964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8913440" y="6587850"/>
            <a:ext cx="864096" cy="206476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9.xml><?xml version="1.0" encoding="utf-8"?>
<p:sldLayout xmlns:p="http://schemas.openxmlformats.org/presentationml/2006/main" preserve="1" userDrawn="1">
  <p:cSld name="시스템 구축 일정계획 및 구축 비용(예상)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직사각형 5">
            <a:extLst xmlns:a="http://schemas.openxmlformats.org/drawingml/2006/main">
              <a:ext uri="{FF2B5EF4-FFF2-40B4-BE49-F238E27FC236}">
                <a16:creationId xmlns:a16="http://schemas.microsoft.com/office/drawing/2014/main" id="{E0FFB432-5983-4F18-8B24-2F12E047B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906000" cy="7495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3B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4" name="그림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c7e97854df4b0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95250" y="6572250"/>
            <a:ext cx="952500" cy="209550"/>
          </a:xfrm>
          <a:prstGeom xmlns:a="http://schemas.openxmlformats.org/drawingml/2006/main" prst="rect">
            <a:avLst/>
          </a:prstGeom>
        </p:spPr>
      </p:pic>
      <p:sp>
        <p:nvSpPr>
          <p:cNvPr id="3" name="직선 연결선 2">
            <a:extLst xmlns:a="http://schemas.openxmlformats.org/drawingml/2006/main">
              <a:ext uri="{FF2B5EF4-FFF2-40B4-BE49-F238E27FC236}">
                <a16:creationId xmlns:a16="http://schemas.microsoft.com/office/drawing/2014/main" id="{8F8DF8EA-7DFC-4D04-B672-E724DF728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14678"/>
            <a:ext cx="9906000" cy="0"/>
          </a:xfrm>
          <a:prstGeom xmlns:a="http://schemas.openxmlformats.org/drawingml/2006/main" prst="line">
            <a:avLst/>
          </a:prstGeom>
          <a:ln xmlns:a="http://schemas.openxmlformats.org/drawingml/2006/main" w="6350">
            <a:solidFill>
              <a:srgbClr val="0070C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제목 71">
            <a:extLst xmlns:a="http://schemas.openxmlformats.org/drawingml/2006/main">
              <a:ext uri="{FF2B5EF4-FFF2-40B4-BE49-F238E27FC236}">
                <a16:creationId xmlns:a16="http://schemas.microsoft.com/office/drawing/2014/main" id="{EDFC8136-740C-4A55-9B17-DE6B9A003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3120" y="71414"/>
            <a:ext cx="3888432" cy="57150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6800" rIns="91440" bIns="46800" anchor="b">
            <a:normAutofit/>
          </a:bodyPr>
          <a:lstStyle xmlns:a="http://schemas.openxmlformats.org/drawingml/2006/main">
            <a:lvl1pPr algn="l" defTabSz="914400">
              <a:spcBef>
                <a:spcPct val="0"/>
              </a:spcBef>
              <a:buNone/>
              <a:defRPr sz="1800" b="1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marL="285750" indent="-285750" algn="r">
              <a:buFont typeface="+mj-lt"/>
              <a:buAutoNum type="romanUcPeriod" startAt="4"/>
            </a:pPr>
            <a:r>
              <a:rPr sz="1100">
                <a:solidFill>
                  <a:schemeClr val="bg1"/>
                </a:solidFill>
                <a:latin typeface="나눔고딕"/>
                <a:ea typeface="나눔고딕"/>
                <a:cs typeface="나눔고딕"/>
              </a:rPr>
              <a:t>HotelNGo 사업·통합 프로젝트 계획서</a:t>
            </a:r>
          </a:p>
        </p:txBody>
      </p:sp>
      <p:sp>
        <p:nvSpPr>
          <p:cNvPr id="10" name="슬라이드 번호 개체 틀 1">
            <a:extLst xmlns:a="http://schemas.openxmlformats.org/drawingml/2006/main">
              <a:ext uri="{FF2B5EF4-FFF2-40B4-BE49-F238E27FC236}">
                <a16:creationId xmlns:a16="http://schemas.microsoft.com/office/drawing/2014/main" id="{BA97C95A-660D-4D51-9F68-E898A4DC905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3793728" y="6566331"/>
            <a:ext cx="2311400" cy="22110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algn="ctr">
              <a:buNone/>
              <a:defRPr sz="1000"/>
            </a:lvl1pPr>
          </a:lstStyle>
          <a:p xmlns:a="http://schemas.openxmlformats.org/drawingml/2006/main">
            <a:fld id="{05A0B550-DE95-4243-AB76-39B8893DB58B}" type="slidenum">
              <a:rPr>
                <a:latin typeface="나눔고딕"/>
                <a:ea typeface="나눔고딕"/>
                <a:cs typeface="나눔고딕"/>
              </a:rPr>
              <a:t>‹#›</a:t>
            </a:fld>
          </a:p>
        </p:txBody>
      </p:sp>
      <p:pic>
        <p:nvPicPr>
          <p:cNvPr id="18" name="그림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ce7362215bf4e17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8913440" y="6587850"/>
            <a:ext cx="864096" cy="206476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0.xml><?xml version="1.0" encoding="utf-8"?>
<p:sldLayout xmlns:p="http://schemas.openxmlformats.org/presentationml/2006/main" preserve="1" userDrawn="1">
  <p:cSld name="시스템 아키텍처 확장 방안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직사각형 5">
            <a:extLst xmlns:a="http://schemas.openxmlformats.org/drawingml/2006/main">
              <a:ext uri="{FF2B5EF4-FFF2-40B4-BE49-F238E27FC236}">
                <a16:creationId xmlns:a16="http://schemas.microsoft.com/office/drawing/2014/main" id="{E0FFB432-5983-4F18-8B24-2F12E047B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906000" cy="7495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3B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4" name="그림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c6899665174bc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95250" y="6572250"/>
            <a:ext cx="952500" cy="209550"/>
          </a:xfrm>
          <a:prstGeom xmlns:a="http://schemas.openxmlformats.org/drawingml/2006/main" prst="rect">
            <a:avLst/>
          </a:prstGeom>
        </p:spPr>
      </p:pic>
      <p:sp>
        <p:nvSpPr>
          <p:cNvPr id="3" name="직선 연결선 2">
            <a:extLst xmlns:a="http://schemas.openxmlformats.org/drawingml/2006/main">
              <a:ext uri="{FF2B5EF4-FFF2-40B4-BE49-F238E27FC236}">
                <a16:creationId xmlns:a16="http://schemas.microsoft.com/office/drawing/2014/main" id="{DF896CED-5935-4983-82CF-9883A2F59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14678"/>
            <a:ext cx="9906000" cy="0"/>
          </a:xfrm>
          <a:prstGeom xmlns:a="http://schemas.openxmlformats.org/drawingml/2006/main" prst="line">
            <a:avLst/>
          </a:prstGeom>
          <a:ln xmlns:a="http://schemas.openxmlformats.org/drawingml/2006/main" w="6350">
            <a:solidFill>
              <a:srgbClr val="0070C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제목 71">
            <a:extLst xmlns:a="http://schemas.openxmlformats.org/drawingml/2006/main">
              <a:ext uri="{FF2B5EF4-FFF2-40B4-BE49-F238E27FC236}">
                <a16:creationId xmlns:a16="http://schemas.microsoft.com/office/drawing/2014/main" id="{EDFC8136-740C-4A55-9B17-DE6B9A003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3120" y="71414"/>
            <a:ext cx="3888432" cy="57150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6800" rIns="91440" bIns="46800" anchor="b">
            <a:normAutofit/>
          </a:bodyPr>
          <a:lstStyle xmlns:a="http://schemas.openxmlformats.org/drawingml/2006/main">
            <a:lvl1pPr algn="l" defTabSz="914400">
              <a:spcBef>
                <a:spcPct val="0"/>
              </a:spcBef>
              <a:buNone/>
              <a:defRPr sz="1800" b="1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marL="285750" indent="-285750" algn="r">
              <a:buFont typeface="+mj-lt"/>
              <a:buAutoNum type="romanUcPeriod" startAt="5"/>
            </a:pPr>
            <a:r>
              <a:rPr sz="1100">
                <a:solidFill>
                  <a:schemeClr val="bg1"/>
                </a:solidFill>
                <a:latin typeface="나눔고딕"/>
                <a:ea typeface="나눔고딕"/>
                <a:cs typeface="나눔고딕"/>
              </a:rPr>
              <a:t>HotelNGo 사업·통합 프로젝트 계획서</a:t>
            </a:r>
          </a:p>
        </p:txBody>
      </p:sp>
      <p:sp>
        <p:nvSpPr>
          <p:cNvPr id="10" name="슬라이드 번호 개체 틀 1">
            <a:extLst xmlns:a="http://schemas.openxmlformats.org/drawingml/2006/main">
              <a:ext uri="{FF2B5EF4-FFF2-40B4-BE49-F238E27FC236}">
                <a16:creationId xmlns:a16="http://schemas.microsoft.com/office/drawing/2014/main" id="{8FA5B58B-7DCB-4009-84DD-2020560DE80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3793728" y="6566331"/>
            <a:ext cx="2311400" cy="22110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algn="ctr">
              <a:buNone/>
              <a:defRPr sz="1000"/>
            </a:lvl1pPr>
          </a:lstStyle>
          <a:p xmlns:a="http://schemas.openxmlformats.org/drawingml/2006/main">
            <a:fld id="{05A0B550-DE95-4243-AB76-39B8893DB58B}" type="slidenum">
              <a:rPr>
                <a:latin typeface="나눔고딕"/>
                <a:ea typeface="나눔고딕"/>
                <a:cs typeface="나눔고딕"/>
              </a:rPr>
              <a:t>‹#›</a:t>
            </a:fld>
          </a:p>
        </p:txBody>
      </p:sp>
      <p:pic>
        <p:nvPicPr>
          <p:cNvPr id="18" name="그림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84e2858a89442f4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8913440" y="6587850"/>
            <a:ext cx="864096" cy="206476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1.xml><?xml version="1.0" encoding="utf-8"?>
<p:sldLayout xmlns:p="http://schemas.openxmlformats.org/presentationml/2006/main" preserve="1" userDrawn="1">
  <p:cSld name="서비스 발전 Roadmap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직사각형 5">
            <a:extLst xmlns:a="http://schemas.openxmlformats.org/drawingml/2006/main">
              <a:ext uri="{FF2B5EF4-FFF2-40B4-BE49-F238E27FC236}">
                <a16:creationId xmlns:a16="http://schemas.microsoft.com/office/drawing/2014/main" id="{E0FFB432-5983-4F18-8B24-2F12E047B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906000" cy="7495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3B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4" name="그림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e79075e29c4b7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95250" y="6572250"/>
            <a:ext cx="952500" cy="209550"/>
          </a:xfrm>
          <a:prstGeom xmlns:a="http://schemas.openxmlformats.org/drawingml/2006/main" prst="rect">
            <a:avLst/>
          </a:prstGeom>
        </p:spPr>
      </p:pic>
      <p:sp>
        <p:nvSpPr>
          <p:cNvPr id="3" name="직선 연결선 2">
            <a:extLst xmlns:a="http://schemas.openxmlformats.org/drawingml/2006/main">
              <a:ext uri="{FF2B5EF4-FFF2-40B4-BE49-F238E27FC236}">
                <a16:creationId xmlns:a16="http://schemas.microsoft.com/office/drawing/2014/main" id="{765F15F5-12D6-4D33-AF4E-69B3427EE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14678"/>
            <a:ext cx="9906000" cy="0"/>
          </a:xfrm>
          <a:prstGeom xmlns:a="http://schemas.openxmlformats.org/drawingml/2006/main" prst="line">
            <a:avLst/>
          </a:prstGeom>
          <a:ln xmlns:a="http://schemas.openxmlformats.org/drawingml/2006/main" w="6350">
            <a:solidFill>
              <a:srgbClr val="0070C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제목 71">
            <a:extLst xmlns:a="http://schemas.openxmlformats.org/drawingml/2006/main">
              <a:ext uri="{FF2B5EF4-FFF2-40B4-BE49-F238E27FC236}">
                <a16:creationId xmlns:a16="http://schemas.microsoft.com/office/drawing/2014/main" id="{EDFC8136-740C-4A55-9B17-DE6B9A003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3120" y="71414"/>
            <a:ext cx="3888432" cy="57150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6800" rIns="91440" bIns="46800" anchor="b">
            <a:normAutofit/>
          </a:bodyPr>
          <a:lstStyle xmlns:a="http://schemas.openxmlformats.org/drawingml/2006/main">
            <a:lvl1pPr algn="l" defTabSz="914400">
              <a:spcBef>
                <a:spcPct val="0"/>
              </a:spcBef>
              <a:buNone/>
              <a:defRPr sz="1800" b="1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marL="285750" indent="-285750" algn="r">
              <a:buFont typeface="+mj-lt"/>
              <a:buAutoNum type="romanUcPeriod" startAt="5"/>
            </a:pPr>
            <a:r>
              <a:rPr sz="1100">
                <a:solidFill>
                  <a:schemeClr val="bg1"/>
                </a:solidFill>
                <a:latin typeface="나눔고딕"/>
                <a:ea typeface="나눔고딕"/>
                <a:cs typeface="나눔고딕"/>
              </a:rPr>
              <a:t>HotelNGo 사업·통합 프로젝트 계획서</a:t>
            </a:r>
          </a:p>
        </p:txBody>
      </p:sp>
      <p:sp>
        <p:nvSpPr>
          <p:cNvPr id="10" name="슬라이드 번호 개체 틀 1">
            <a:extLst xmlns:a="http://schemas.openxmlformats.org/drawingml/2006/main">
              <a:ext uri="{FF2B5EF4-FFF2-40B4-BE49-F238E27FC236}">
                <a16:creationId xmlns:a16="http://schemas.microsoft.com/office/drawing/2014/main" id="{478F297A-F0E9-4EBA-A019-ACFA33C837B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3793728" y="6566331"/>
            <a:ext cx="2311400" cy="22110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algn="ctr">
              <a:buNone/>
              <a:defRPr sz="1000"/>
            </a:lvl1pPr>
          </a:lstStyle>
          <a:p xmlns:a="http://schemas.openxmlformats.org/drawingml/2006/main">
            <a:fld id="{05A0B550-DE95-4243-AB76-39B8893DB58B}" type="slidenum">
              <a:rPr>
                <a:latin typeface="나눔고딕"/>
                <a:ea typeface="나눔고딕"/>
                <a:cs typeface="나눔고딕"/>
              </a:rPr>
              <a:t>‹#›</a:t>
            </a:fld>
          </a:p>
        </p:txBody>
      </p:sp>
      <p:pic>
        <p:nvPicPr>
          <p:cNvPr id="18" name="그림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ce78ceff9024c09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8913440" y="6587850"/>
            <a:ext cx="864096" cy="206476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2.xml><?xml version="1.0" encoding="utf-8"?>
<p:sldLayout xmlns:p="http://schemas.openxmlformats.org/presentationml/2006/main" userDrawn="1">
  <p:cSld name="목차">
    <p:bg>
      <p:bgPr>
        <a:solidFill xmlns:a="http://schemas.openxmlformats.org/drawingml/2006/main">
          <a:srgbClr val="00368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3.xml><?xml version="1.0" encoding="utf-8"?>
<p:sldLayout xmlns:p="http://schemas.openxmlformats.org/presentationml/2006/main" preserve="1" userDrawn="1">
  <p:cSld name="1_목차">
    <p:bg>
      <p:bgPr>
        <a:solidFill xmlns:a="http://schemas.openxmlformats.org/drawingml/2006/main">
          <a:srgbClr val="C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24d2532cc774b1f" /><Relationship Type="http://schemas.openxmlformats.org/officeDocument/2006/relationships/slideLayout" Target="/ppt/slideLayouts/slideLayout1.xml" Id="R74c7898da7254747" /><Relationship Type="http://schemas.openxmlformats.org/officeDocument/2006/relationships/slideLayout" Target="/ppt/slideLayouts/slideLayout2.xml" Id="Rb6a8a979b493453a" /><Relationship Type="http://schemas.openxmlformats.org/officeDocument/2006/relationships/slideLayout" Target="/ppt/slideLayouts/slideLayout3.xml" Id="Rb6f5961e4fe74213" /><Relationship Type="http://schemas.openxmlformats.org/officeDocument/2006/relationships/slideLayout" Target="/ppt/slideLayouts/slideLayout4.xml" Id="R2ab63f2c6d9d4c15" /><Relationship Type="http://schemas.openxmlformats.org/officeDocument/2006/relationships/slideLayout" Target="/ppt/slideLayouts/slideLayout5.xml" Id="Rd828324eb9e24612" /><Relationship Type="http://schemas.openxmlformats.org/officeDocument/2006/relationships/slideLayout" Target="/ppt/slideLayouts/slideLayout6.xml" Id="R173fd60af4274f6d" /><Relationship Type="http://schemas.openxmlformats.org/officeDocument/2006/relationships/slideLayout" Target="/ppt/slideLayouts/slideLayout7.xml" Id="Rec6f3c9824394c2d" /><Relationship Type="http://schemas.openxmlformats.org/officeDocument/2006/relationships/slideLayout" Target="/ppt/slideLayouts/slideLayout8.xml" Id="Rd166705f976240ad" /><Relationship Type="http://schemas.openxmlformats.org/officeDocument/2006/relationships/slideLayout" Target="/ppt/slideLayouts/slideLayout9.xml" Id="R87646ebe0d824b41" /><Relationship Type="http://schemas.openxmlformats.org/officeDocument/2006/relationships/slideLayout" Target="/ppt/slideLayouts/slideLayout10.xml" Id="R1687eecd244e4fda" /><Relationship Type="http://schemas.openxmlformats.org/officeDocument/2006/relationships/slideLayout" Target="/ppt/slideLayouts/slideLayout11.xml" Id="R3a53bd65b8904503" /><Relationship Type="http://schemas.openxmlformats.org/officeDocument/2006/relationships/slideLayout" Target="/ppt/slideLayouts/slideLayout12.xml" Id="R119903d0ed544b95" /><Relationship Type="http://schemas.openxmlformats.org/officeDocument/2006/relationships/slideLayout" Target="/ppt/slideLayouts/slideLayout13.xml" Id="R8eaffaf69c0b4eb7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개체 틀 1">
            <a:extLst xmlns:a="http://schemas.openxmlformats.org/drawingml/2006/main">
              <a:ext uri="{FF2B5EF4-FFF2-40B4-BE49-F238E27FC236}">
                <a16:creationId xmlns:a16="http://schemas.microsoft.com/office/drawing/2014/main" id="{BD505DC3-FD3A-4770-B550-90EDE790154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4487" y="71414"/>
            <a:ext cx="6768753" cy="57150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6800" rIns="91440" bIns="46800" anchor="b">
            <a:normAutofit/>
          </a:bodyPr>
          <a:lstStyle xmlns:a="http://schemas.openxmlformats.org/drawingml/2006/main"/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E098334C-A929-4D66-AB3E-AC63DC8D0D8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44487" y="785793"/>
            <a:ext cx="9217025" cy="62708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4c7898da7254747"/>
    <p:sldLayoutId xmlns:r="http://schemas.openxmlformats.org/officeDocument/2006/relationships" id="2147483650" r:id="Rb6a8a979b493453a"/>
    <p:sldLayoutId xmlns:r="http://schemas.openxmlformats.org/officeDocument/2006/relationships" id="2147483651" r:id="Rb6f5961e4fe74213"/>
    <p:sldLayoutId xmlns:r="http://schemas.openxmlformats.org/officeDocument/2006/relationships" id="2147483652" r:id="R2ab63f2c6d9d4c15"/>
    <p:sldLayoutId xmlns:r="http://schemas.openxmlformats.org/officeDocument/2006/relationships" id="2147483653" r:id="Rd828324eb9e24612"/>
    <p:sldLayoutId xmlns:r="http://schemas.openxmlformats.org/officeDocument/2006/relationships" id="2147483654" r:id="R173fd60af4274f6d"/>
    <p:sldLayoutId xmlns:r="http://schemas.openxmlformats.org/officeDocument/2006/relationships" id="2147483655" r:id="Rec6f3c9824394c2d"/>
    <p:sldLayoutId xmlns:r="http://schemas.openxmlformats.org/officeDocument/2006/relationships" id="2147483656" r:id="Rd166705f976240ad"/>
    <p:sldLayoutId xmlns:r="http://schemas.openxmlformats.org/officeDocument/2006/relationships" id="2147483657" r:id="R87646ebe0d824b41"/>
    <p:sldLayoutId xmlns:r="http://schemas.openxmlformats.org/officeDocument/2006/relationships" id="2147483658" r:id="R1687eecd244e4fda"/>
    <p:sldLayoutId xmlns:r="http://schemas.openxmlformats.org/officeDocument/2006/relationships" id="2147483659" r:id="R3a53bd65b8904503"/>
    <p:sldLayoutId xmlns:r="http://schemas.openxmlformats.org/officeDocument/2006/relationships" id="2147483660" r:id="R119903d0ed544b95"/>
    <p:sldLayoutId xmlns:r="http://schemas.openxmlformats.org/officeDocument/2006/relationships" id="2147483661" r:id="R8eaffaf69c0b4eb7"/>
  </p:sldLayoutIdLst>
  <p:hf hdr="0" ftr="0" dt="0"/>
  <p:txStyles>
    <p:titleStyle>
      <a:lvl1pPr xmlns:a="http://schemas.openxmlformats.org/drawingml/2006/main" algn="l" defTabSz="914400">
        <a:spcBef>
          <a:spcPct val="0"/>
        </a:spcBef>
        <a:buNone/>
        <a:defRPr sz="1800" b="1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0" indent="0" algn="l" defTabSz="914400">
        <a:spcBef>
          <a:spcPct val="20000"/>
        </a:spcBef>
        <a:buFont typeface="Arial"/>
        <a:buNone/>
        <a:defRPr sz="1400" b="1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테마">
  <a:themeElements>
    <a:clrScheme name="회색조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회색조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8c1a9d90192b4e16" /><Relationship Type="http://schemas.openxmlformats.org/officeDocument/2006/relationships/notesSlide" Target="/ppt/notesSlides/notesSlide1.xml" Id="R4b4d17370b6045f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25ca4ca26e04e97" /><Relationship Type="http://schemas.openxmlformats.org/officeDocument/2006/relationships/image" Target="/ppt/media/image3.png" Id="R0ec93a01750f4e02" /><Relationship Type="http://schemas.openxmlformats.org/officeDocument/2006/relationships/image" Target="/ppt/media/image4.png" Id="R1c2952ffb882495e" /><Relationship Type="http://schemas.openxmlformats.org/officeDocument/2006/relationships/notesSlide" Target="/ppt/notesSlides/notesSlide2.xml" Id="Rc2ef4130a20e45c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1103efaf432d47ea" /><Relationship Type="http://schemas.openxmlformats.org/officeDocument/2006/relationships/notesSlide" Target="/ppt/notesSlides/notesSlide3.xml" Id="Ra19502a39c8a40b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ec9365d471842fc" /><Relationship Type="http://schemas.openxmlformats.org/officeDocument/2006/relationships/notesSlide" Target="/ppt/notesSlides/notesSlide4.xml" Id="Rf7c35e25d46244e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05a05aeb2ee94d61" /><Relationship Type="http://schemas.openxmlformats.org/officeDocument/2006/relationships/notesSlide" Target="/ppt/notesSlides/notesSlide5.xml" Id="Rd8b0d09a2cfd4cd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f41e25a704346ff" /><Relationship Type="http://schemas.openxmlformats.org/officeDocument/2006/relationships/notesSlide" Target="/ppt/notesSlides/notesSlide6.xml" Id="R72957d1bdedc49f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b1918c0c79aa4426" /><Relationship Type="http://schemas.openxmlformats.org/officeDocument/2006/relationships/image" Target="/ppt/media/image.jpeg" Id="R7a83433808144b55" /><Relationship Type="http://schemas.openxmlformats.org/officeDocument/2006/relationships/image" Target="/ppt/media/image2.jpeg" Id="R79fb2ca6e87043dc" /><Relationship Type="http://schemas.openxmlformats.org/officeDocument/2006/relationships/notesSlide" Target="/ppt/notesSlides/notesSlide7.xml" Id="Rc5d8f3ee1464454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0c8e454b7c2046e7" /><Relationship Type="http://schemas.openxmlformats.org/officeDocument/2006/relationships/image" Target="/ppt/media/image3.jpeg" Id="R1ff9c1c2ccf149b7" /><Relationship Type="http://schemas.openxmlformats.org/officeDocument/2006/relationships/image" Target="/ppt/media/image4.jpeg" Id="R13bfcb87e01647d6" /><Relationship Type="http://schemas.openxmlformats.org/officeDocument/2006/relationships/image" Target="/ppt/media/image5.jpeg" Id="R009dd9e86f33406a" /><Relationship Type="http://schemas.openxmlformats.org/officeDocument/2006/relationships/image" Target="/ppt/media/image6.jpeg" Id="Rf2a03e2422e34ae5" /><Relationship Type="http://schemas.openxmlformats.org/officeDocument/2006/relationships/image" Target="/ppt/media/image7.jpeg" Id="R028d8be9ed624483" /><Relationship Type="http://schemas.openxmlformats.org/officeDocument/2006/relationships/notesSlide" Target="/ppt/notesSlides/notesSlide8.xml" Id="R909d07d435af4ec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2d886403319b4521" /><Relationship Type="http://schemas.openxmlformats.org/officeDocument/2006/relationships/image" Target="/ppt/media/image8.jpeg" Id="R7d7ab0f72b174337" /><Relationship Type="http://schemas.openxmlformats.org/officeDocument/2006/relationships/image" Target="/ppt/media/image9.jpeg" Id="R5589d1e4915d4f5a" /><Relationship Type="http://schemas.openxmlformats.org/officeDocument/2006/relationships/image" Target="/ppt/media/image10.jpeg" Id="Rd65fd38812b842e3" /><Relationship Type="http://schemas.openxmlformats.org/officeDocument/2006/relationships/image" Target="/ppt/media/image11.jpeg" Id="R03701e5b83684d76" /><Relationship Type="http://schemas.openxmlformats.org/officeDocument/2006/relationships/image" Target="/ppt/media/image12.jpeg" Id="R31cfdc0a0b2e4fb5" /><Relationship Type="http://schemas.openxmlformats.org/officeDocument/2006/relationships/image" Target="/ppt/media/image13.jpeg" Id="Rf377876cdf744f1f" /><Relationship Type="http://schemas.openxmlformats.org/officeDocument/2006/relationships/notesSlide" Target="/ppt/notesSlides/notesSlide9.xml" Id="Rbeb438861be54ec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1f38b1a46065479f" /><Relationship Type="http://schemas.openxmlformats.org/officeDocument/2006/relationships/notesSlide" Target="/ppt/notesSlides/notesSlide10.xml" Id="R0d9c7a39ddbb497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c5542073274afa" /><Relationship Type="http://schemas.openxmlformats.org/officeDocument/2006/relationships/notesSlide" Target="/ppt/notesSlides/notesSlide11.xml" Id="Rabc32fa14e28458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77d171118434e3d" /><Relationship Type="http://schemas.openxmlformats.org/officeDocument/2006/relationships/notesSlide" Target="/ppt/notesSlides/notesSlide12.xml" Id="Rcba75c406c334d3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aa41b24eed43f4" /><Relationship Type="http://schemas.openxmlformats.org/officeDocument/2006/relationships/notesSlide" Target="/ppt/notesSlides/notesSlide13.xml" Id="R7cd98b25ed044b3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e1c600bbea42cf" /><Relationship Type="http://schemas.openxmlformats.org/officeDocument/2006/relationships/notesSlide" Target="/ppt/notesSlides/notesSlide14.xml" Id="R9092cc1351e741d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31310f9c26c4dfb" /><Relationship Type="http://schemas.openxmlformats.org/officeDocument/2006/relationships/notesSlide" Target="/ppt/notesSlides/notesSlide15.xml" Id="R3441f78c6e3e462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c850f49325e4896" /><Relationship Type="http://schemas.openxmlformats.org/officeDocument/2006/relationships/notesSlide" Target="/ppt/notesSlides/notesSlide16.xml" Id="R1a5dbf017611442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0e9bd78f1f514cb9" /><Relationship Type="http://schemas.openxmlformats.org/officeDocument/2006/relationships/image" Target="/ppt/media/image3.jpeg" Id="R67504f0bbc544139" /><Relationship Type="http://schemas.openxmlformats.org/officeDocument/2006/relationships/image" Target="/ppt/media/image4.jpeg" Id="Rcf18f0e47bd54474" /><Relationship Type="http://schemas.openxmlformats.org/officeDocument/2006/relationships/image" Target="/ppt/media/image5.jpeg" Id="R7e691f4bdd4c4c9d" /><Relationship Type="http://schemas.openxmlformats.org/officeDocument/2006/relationships/image" Target="/ppt/media/image6.jpeg" Id="R8824793715f94596" /><Relationship Type="http://schemas.openxmlformats.org/officeDocument/2006/relationships/image" Target="/ppt/media/image7.jpeg" Id="R26e7b98ab65f41de" /><Relationship Type="http://schemas.openxmlformats.org/officeDocument/2006/relationships/notesSlide" Target="/ppt/notesSlides/notesSlide17.xml" Id="Rbbfc8a22f87b43c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244e8f1be9f34e05" /><Relationship Type="http://schemas.openxmlformats.org/officeDocument/2006/relationships/notesSlide" Target="/ppt/notesSlides/notesSlide18.xml" Id="Rded58a34cf5d48f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8b8dd5dc45246ec" /><Relationship Type="http://schemas.openxmlformats.org/officeDocument/2006/relationships/notesSlide" Target="/ppt/notesSlides/notesSlide19.xml" Id="R3cbc4863f61f4c1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a97ea65c6654598" /><Relationship Type="http://schemas.openxmlformats.org/officeDocument/2006/relationships/notesSlide" Target="/ppt/notesSlides/notesSlide20.xml" Id="R20434adb5e764663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6abacbb1b3a74fd9" /><Relationship Type="http://schemas.openxmlformats.org/officeDocument/2006/relationships/notesSlide" Target="/ppt/notesSlides/notesSlide21.xml" Id="R12c0a8c26c4e40c7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3f8c6d883e430c" /><Relationship Type="http://schemas.openxmlformats.org/officeDocument/2006/relationships/notesSlide" Target="/ppt/notesSlides/notesSlide22.xml" Id="Rec680acc17c04683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be794efb10da4bc0" /><Relationship Type="http://schemas.openxmlformats.org/officeDocument/2006/relationships/notesSlide" Target="/ppt/notesSlides/notesSlide23.xml" Id="R47e5b055ee6c457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제목 71">
            <a:extLst xmlns:a="http://schemas.openxmlformats.org/drawingml/2006/main">
              <a:ext uri="{FF2B5EF4-FFF2-40B4-BE49-F238E27FC236}">
                <a16:creationId xmlns:a16="http://schemas.microsoft.com/office/drawing/2014/main" id="{5C5C48E4-9E8B-4541-B156-A1A3C6CE6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487" y="71414"/>
            <a:ext cx="6768753" cy="57150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6800" rIns="91440" bIns="46800" anchor="b">
            <a:normAutofit/>
          </a:bodyPr>
          <a:lstStyle xmlns:a="http://schemas.openxmlformats.org/drawingml/2006/main">
            <a:lvl1pPr algn="l" defTabSz="914400">
              <a:spcBef>
                <a:spcPct val="0"/>
              </a:spcBef>
              <a:buNone/>
              <a:defRPr sz="1800" b="1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rPr>
                <a:solidFill>
                  <a:schemeClr val="bg1"/>
                </a:solidFill>
                <a:latin typeface="나눔고딕"/>
                <a:ea typeface="나눔고딕"/>
                <a:cs typeface="나눔고딕"/>
              </a:rPr>
              <a:t/>
            </a:r>
          </a:p>
        </p:txBody>
      </p:sp>
      <p:sp>
        <p:nvSpPr>
          <p:cNvPr id="3" name="직사각형 2">
            <a:extLst xmlns:a="http://schemas.openxmlformats.org/drawingml/2006/main">
              <a:ext uri="{FF2B5EF4-FFF2-40B4-BE49-F238E27FC236}">
                <a16:creationId xmlns:a16="http://schemas.microsoft.com/office/drawing/2014/main" id="{C3A22707-4EDC-470B-B202-338882A74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906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3B8"/>
          </a:solidFill>
          <a:ln xmlns:a="http://schemas.openxmlformats.org/drawingml/2006/main" w="9525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014AC9A-12C1-4CA9-841E-889339001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108" y="2614779"/>
            <a:ext cx="8157141" cy="1634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3B8"/>
          </a:solidFill>
        </p:spPr>
        <p:txBody>
          <a:bodyPr xmlns:a="http://schemas.openxmlformats.org/drawingml/2006/main" anchor="ctr"/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bg1"/>
                </a:solidFill>
                <a:latin typeface="원신한 Medium"/>
                <a:ea typeface="원신한 Medium"/>
                <a:cs typeface="원신한 Medium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buClrTx/>
              <a:buNone/>
            </a:pPr>
            <a:r>
              <a:rPr sz="2800" b="1">
                <a:latin typeface="맑은 고딕"/>
                <a:ea typeface="맑은 고딕"/>
                <a:cs typeface="맑은 고딕"/>
              </a:rPr>
              <a:t>HotelNGo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buClrTx/>
              <a:buNone/>
            </a:pPr>
            <a:r>
              <a:rPr sz="2800" b="1">
                <a:latin typeface="맑은 고딕"/>
                <a:ea typeface="맑은 고딕"/>
                <a:cs typeface="맑은 고딕"/>
              </a:rPr>
              <a:t>사업·통합 프로젝트 계획서</a:t>
            </a:r>
          </a:p>
        </p:txBody>
      </p:sp>
      <p:sp>
        <p:nvSpPr>
          <p:cNvPr id="7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E0B470ED-DCC4-436D-9285-360D32741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01" y="6404661"/>
            <a:ext cx="3990876" cy="29515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3B8"/>
          </a:solidFill>
        </p:spPr>
        <p:txBody>
          <a:bodyPr xmlns:a="http://schemas.openxmlformats.org/drawingml/2006/main" anchor="ctr"/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bg1"/>
                </a:solidFill>
                <a:latin typeface="원신한 Medium"/>
                <a:ea typeface="원신한 Medium"/>
                <a:cs typeface="원신한 Medium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buClrTx/>
              <a:buNone/>
            </a:pPr>
            <a:r>
              <a:rPr sz="800">
                <a:latin typeface="맑은 고딕"/>
                <a:ea typeface="맑은 고딕"/>
                <a:cs typeface="맑은 고딕"/>
              </a:rPr>
              <a:t>2026 HotelNGo</a:t>
            </a:r>
          </a:p>
        </p:txBody>
      </p:sp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0423B1E-8A1A-43D2-8FBF-431CD4D7C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7025" y="6404661"/>
            <a:ext cx="3990876" cy="29515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3B8"/>
          </a:solidFill>
        </p:spPr>
        <p:txBody>
          <a:bodyPr xmlns:a="http://schemas.openxmlformats.org/drawingml/2006/main" anchor="ctr"/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bg1"/>
                </a:solidFill>
                <a:latin typeface="원신한 Medium"/>
                <a:ea typeface="원신한 Medium"/>
                <a:cs typeface="원신한 Medium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lnSpc>
                <a:spcPct val="100000"/>
              </a:lnSpc>
              <a:spcBef>
                <a:spcPts val="0"/>
              </a:spcBef>
              <a:buClrTx/>
              <a:buNone/>
            </a:pPr>
            <a:r>
              <a:rPr sz="800">
                <a:latin typeface="맑은 고딕"/>
                <a:ea typeface="맑은 고딕"/>
                <a:cs typeface="맑은 고딕"/>
              </a:rPr>
              <a:t>Business · Service · Technology Plan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C3A70BE-32E2-4AB5-BDE8-46BFE65D4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108" y="158185"/>
            <a:ext cx="1719247" cy="520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bg1"/>
                </a:solidFill>
                <a:latin typeface="원신한 Medium"/>
                <a:ea typeface="원신한 Medium"/>
                <a:cs typeface="원신한 Medium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ts val="1800"/>
              </a:lnSpc>
              <a:spcBef>
                <a:spcPts val="0"/>
              </a:spcBef>
              <a:buClrTx/>
              <a:buNone/>
            </a:pPr>
            <a:r>
              <a:rPr sz="1800" b="1">
                <a:latin typeface="맑은 고딕"/>
                <a:ea typeface="맑은 고딕"/>
                <a:cs typeface="맑은 고딕"/>
              </a:rPr>
              <a:t>PROJECT PLAN</a:t>
            </a:r>
          </a:p>
        </p:txBody>
      </p:sp>
      <p:sp>
        <p:nvSpPr>
          <p:cNvPr id="2" name="슬라이드 번호 개체 틀 1">
            <a:extLst xmlns:a="http://schemas.openxmlformats.org/drawingml/2006/main">
              <a:ext uri="{FF2B5EF4-FFF2-40B4-BE49-F238E27FC236}">
                <a16:creationId xmlns:a16="http://schemas.microsoft.com/office/drawing/2014/main" id="{D95FF13F-E7B3-420E-8597-71DF3CF5E45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0A2AFC4-3833-13C1-E2BC-5608F810A1BF}" type="slidenum">
              <a:rPr>
                <a:latin typeface="나눔고딕"/>
                <a:ea typeface="나눔고딕"/>
                <a:cs typeface="나눔고딕"/>
              </a:rPr>
              <a:t>01</a:t>
            </a:fld>
          </a:p>
        </p:txBody>
      </p:sp>
    </p:spTree>
    <p:extLst>
      <p:ext uri="{BB962C8B-B14F-4D97-AF65-F5344CB8AC3E}">
        <p14:creationId xmlns:p14="http://schemas.microsoft.com/office/powerpoint/2010/main" val="79809813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677A1906-8ACF-4588-9E24-CB248FF9D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0"/>
            <a:ext cx="3728863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3B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defTabSz="371475">
              <a:buNone/>
            </a:pPr>
          </a:p>
        </p:txBody>
      </p:sp>
      <p:pic>
        <p:nvPicPr>
          <p:cNvPr id="33" name="그림 1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ec93a01750f4e02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8683326" y="140075"/>
            <a:ext cx="1022976" cy="244440"/>
          </a:xfrm>
          <a:prstGeom xmlns:a="http://schemas.openxmlformats.org/drawingml/2006/main" prst="rect">
            <a:avLst/>
          </a:prstGeom>
        </p:spPr>
      </p:pic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42B1D5EF-3FF0-4D4B-A8B6-59C69DDFB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2776" y="1340768"/>
            <a:ext cx="2160000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 defTabSz="371475">
              <a:buNone/>
            </a:pPr>
            <a:r>
              <a:rPr sz="2800" b="1">
                <a:solidFill>
                  <a:prstClr val="white"/>
                </a:solidFill>
                <a:latin typeface="나눔고딕"/>
                <a:ea typeface="나눔고딕"/>
                <a:cs typeface="나눔고딕"/>
              </a:rPr>
              <a:t>목 차</a:t>
            </a:r>
          </a:p>
        </p:txBody>
      </p:sp>
      <p:sp>
        <p:nvSpPr>
          <p:cNvPr id="9" name="직선 연결선 8">
            <a:extLst xmlns:a="http://schemas.openxmlformats.org/drawingml/2006/main">
              <a:ext uri="{FF2B5EF4-FFF2-40B4-BE49-F238E27FC236}">
                <a16:creationId xmlns:a16="http://schemas.microsoft.com/office/drawing/2014/main" id="{6D0954C3-7B1E-43D3-8C4F-6BCAB214F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4608" y="1935996"/>
            <a:ext cx="23040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pic>
        <p:nvPicPr>
          <p:cNvPr id="36" name="그림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2952ffb882495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9057457" y="6277728"/>
            <a:ext cx="864095" cy="679664"/>
          </a:xfrm>
          <a:prstGeom xmlns:a="http://schemas.openxmlformats.org/drawingml/2006/main" prst="rect">
            <a:avLst/>
          </a:prstGeom>
        </p:spPr>
      </p:pic>
      <p:sp>
        <p:nvSpPr>
          <p:cNvPr id="16" name="제목 71">
            <a:extLst xmlns:a="http://schemas.openxmlformats.org/drawingml/2006/main">
              <a:ext uri="{FF2B5EF4-FFF2-40B4-BE49-F238E27FC236}">
                <a16:creationId xmlns:a16="http://schemas.microsoft.com/office/drawing/2014/main" id="{C72BF484-D5E8-4741-8CBB-7EE1DE960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0664" y="1340768"/>
            <a:ext cx="4308800" cy="5723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algn="l" defTabSz="742950">
              <a:lnSpc>
                <a:spcPct val="90000"/>
              </a:lnSpc>
              <a:spcBef>
                <a:spcPct val="0"/>
              </a:spcBef>
              <a:buNone/>
              <a:defRPr sz="3575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marL="400050" indent="-400050">
              <a:lnSpc>
                <a:spcPct val="150000"/>
              </a:lnSpc>
              <a:spcBef>
                <a:spcPts val="2400"/>
              </a:spcBef>
              <a:buFont typeface="+mj-lt"/>
              <a:buAutoNum type="romanUcPeriod"/>
            </a:pPr>
            <a:r>
              <a:rPr sz="1800" b="1">
                <a:solidFill>
                  <a:srgbClr val="0053B8"/>
                </a:solidFill>
                <a:latin typeface="나눔고딕"/>
                <a:ea typeface="나눔고딕"/>
                <a:cs typeface="나눔고딕"/>
              </a:rPr>
              <a:t>I. 사업 구상과 고객 가치</a:t>
            </a:r>
          </a:p>
        </p:txBody>
      </p:sp>
      <p:sp>
        <p:nvSpPr>
          <p:cNvPr id="21" name="제목 71">
            <a:extLst xmlns:a="http://schemas.openxmlformats.org/drawingml/2006/main">
              <a:ext uri="{FF2B5EF4-FFF2-40B4-BE49-F238E27FC236}">
                <a16:creationId xmlns:a16="http://schemas.microsoft.com/office/drawing/2014/main" id="{4BA636A0-D079-4354-97D9-6A019C79D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2855" y="2079774"/>
            <a:ext cx="4300992" cy="5723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algn="l" defTabSz="742950">
              <a:lnSpc>
                <a:spcPct val="90000"/>
              </a:lnSpc>
              <a:spcBef>
                <a:spcPct val="0"/>
              </a:spcBef>
              <a:buNone/>
              <a:defRPr sz="3575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marL="400050" indent="-400050">
              <a:lnSpc>
                <a:spcPct val="150000"/>
              </a:lnSpc>
              <a:spcBef>
                <a:spcPts val="2400"/>
              </a:spcBef>
              <a:buFont typeface="+mj-lt"/>
              <a:buAutoNum type="romanUcPeriod" startAt="2"/>
            </a:pPr>
            <a:r>
              <a:rPr sz="1800" b="1">
                <a:solidFill>
                  <a:srgbClr val="0053B8"/>
                </a:solidFill>
                <a:latin typeface="나눔고딕"/>
                <a:ea typeface="나눔고딕"/>
                <a:cs typeface="나눔고딕"/>
              </a:rPr>
              <a:t>II. 서비스와 운영 구조</a:t>
            </a:r>
          </a:p>
        </p:txBody>
      </p:sp>
      <p:sp>
        <p:nvSpPr>
          <p:cNvPr id="25" name="제목 71">
            <a:extLst xmlns:a="http://schemas.openxmlformats.org/drawingml/2006/main">
              <a:ext uri="{FF2B5EF4-FFF2-40B4-BE49-F238E27FC236}">
                <a16:creationId xmlns:a16="http://schemas.microsoft.com/office/drawing/2014/main" id="{4BF68658-6D6A-4D62-88CC-33B670E2C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0664" y="2818780"/>
            <a:ext cx="4300992" cy="5723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algn="l" defTabSz="742950">
              <a:lnSpc>
                <a:spcPct val="90000"/>
              </a:lnSpc>
              <a:spcBef>
                <a:spcPct val="0"/>
              </a:spcBef>
              <a:buNone/>
              <a:defRPr sz="3575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marL="400050" indent="-400050">
              <a:lnSpc>
                <a:spcPct val="150000"/>
              </a:lnSpc>
              <a:spcBef>
                <a:spcPts val="2400"/>
              </a:spcBef>
              <a:buFont typeface="+mj-lt"/>
              <a:buAutoNum type="romanUcPeriod" startAt="3"/>
            </a:pPr>
            <a:r>
              <a:rPr sz="1800" b="1">
                <a:solidFill>
                  <a:srgbClr val="0053B8"/>
                </a:solidFill>
                <a:latin typeface="나눔고딕"/>
                <a:ea typeface="나눔고딕"/>
                <a:cs typeface="나눔고딕"/>
              </a:rPr>
              <a:t>III. 사업성과 성장 전략</a:t>
            </a:r>
          </a:p>
        </p:txBody>
      </p:sp>
      <p:sp>
        <p:nvSpPr>
          <p:cNvPr id="29" name="제목 71">
            <a:extLst xmlns:a="http://schemas.openxmlformats.org/drawingml/2006/main">
              <a:ext uri="{FF2B5EF4-FFF2-40B4-BE49-F238E27FC236}">
                <a16:creationId xmlns:a16="http://schemas.microsoft.com/office/drawing/2014/main" id="{0A6DE066-4E45-4B0B-AAD0-25BF9CAC7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2855" y="3557786"/>
            <a:ext cx="4308801" cy="5723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algn="l" defTabSz="742950">
              <a:lnSpc>
                <a:spcPct val="90000"/>
              </a:lnSpc>
              <a:spcBef>
                <a:spcPct val="0"/>
              </a:spcBef>
              <a:buNone/>
              <a:defRPr sz="3575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marL="400050" indent="-400050">
              <a:lnSpc>
                <a:spcPct val="150000"/>
              </a:lnSpc>
              <a:spcBef>
                <a:spcPts val="2400"/>
              </a:spcBef>
              <a:buFont typeface="+mj-lt"/>
              <a:buAutoNum type="romanUcPeriod" startAt="4"/>
            </a:pPr>
            <a:r>
              <a:rPr sz="1800" b="1">
                <a:solidFill>
                  <a:srgbClr val="0053B8"/>
                </a:solidFill>
                <a:latin typeface="나눔고딕"/>
                <a:ea typeface="나눔고딕"/>
                <a:cs typeface="나눔고딕"/>
              </a:rPr>
              <a:t>IV. 단계별 출시 로드맵</a:t>
            </a:r>
          </a:p>
        </p:txBody>
      </p:sp>
      <p:sp>
        <p:nvSpPr>
          <p:cNvPr id="14" name="제목 71">
            <a:extLst xmlns:a="http://schemas.openxmlformats.org/drawingml/2006/main">
              <a:ext uri="{FF2B5EF4-FFF2-40B4-BE49-F238E27FC236}">
                <a16:creationId xmlns:a16="http://schemas.microsoft.com/office/drawing/2014/main" id="{22AE92ED-06C8-49AD-8458-72BA19E2A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5642" y="4296793"/>
            <a:ext cx="4308801" cy="5723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algn="l" defTabSz="742950">
              <a:lnSpc>
                <a:spcPct val="90000"/>
              </a:lnSpc>
              <a:spcBef>
                <a:spcPct val="0"/>
              </a:spcBef>
              <a:buNone/>
              <a:defRPr sz="3575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marL="400050" indent="-400050">
              <a:lnSpc>
                <a:spcPct val="150000"/>
              </a:lnSpc>
              <a:spcBef>
                <a:spcPts val="2400"/>
              </a:spcBef>
              <a:buFont typeface="+mj-lt"/>
              <a:buAutoNum type="romanUcPeriod" startAt="5"/>
            </a:pPr>
            <a:r>
              <a:rPr sz="1800" b="1">
                <a:solidFill>
                  <a:srgbClr val="0053B8"/>
                </a:solidFill>
                <a:latin typeface="나눔고딕"/>
                <a:ea typeface="나눔고딕"/>
                <a:cs typeface="나눔고딕"/>
              </a:rPr>
              <a:t>V. KPI·위험·의사결정 Gate</a:t>
            </a:r>
          </a:p>
        </p:txBody>
      </p:sp>
    </p:spTree>
    <p:extLst>
      <p:ext uri="{BB962C8B-B14F-4D97-AF65-F5344CB8AC3E}">
        <p14:creationId xmlns:p14="http://schemas.microsoft.com/office/powerpoint/2010/main" val="295690626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제목 71">
            <a:extLst xmlns:a="http://schemas.openxmlformats.org/drawingml/2006/main">
              <a:ext uri="{FF2B5EF4-FFF2-40B4-BE49-F238E27FC236}">
                <a16:creationId xmlns:a16="http://schemas.microsoft.com/office/drawing/2014/main" id="{5C5C48E4-9E8B-4541-B156-A1A3C6CE6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487" y="71414"/>
            <a:ext cx="6768753" cy="57150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6800" rIns="91440" bIns="46800" anchor="b">
            <a:normAutofit/>
          </a:bodyPr>
          <a:lstStyle xmlns:a="http://schemas.openxmlformats.org/drawingml/2006/main">
            <a:lvl1pPr algn="l" defTabSz="914400">
              <a:spcBef>
                <a:spcPct val="0"/>
              </a:spcBef>
              <a:buNone/>
              <a:defRPr sz="1800" b="1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rPr>
                <a:solidFill>
                  <a:schemeClr val="bg1"/>
                </a:solidFill>
                <a:latin typeface="나눔고딕"/>
                <a:ea typeface="나눔고딕"/>
                <a:cs typeface="나눔고딕"/>
              </a:rPr>
              <a:t/>
            </a:r>
          </a:p>
        </p:txBody>
      </p:sp>
      <p:sp>
        <p:nvSpPr>
          <p:cNvPr id="3" name="직사각형 2">
            <a:extLst xmlns:a="http://schemas.openxmlformats.org/drawingml/2006/main">
              <a:ext uri="{FF2B5EF4-FFF2-40B4-BE49-F238E27FC236}">
                <a16:creationId xmlns:a16="http://schemas.microsoft.com/office/drawing/2014/main" id="{C3A22707-4EDC-470B-B202-338882A74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906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3B8"/>
          </a:solidFill>
          <a:ln xmlns:a="http://schemas.openxmlformats.org/drawingml/2006/main" w="9525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014AC9A-12C1-4CA9-841E-889339001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108" y="2614779"/>
            <a:ext cx="8157141" cy="1634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3B8"/>
          </a:solidFill>
        </p:spPr>
        <p:txBody>
          <a:bodyPr xmlns:a="http://schemas.openxmlformats.org/drawingml/2006/main" anchor="ctr"/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bg1"/>
                </a:solidFill>
                <a:latin typeface="원신한 Medium"/>
                <a:ea typeface="원신한 Medium"/>
                <a:cs typeface="원신한 Medium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buClrTx/>
              <a:buNone/>
            </a:pPr>
            <a:r>
              <a:rPr sz="2800" b="1">
                <a:latin typeface="맑은 고딕"/>
                <a:ea typeface="맑은 고딕"/>
                <a:cs typeface="맑은 고딕"/>
              </a:rPr>
              <a:t>I. 사업 구상과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buClrTx/>
              <a:buNone/>
            </a:pPr>
            <a:r>
              <a:rPr sz="2800" b="1">
                <a:latin typeface="맑은 고딕"/>
                <a:ea typeface="맑은 고딕"/>
                <a:cs typeface="맑은 고딕"/>
              </a:rPr>
              <a:t>고객 가치</a:t>
            </a:r>
          </a:p>
        </p:txBody>
      </p:sp>
      <p:sp>
        <p:nvSpPr>
          <p:cNvPr id="7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E0B470ED-DCC4-436D-9285-360D32741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01" y="6404661"/>
            <a:ext cx="3990876" cy="29515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3B8"/>
          </a:solidFill>
        </p:spPr>
        <p:txBody>
          <a:bodyPr xmlns:a="http://schemas.openxmlformats.org/drawingml/2006/main" anchor="ctr"/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bg1"/>
                </a:solidFill>
                <a:latin typeface="원신한 Medium"/>
                <a:ea typeface="원신한 Medium"/>
                <a:cs typeface="원신한 Medium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buClrTx/>
              <a:buNone/>
            </a:pPr>
            <a:r>
              <a:rPr sz="800">
                <a:latin typeface="맑은 고딕"/>
                <a:ea typeface="맑은 고딕"/>
                <a:cs typeface="맑은 고딕"/>
              </a:rPr>
              <a:t>HotelNGo Project Plan</a:t>
            </a:r>
          </a:p>
        </p:txBody>
      </p:sp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0423B1E-8A1A-43D2-8FBF-431CD4D7C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7025" y="6404661"/>
            <a:ext cx="3990876" cy="29515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3B8"/>
          </a:solidFill>
        </p:spPr>
        <p:txBody>
          <a:bodyPr xmlns:a="http://schemas.openxmlformats.org/drawingml/2006/main" anchor="ctr"/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bg1"/>
                </a:solidFill>
                <a:latin typeface="원신한 Medium"/>
                <a:ea typeface="원신한 Medium"/>
                <a:cs typeface="원신한 Medium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lnSpc>
                <a:spcPct val="100000"/>
              </a:lnSpc>
              <a:spcBef>
                <a:spcPts val="0"/>
              </a:spcBef>
              <a:buClrTx/>
              <a:buNone/>
            </a:pPr>
            <a:r>
              <a:rPr sz="800">
                <a:latin typeface="맑은 고딕"/>
                <a:ea typeface="맑은 고딕"/>
                <a:cs typeface="맑은 고딕"/>
              </a:rPr>
              <a:t>Discover · Plan · Book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C3A70BE-32E2-4AB5-BDE8-46BFE65D4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108" y="158185"/>
            <a:ext cx="1719247" cy="520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bg1"/>
                </a:solidFill>
                <a:latin typeface="원신한 Medium"/>
                <a:ea typeface="원신한 Medium"/>
                <a:cs typeface="원신한 Medium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ts val="1800"/>
              </a:lnSpc>
              <a:spcBef>
                <a:spcPts val="0"/>
              </a:spcBef>
              <a:buClrTx/>
              <a:buNone/>
            </a:pPr>
            <a:r>
              <a:rPr sz="1800" b="1">
                <a:latin typeface="맑은 고딕"/>
                <a:ea typeface="맑은 고딕"/>
                <a:cs typeface="맑은 고딕"/>
              </a:rPr>
              <a:t>SECTION 01</a:t>
            </a:r>
          </a:p>
        </p:txBody>
      </p:sp>
      <p:sp>
        <p:nvSpPr>
          <p:cNvPr id="2" name="슬라이드 번호 개체 틀 1">
            <a:extLst xmlns:a="http://schemas.openxmlformats.org/drawingml/2006/main">
              <a:ext uri="{FF2B5EF4-FFF2-40B4-BE49-F238E27FC236}">
                <a16:creationId xmlns:a16="http://schemas.microsoft.com/office/drawing/2014/main" id="{D95FF13F-E7B3-420E-8597-71DF3CF5E45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BADEEDC-EEE1-8597-0639-A35D9BA153EC}" type="slidenum">
              <a:rPr>
                <a:latin typeface="나눔고딕"/>
                <a:ea typeface="나눔고딕"/>
                <a:cs typeface="나눔고딕"/>
              </a:rPr>
              <a:t>03</a:t>
            </a:fld>
          </a:p>
        </p:txBody>
      </p:sp>
    </p:spTree>
    <p:extLst>
      <p:ext uri="{BB962C8B-B14F-4D97-AF65-F5344CB8AC3E}">
        <p14:creationId xmlns:p14="http://schemas.microsoft.com/office/powerpoint/2010/main" val="79809813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제목 71">
            <a:extLst xmlns:a="http://schemas.openxmlformats.org/drawingml/2006/main">
              <a:ext uri="{FF2B5EF4-FFF2-40B4-BE49-F238E27FC236}">
                <a16:creationId xmlns:a16="http://schemas.microsoft.com/office/drawing/2014/main" id="{0A4D92D9-7E69-480C-9827-E9CD4C613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487" y="71414"/>
            <a:ext cx="6768753" cy="57150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6800" rIns="91440" bIns="46800" anchor="b">
            <a:normAutofit fontScale="100000"/>
          </a:bodyPr>
          <a:lstStyle xmlns:a="http://schemas.openxmlformats.org/drawingml/2006/main">
            <a:lvl1pPr algn="l" defTabSz="914400">
              <a:spcBef>
                <a:spcPct val="0"/>
              </a:spcBef>
              <a:buNone/>
              <a:defRPr sz="1800" b="1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rPr>
                <a:solidFill>
                  <a:schemeClr val="bg1"/>
                </a:solidFill>
                <a:latin typeface="나눔고딕"/>
                <a:ea typeface="나눔고딕"/>
                <a:cs typeface="나눔고딕"/>
              </a:rPr>
              <a:t>1. HotelNGo 사업 정의와 추진 방향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3F454521-134A-4C19-B324-2C34D0011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512" y="908720"/>
            <a:ext cx="8945580" cy="8475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1300" b="1">
                <a:latin typeface="나눔고딕"/>
                <a:ea typeface="나눔고딕"/>
                <a:cs typeface="나눔고딕"/>
              </a:rPr>
              <a:t>HotelNGo는 감성적인 여행 발견을 여러 날짜의 일정 구성과 실제 예약까지 연결하고, 호텔·다업종 공급자의 운영 데이터를 하나의 거래 구조로 엮는 글로벌 여행 플랫폼을 구축하고자 합니다.</a:t>
            </a:r>
          </a:p>
        </p:txBody>
      </p:sp>
      <p:sp>
        <p:nvSpPr>
          <p:cNvPr id="10" name="삼각형 8">
            <a:extLst xmlns:a="http://schemas.openxmlformats.org/drawingml/2006/main">
              <a:ext uri="{FF2B5EF4-FFF2-40B4-BE49-F238E27FC236}">
                <a16:creationId xmlns:a16="http://schemas.microsoft.com/office/drawing/2014/main" id="{96744AEB-2A7A-45EC-9328-C78D7D088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520" y="1784011"/>
            <a:ext cx="7818959" cy="1210857"/>
          </a:xfrm>
          <a:prstGeom xmlns:a="http://schemas.openxmlformats.org/drawingml/2006/main" prst="triangle">
            <a:avLst>
              <a:gd name="adj" fmla="val 49887"/>
            </a:avLst>
          </a:prstGeom>
          <a:gradFill xmlns:a="http://schemas.openxmlformats.org/drawingml/2006/main" rotWithShape="1">
            <a:gsLst>
              <a:gs pos="0">
                <a:srgbClr val="D1EFF9">
                  <a:alpha val="30000"/>
                </a:srgb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162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Clr>
                <a:srgbClr val="000000"/>
              </a:buClr>
              <a:buFont typeface="Arial"/>
              <a:buNone/>
            </a:pPr>
          </a:p>
        </p:txBody>
      </p:sp>
      <p:sp>
        <p:nvSpPr>
          <p:cNvPr id="11" name="사각형: 둥근 모서리 10">
            <a:extLst xmlns:a="http://schemas.openxmlformats.org/drawingml/2006/main">
              <a:ext uri="{FF2B5EF4-FFF2-40B4-BE49-F238E27FC236}">
                <a16:creationId xmlns:a16="http://schemas.microsoft.com/office/drawing/2014/main" id="{08657C82-0C4A-4BB5-941E-A1F4CCD8B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474" y="4832033"/>
            <a:ext cx="8644727" cy="122285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9525">
            <a:solidFill>
              <a:schemeClr val="bg1">
                <a:lumMod val="65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 Box 1059">
            <a:extLst xmlns:a="http://schemas.openxmlformats.org/drawingml/2006/main">
              <a:ext uri="{FF2B5EF4-FFF2-40B4-BE49-F238E27FC236}">
                <a16:creationId xmlns:a16="http://schemas.microsoft.com/office/drawing/2014/main" id="{A1C9E121-F826-4C77-AFFB-93257D138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4608" y="5039197"/>
            <a:ext cx="2016224" cy="4308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1pPr>
            <a:lvl2pPr marL="742950" indent="-28575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2pPr>
            <a:lvl3pPr marL="11430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3pPr>
            <a:lvl4pPr marL="16002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4pPr>
            <a:lvl5pPr marL="20574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9pPr>
          </a:lstStyle>
          <a:p xmlns:a="http://schemas.openxmlformats.org/drawingml/2006/main">
            <a:pPr>
              <a:buNone/>
            </a:pPr>
            <a:r>
              <a:rPr sz="1100" b="1">
                <a:latin typeface="나눔고딕"/>
                <a:ea typeface="나눔고딕"/>
                <a:cs typeface="나눔고딕"/>
              </a:rPr>
              <a:t>• 해외여행 회복과 개인화·자유여행 수요 확대</a:t>
            </a:r>
          </a:p>
        </p:txBody>
      </p:sp>
      <p:sp>
        <p:nvSpPr>
          <p:cNvPr id="14" name="사각형: 둥근 모서리 13">
            <a:extLst xmlns:a="http://schemas.openxmlformats.org/drawingml/2006/main">
              <a:ext uri="{FF2B5EF4-FFF2-40B4-BE49-F238E27FC236}">
                <a16:creationId xmlns:a16="http://schemas.microsoft.com/office/drawing/2014/main" id="{6BED4BEC-4414-418C-AD4E-70FE50217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474" y="1926992"/>
            <a:ext cx="8644727" cy="493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54D83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Clr>
                <a:srgbClr val="000000"/>
              </a:buClr>
              <a:buFont typeface="Arial"/>
              <a:buNone/>
            </a:pPr>
            <a:r>
              <a:rPr b="1">
                <a:solidFill>
                  <a:schemeClr val="bg1"/>
                </a:solidFill>
                <a:latin typeface="나눔고딕"/>
                <a:ea typeface="나눔고딕"/>
                <a:cs typeface="나눔고딕"/>
              </a:rPr>
              <a:t>가고 싶은 마음을</a:t>
            </a:r>
          </a:p>
          <a:p xmlns:a="http://schemas.openxmlformats.org/drawingml/2006/main">
            <a:pPr algn="ctr">
              <a:buClr>
                <a:srgbClr val="000000"/>
              </a:buClr>
              <a:buFont typeface="Arial"/>
              <a:buNone/>
            </a:pPr>
            <a:r>
              <a:rPr b="1">
                <a:solidFill>
                  <a:schemeClr val="bg1"/>
                </a:solidFill>
                <a:latin typeface="나눔고딕"/>
                <a:ea typeface="나눔고딕"/>
                <a:cs typeface="나눔고딕"/>
              </a:rPr>
              <a:t>실제 여행 거래로 연결</a:t>
            </a:r>
          </a:p>
        </p:txBody>
      </p:sp>
      <p:sp>
        <p:nvSpPr>
          <p:cNvPr id="16" name="AutoShape 1073">
            <a:extLst xmlns:a="http://schemas.openxmlformats.org/drawingml/2006/main">
              <a:ext uri="{FF2B5EF4-FFF2-40B4-BE49-F238E27FC236}">
                <a16:creationId xmlns:a16="http://schemas.microsoft.com/office/drawing/2014/main" id="{C46E2062-1BD1-41E4-BB85-27970B07D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202" y="2432230"/>
            <a:ext cx="8155110" cy="393789"/>
          </a:xfrm>
          <a:prstGeom xmlns:a="http://schemas.openxmlformats.org/drawingml/2006/main" prst="roundRect">
            <a:avLst>
              <a:gd name="adj" fmla="val 12278"/>
            </a:avLst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46800" rIns="0" bIns="46800" anchor="ctr"/>
          <a:lstStyle xmlns:a="http://schemas.openxmlformats.org/drawingml/2006/main">
            <a:lvl1pPr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1pPr>
            <a:lvl2pPr marL="742950" indent="-28575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2pPr>
            <a:lvl3pPr marL="11430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3pPr>
            <a:lvl4pPr marL="16002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4pPr>
            <a:lvl5pPr marL="20574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9pPr>
          </a:lstStyle>
          <a:p xmlns:a="http://schemas.openxmlformats.org/drawingml/2006/main">
            <a:pPr algn="ctr">
              <a:buClr>
                <a:schemeClr val="accent2"/>
              </a:buClr>
              <a:buNone/>
            </a:pPr>
            <a:r>
              <a:rPr sz="1600" b="1">
                <a:latin typeface="나눔고딕"/>
                <a:ea typeface="나눔고딕"/>
                <a:cs typeface="나눔고딕"/>
              </a:rPr>
              <a:t>콘텐츠형 여행 플랫폼 + 다업종 커머스 + 공급 연계</a:t>
            </a:r>
          </a:p>
        </p:txBody>
      </p:sp>
      <p:sp>
        <p:nvSpPr>
          <p:cNvPr id="17" name="사각형: 둥근 모서리 16">
            <a:extLst xmlns:a="http://schemas.openxmlformats.org/drawingml/2006/main">
              <a:ext uri="{FF2B5EF4-FFF2-40B4-BE49-F238E27FC236}">
                <a16:creationId xmlns:a16="http://schemas.microsoft.com/office/drawing/2014/main" id="{9227A528-23D7-430D-82C2-CC04E412A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097" y="4653136"/>
            <a:ext cx="7359190" cy="34588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tIns="0" bIns="0" anchor="ctr"/>
          <a:lstStyle xmlns:a="http://schemas.openxmlformats.org/drawingml/2006/main"/>
          <a:p xmlns:a="http://schemas.openxmlformats.org/drawingml/2006/main">
            <a:pPr algn="ctr">
              <a:buClr>
                <a:srgbClr val="000000"/>
              </a:buClr>
              <a:buFont typeface="Arial"/>
              <a:buNone/>
            </a:pPr>
            <a:r>
              <a:rPr sz="1400" b="1">
                <a:latin typeface="나눔고딕"/>
                <a:ea typeface="나눔고딕"/>
                <a:cs typeface="나눔고딕"/>
              </a:rPr>
              <a:t>사업 가설</a:t>
            </a:r>
          </a:p>
        </p:txBody>
      </p:sp>
      <p:sp>
        <p:nvSpPr>
          <p:cNvPr id="18" name="사각형: 둥근 모서리 17">
            <a:extLst xmlns:a="http://schemas.openxmlformats.org/drawingml/2006/main">
              <a:ext uri="{FF2B5EF4-FFF2-40B4-BE49-F238E27FC236}">
                <a16:creationId xmlns:a16="http://schemas.microsoft.com/office/drawing/2014/main" id="{9B1F9BE3-70A7-4D4D-8EE6-71B6AFED7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6035" y="5281071"/>
            <a:ext cx="1399410" cy="428931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BE3EE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Clr>
                <a:srgbClr val="000000"/>
              </a:buClr>
              <a:buFont typeface="Arial"/>
              <a:buNone/>
            </a:pPr>
          </a:p>
        </p:txBody>
      </p:sp>
      <p:sp>
        <p:nvSpPr>
          <p:cNvPr id="19" name="Text Box 1067">
            <a:extLst xmlns:a="http://schemas.openxmlformats.org/drawingml/2006/main">
              <a:ext uri="{FF2B5EF4-FFF2-40B4-BE49-F238E27FC236}">
                <a16:creationId xmlns:a16="http://schemas.microsoft.com/office/drawing/2014/main" id="{127D301A-BA50-4D6F-8A82-A09973BD4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4760" y="5357037"/>
            <a:ext cx="1821959" cy="2769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spAutoFit/>
          </a:bodyPr>
          <a:lstStyle xmlns:a="http://schemas.openxmlformats.org/drawingml/2006/main">
            <a:lvl1pPr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1pPr>
            <a:lvl2pPr marL="742950" indent="-28575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2pPr>
            <a:lvl3pPr marL="11430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3pPr>
            <a:lvl4pPr marL="16002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4pPr>
            <a:lvl5pPr marL="20574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9pPr>
          </a:lstStyle>
          <a:p xmlns:a="http://schemas.openxmlformats.org/drawingml/2006/main">
            <a:pPr algn="ctr">
              <a:buNone/>
            </a:pPr>
            <a:r>
              <a:rPr b="1">
                <a:latin typeface="나눔고딕"/>
                <a:ea typeface="나눔고딕"/>
                <a:cs typeface="나눔고딕"/>
              </a:rPr>
              <a:t>WHY NOW</a:t>
            </a:r>
          </a:p>
        </p:txBody>
      </p:sp>
      <p:cxnSp>
        <p:nvCxnSpPr>
          <p:cNvPr id="65" name="연결선: 꺾임 20"/>
          <p:cNvCxnSpPr/>
          <p:nvPr/>
        </p:nvCxnSpPr>
        <p:spPr>
          <a:xfrm xmlns:a="http://schemas.openxmlformats.org/drawingml/2006/main" rot="0" flipH="0" flipV="1">
            <a:off x="5514397" y="5218539"/>
            <a:ext cx="647542" cy="280326"/>
          </a:xfrm>
          <a:prstGeom xmlns:a="http://schemas.openxmlformats.org/drawingml/2006/main" prst="bentConnector3">
            <a:avLst/>
          </a:prstGeom>
          <a:ln xmlns:a="http://schemas.openxmlformats.org/drawingml/2006/main">
            <a:solidFill>
              <a:srgbClr val="C7B38F"/>
            </a:solidFill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66" name="연결선: 꺾임 21"/>
          <p:cNvCxnSpPr/>
          <p:nvPr/>
        </p:nvCxnSpPr>
        <p:spPr>
          <a:xfrm xmlns:a="http://schemas.openxmlformats.org/drawingml/2006/main" rot="0" flipH="0" flipV="0">
            <a:off x="5514397" y="5498865"/>
            <a:ext cx="647542" cy="346166"/>
          </a:xfrm>
          <a:prstGeom xmlns:a="http://schemas.openxmlformats.org/drawingml/2006/main" prst="bentConnector3">
            <a:avLst/>
          </a:prstGeom>
          <a:ln xmlns:a="http://schemas.openxmlformats.org/drawingml/2006/main">
            <a:solidFill>
              <a:srgbClr val="C7B38F"/>
            </a:solidFill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67" name="연결선: 꺾임 23"/>
          <p:cNvCxnSpPr/>
          <p:nvPr/>
        </p:nvCxnSpPr>
        <p:spPr>
          <a:xfrm xmlns:a="http://schemas.openxmlformats.org/drawingml/2006/main" rot="10800000" flipH="0" flipV="0">
            <a:off x="-8573939" y="5218539"/>
            <a:ext cx="647542" cy="276999"/>
          </a:xfrm>
          <a:prstGeom xmlns:a="http://schemas.openxmlformats.org/drawingml/2006/main" prst="bentConnector3">
            <a:avLst/>
          </a:prstGeom>
          <a:ln xmlns:a="http://schemas.openxmlformats.org/drawingml/2006/main">
            <a:solidFill>
              <a:srgbClr val="C7B38F"/>
            </a:solidFill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68" name="연결선: 꺾임 24"/>
          <p:cNvCxnSpPr/>
          <p:nvPr/>
        </p:nvCxnSpPr>
        <p:spPr>
          <a:xfrm xmlns:a="http://schemas.openxmlformats.org/drawingml/2006/main" rot="0" flipH="1" flipV="0">
            <a:off x="-8573939" y="5495537"/>
            <a:ext cx="647542" cy="346166"/>
          </a:xfrm>
          <a:prstGeom xmlns:a="http://schemas.openxmlformats.org/drawingml/2006/main" prst="bentConnector3">
            <a:avLst/>
          </a:prstGeom>
          <a:ln xmlns:a="http://schemas.openxmlformats.org/drawingml/2006/main">
            <a:solidFill>
              <a:srgbClr val="C7B38F"/>
            </a:solidFill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26" name="Text Box 1059">
            <a:extLst xmlns:a="http://schemas.openxmlformats.org/drawingml/2006/main">
              <a:ext uri="{FF2B5EF4-FFF2-40B4-BE49-F238E27FC236}">
                <a16:creationId xmlns:a16="http://schemas.microsoft.com/office/drawing/2014/main" id="{1ECA50C8-87E4-43BB-8927-5FB42570C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4608" y="5590401"/>
            <a:ext cx="2016224" cy="4308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1pPr>
            <a:lvl2pPr marL="742950" indent="-28575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2pPr>
            <a:lvl3pPr marL="11430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3pPr>
            <a:lvl4pPr marL="16002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4pPr>
            <a:lvl5pPr marL="20574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9pPr>
          </a:lstStyle>
          <a:p xmlns:a="http://schemas.openxmlformats.org/drawingml/2006/main">
            <a:pPr>
              <a:buNone/>
            </a:pPr>
            <a:r>
              <a:rPr sz="1100" b="1">
                <a:latin typeface="나눔고딕"/>
                <a:ea typeface="나눔고딕"/>
                <a:cs typeface="나눔고딕"/>
              </a:rPr>
              <a:t>• 호텔 외 식사·골프·차량·스파 예약의 분산</a:t>
            </a:r>
          </a:p>
        </p:txBody>
      </p:sp>
      <p:sp>
        <p:nvSpPr>
          <p:cNvPr id="27" name="Text Box 1059">
            <a:extLst xmlns:a="http://schemas.openxmlformats.org/drawingml/2006/main">
              <a:ext uri="{FF2B5EF4-FFF2-40B4-BE49-F238E27FC236}">
                <a16:creationId xmlns:a16="http://schemas.microsoft.com/office/drawing/2014/main" id="{21413528-3D4D-43BA-92A5-64FEE2C9A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9143" y="5039197"/>
            <a:ext cx="2245143" cy="4308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>
              <a:buNone/>
              <a:defRPr sz="1100" b="1">
                <a:latin typeface="+mn-ea"/>
                <a:ea typeface="+mn-ea"/>
                <a:cs typeface="+mn-ea"/>
              </a:defRPr>
            </a:lvl1pPr>
            <a:lvl2pPr marL="742950" indent="-285750">
              <a:buNone/>
              <a:defRPr sz="1200">
                <a:latin typeface="굴림"/>
                <a:ea typeface="굴림"/>
                <a:cs typeface="굴림"/>
              </a:defRPr>
            </a:lvl2pPr>
            <a:lvl3pPr marL="1143000" indent="-228600">
              <a:buNone/>
              <a:defRPr sz="1200">
                <a:latin typeface="굴림"/>
                <a:ea typeface="굴림"/>
                <a:cs typeface="굴림"/>
              </a:defRPr>
            </a:lvl3pPr>
            <a:lvl4pPr marL="1600200" indent="-228600">
              <a:buNone/>
              <a:defRPr sz="1200">
                <a:latin typeface="굴림"/>
                <a:ea typeface="굴림"/>
                <a:cs typeface="굴림"/>
              </a:defRPr>
            </a:lvl4pPr>
            <a:lvl5pPr marL="2057400" indent="-228600">
              <a:buNone/>
              <a:defRPr sz="1200">
                <a:latin typeface="굴림"/>
                <a:ea typeface="굴림"/>
                <a:cs typeface="굴림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 sz="1200">
                <a:latin typeface="굴림"/>
                <a:ea typeface="굴림"/>
                <a:cs typeface="굴림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 sz="1200">
                <a:latin typeface="굴림"/>
                <a:ea typeface="굴림"/>
                <a:cs typeface="굴림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 sz="1200">
                <a:latin typeface="굴림"/>
                <a:ea typeface="굴림"/>
                <a:cs typeface="굴림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 sz="1200">
                <a:latin typeface="굴림"/>
                <a:ea typeface="굴림"/>
                <a:cs typeface="굴림"/>
              </a:defRPr>
            </a:lvl9pPr>
          </a:lstStyle>
          <a:p xmlns:a="http://schemas.openxmlformats.org/drawingml/2006/main">
            <a:r>
              <a:rPr>
                <a:latin typeface="나눔고딕"/>
                <a:ea typeface="나눔고딕"/>
                <a:cs typeface="나눔고딕"/>
              </a:rPr>
              <a:t>• 공급자는 PMS·채널·정산을 각각 운영하는 부담</a:t>
            </a:r>
          </a:p>
        </p:txBody>
      </p:sp>
      <p:sp>
        <p:nvSpPr>
          <p:cNvPr id="28" name="Text Box 1059">
            <a:extLst xmlns:a="http://schemas.openxmlformats.org/drawingml/2006/main">
              <a:ext uri="{FF2B5EF4-FFF2-40B4-BE49-F238E27FC236}">
                <a16:creationId xmlns:a16="http://schemas.microsoft.com/office/drawing/2014/main" id="{DA221758-3EA0-4588-A66C-A7D2BAD77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9144" y="5590401"/>
            <a:ext cx="2016224" cy="4308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>
              <a:buNone/>
              <a:defRPr sz="1100" b="1">
                <a:latin typeface="+mn-ea"/>
                <a:ea typeface="+mn-ea"/>
                <a:cs typeface="+mn-ea"/>
              </a:defRPr>
            </a:lvl1pPr>
            <a:lvl2pPr marL="742950" indent="-285750">
              <a:buNone/>
              <a:defRPr sz="1200">
                <a:latin typeface="굴림"/>
                <a:ea typeface="굴림"/>
                <a:cs typeface="굴림"/>
              </a:defRPr>
            </a:lvl2pPr>
            <a:lvl3pPr marL="1143000" indent="-228600">
              <a:buNone/>
              <a:defRPr sz="1200">
                <a:latin typeface="굴림"/>
                <a:ea typeface="굴림"/>
                <a:cs typeface="굴림"/>
              </a:defRPr>
            </a:lvl3pPr>
            <a:lvl4pPr marL="1600200" indent="-228600">
              <a:buNone/>
              <a:defRPr sz="1200">
                <a:latin typeface="굴림"/>
                <a:ea typeface="굴림"/>
                <a:cs typeface="굴림"/>
              </a:defRPr>
            </a:lvl4pPr>
            <a:lvl5pPr marL="2057400" indent="-228600">
              <a:buNone/>
              <a:defRPr sz="1200">
                <a:latin typeface="굴림"/>
                <a:ea typeface="굴림"/>
                <a:cs typeface="굴림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 sz="1200">
                <a:latin typeface="굴림"/>
                <a:ea typeface="굴림"/>
                <a:cs typeface="굴림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 sz="1200">
                <a:latin typeface="굴림"/>
                <a:ea typeface="굴림"/>
                <a:cs typeface="굴림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 sz="1200">
                <a:latin typeface="굴림"/>
                <a:ea typeface="굴림"/>
                <a:cs typeface="굴림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 sz="1200">
                <a:latin typeface="굴림"/>
                <a:ea typeface="굴림"/>
                <a:cs typeface="굴림"/>
              </a:defRPr>
            </a:lvl9pPr>
          </a:lstStyle>
          <a:p xmlns:a="http://schemas.openxmlformats.org/drawingml/2006/main">
            <a:r>
              <a:rPr>
                <a:latin typeface="나눔고딕"/>
                <a:ea typeface="나눔고딕"/>
                <a:cs typeface="나눔고딕"/>
              </a:rPr>
              <a:t>• AI는 추천보다 검증 가능한 일정 실행에서 가치 창출</a:t>
            </a:r>
          </a:p>
        </p:txBody>
      </p:sp>
      <p:sp>
        <p:nvSpPr>
          <p:cNvPr id="32" name="직사각형 31">
            <a:extLst xmlns:a="http://schemas.openxmlformats.org/drawingml/2006/main">
              <a:ext uri="{FF2B5EF4-FFF2-40B4-BE49-F238E27FC236}">
                <a16:creationId xmlns:a16="http://schemas.microsoft.com/office/drawing/2014/main" id="{08F828A6-21D3-4344-A304-3F25615B6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087" y="3348469"/>
            <a:ext cx="2808697" cy="122285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350">
            <a:solidFill>
              <a:schemeClr val="bg1">
                <a:lumMod val="65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>
                <a:solidFill>
                  <a:schemeClr val="tx1"/>
                </a:solidFill>
                <a:latin typeface="나눔고딕"/>
                <a:ea typeface="나눔고딕"/>
                <a:cs typeface="나눔고딕"/>
              </a:rPr>
              <a:t>  </a:t>
            </a:r>
          </a:p>
        </p:txBody>
      </p:sp>
      <p:sp>
        <p:nvSpPr>
          <p:cNvPr id="33" name="직사각형 32">
            <a:extLst xmlns:a="http://schemas.openxmlformats.org/drawingml/2006/main">
              <a:ext uri="{FF2B5EF4-FFF2-40B4-BE49-F238E27FC236}">
                <a16:creationId xmlns:a16="http://schemas.microsoft.com/office/drawing/2014/main" id="{C56ADAF5-7FFB-4EF1-A92F-865832FA7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6704" y="3348469"/>
            <a:ext cx="2808697" cy="122285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350">
            <a:solidFill>
              <a:schemeClr val="bg1">
                <a:lumMod val="65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>
                <a:solidFill>
                  <a:schemeClr val="tx1"/>
                </a:solidFill>
                <a:latin typeface="나눔고딕"/>
                <a:ea typeface="나눔고딕"/>
                <a:cs typeface="나눔고딕"/>
              </a:rPr>
              <a:t>  </a:t>
            </a:r>
          </a:p>
        </p:txBody>
      </p:sp>
      <p:sp>
        <p:nvSpPr>
          <p:cNvPr id="34" name="직사각형 33">
            <a:extLst xmlns:a="http://schemas.openxmlformats.org/drawingml/2006/main">
              <a:ext uri="{FF2B5EF4-FFF2-40B4-BE49-F238E27FC236}">
                <a16:creationId xmlns:a16="http://schemas.microsoft.com/office/drawing/2014/main" id="{F00FDFFB-2264-49DF-9081-626215A8F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6665" y="3348469"/>
            <a:ext cx="2807497" cy="122285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350">
            <a:solidFill>
              <a:schemeClr val="bg1">
                <a:lumMod val="65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>
                <a:solidFill>
                  <a:schemeClr val="tx1"/>
                </a:solidFill>
                <a:latin typeface="나눔고딕"/>
                <a:ea typeface="나눔고딕"/>
                <a:cs typeface="나눔고딕"/>
              </a:rPr>
              <a:t>  </a:t>
            </a:r>
          </a:p>
        </p:txBody>
      </p:sp>
      <p:sp>
        <p:nvSpPr>
          <p:cNvPr id="35" name="Text Box 1078">
            <a:extLst xmlns:a="http://schemas.openxmlformats.org/drawingml/2006/main">
              <a:ext uri="{FF2B5EF4-FFF2-40B4-BE49-F238E27FC236}">
                <a16:creationId xmlns:a16="http://schemas.microsoft.com/office/drawing/2014/main" id="{702D5D0A-CE8A-41E3-B5FF-9B3172961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036" y="3391772"/>
            <a:ext cx="2779928" cy="11310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1pPr>
            <a:lvl2pPr marL="742950" indent="-28575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2pPr>
            <a:lvl3pPr marL="11430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3pPr>
            <a:lvl4pPr marL="16002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4pPr>
            <a:lvl5pPr marL="20574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9pPr>
          </a:lstStyle>
          <a:p xmlns:a="http://schemas.openxmlformats.org/drawingml/2006/main">
            <a:pPr>
              <a:spcBef>
                <a:spcPts val="600"/>
              </a:spcBef>
              <a:buFont typeface="Wingdings 3"/>
              <a:buChar char="}"/>
            </a:pPr>
            <a:r>
              <a:rPr sz="1050">
                <a:latin typeface="나눔고딕"/>
                <a:ea typeface="나눔고딕"/>
                <a:cs typeface="나눔고딕"/>
              </a:rPr>
              <a:t>발견·일정·예약을</a:t>
            </a:r>
          </a:p>
          <a:p xmlns:a="http://schemas.openxmlformats.org/drawingml/2006/main">
            <a:pPr>
              <a:spcBef>
                <a:spcPts val="600"/>
              </a:spcBef>
              <a:buFont typeface="Wingdings 3"/>
              <a:buChar char="}"/>
            </a:pPr>
            <a:r>
              <a:rPr sz="1050">
                <a:ln w="11430">
                  <a:noFill/>
                </a:ln>
                <a:latin typeface="나눔고딕"/>
                <a:ea typeface="나눔고딕"/>
                <a:cs typeface="나눔고딕"/>
              </a:rPr>
              <a:t>한 여행 데이터로 연결</a:t>
            </a:r>
          </a:p>
        </p:txBody>
      </p:sp>
      <p:sp>
        <p:nvSpPr>
          <p:cNvPr id="36" name="Text Box 1078">
            <a:extLst xmlns:a="http://schemas.openxmlformats.org/drawingml/2006/main">
              <a:ext uri="{FF2B5EF4-FFF2-40B4-BE49-F238E27FC236}">
                <a16:creationId xmlns:a16="http://schemas.microsoft.com/office/drawing/2014/main" id="{DEAE33C5-46D8-4BD7-BCCF-FA48AB3B0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0226" y="3391772"/>
            <a:ext cx="2892138" cy="11387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spcBef>
                <a:spcPts val="600"/>
              </a:spcBef>
              <a:buFont typeface="Wingdings 3"/>
              <a:buChar char="}"/>
              <a:defRPr sz="1050">
                <a:latin typeface="나눔고딕"/>
                <a:ea typeface="나눔고딕"/>
                <a:cs typeface="나눔고딕"/>
              </a:defRPr>
            </a:lvl1pPr>
            <a:lvl2pPr marL="742950" indent="-285750">
              <a:buNone/>
              <a:defRPr sz="1200">
                <a:latin typeface="굴림"/>
                <a:ea typeface="굴림"/>
                <a:cs typeface="굴림"/>
              </a:defRPr>
            </a:lvl2pPr>
            <a:lvl3pPr marL="1143000" indent="-228600">
              <a:buNone/>
              <a:defRPr sz="1200">
                <a:latin typeface="굴림"/>
                <a:ea typeface="굴림"/>
                <a:cs typeface="굴림"/>
              </a:defRPr>
            </a:lvl3pPr>
            <a:lvl4pPr marL="1600200" indent="-228600">
              <a:buNone/>
              <a:defRPr sz="1200">
                <a:latin typeface="굴림"/>
                <a:ea typeface="굴림"/>
                <a:cs typeface="굴림"/>
              </a:defRPr>
            </a:lvl4pPr>
            <a:lvl5pPr marL="2057400" indent="-228600">
              <a:buNone/>
              <a:defRPr sz="1200">
                <a:latin typeface="굴림"/>
                <a:ea typeface="굴림"/>
                <a:cs typeface="굴림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 sz="1200">
                <a:latin typeface="굴림"/>
                <a:ea typeface="굴림"/>
                <a:cs typeface="굴림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 sz="1200">
                <a:latin typeface="굴림"/>
                <a:ea typeface="굴림"/>
                <a:cs typeface="굴림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 sz="1200">
                <a:latin typeface="굴림"/>
                <a:ea typeface="굴림"/>
                <a:cs typeface="굴림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 sz="1200">
                <a:latin typeface="굴림"/>
                <a:ea typeface="굴림"/>
                <a:cs typeface="굴림"/>
              </a:defRPr>
            </a:lvl9pPr>
          </a:lstStyle>
          <a:p xmlns:a="http://schemas.openxmlformats.org/drawingml/2006/main">
            <a:r>
              <a:t>상품·재고·예약·정산을</a:t>
            </a:r>
          </a:p>
          <a:p xmlns:a="http://schemas.openxmlformats.org/drawingml/2006/main">
            <a:r>
              <a:t>역할별 운영</a:t>
            </a:r>
          </a:p>
        </p:txBody>
      </p:sp>
      <p:sp>
        <p:nvSpPr>
          <p:cNvPr id="37" name="Text Box 1078">
            <a:extLst xmlns:a="http://schemas.openxmlformats.org/drawingml/2006/main">
              <a:ext uri="{FF2B5EF4-FFF2-40B4-BE49-F238E27FC236}">
                <a16:creationId xmlns:a16="http://schemas.microsoft.com/office/drawing/2014/main" id="{E49E58D5-12D6-4D3B-83F1-0C24B1DC9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0265" y="3378407"/>
            <a:ext cx="2787943" cy="10926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1pPr>
            <a:lvl2pPr marL="742950" indent="-28575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2pPr>
            <a:lvl3pPr marL="11430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3pPr>
            <a:lvl4pPr marL="16002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4pPr>
            <a:lvl5pPr marL="20574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9pPr>
          </a:lstStyle>
          <a:p xmlns:a="http://schemas.openxmlformats.org/drawingml/2006/main">
            <a:pPr>
              <a:spcBef>
                <a:spcPts val="500"/>
              </a:spcBef>
              <a:buFont typeface="Wingdings 3"/>
              <a:buChar char="}"/>
            </a:pPr>
            <a:r>
              <a:rPr sz="1050">
                <a:latin typeface="나눔고딕"/>
                <a:ea typeface="나눔고딕"/>
                <a:cs typeface="나눔고딕"/>
              </a:rPr>
              <a:t>행동·거래 데이터를</a:t>
            </a:r>
          </a:p>
          <a:p xmlns:a="http://schemas.openxmlformats.org/drawingml/2006/main">
            <a:pPr>
              <a:spcBef>
                <a:spcPts val="500"/>
              </a:spcBef>
              <a:buFont typeface="Wingdings 3"/>
              <a:buChar char="}"/>
            </a:pPr>
            <a:r>
              <a:rPr sz="1050">
                <a:ln w="11430">
                  <a:noFill/>
                </a:ln>
                <a:latin typeface="나눔고딕"/>
                <a:ea typeface="나눔고딕"/>
                <a:cs typeface="나눔고딕"/>
              </a:rPr>
              <a:t>개인화와 확장에 활용</a:t>
            </a:r>
          </a:p>
        </p:txBody>
      </p:sp>
      <p:sp>
        <p:nvSpPr>
          <p:cNvPr id="38" name="직사각형 37">
            <a:extLst xmlns:a="http://schemas.openxmlformats.org/drawingml/2006/main">
              <a:ext uri="{FF2B5EF4-FFF2-40B4-BE49-F238E27FC236}">
                <a16:creationId xmlns:a16="http://schemas.microsoft.com/office/drawing/2014/main" id="{B1518440-D941-4F63-9C43-FF2511259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087" y="2865869"/>
            <a:ext cx="2811446" cy="48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9EF1"/>
          </a:solidFill>
          <a:ln xmlns:a="http://schemas.openxmlformats.org/drawingml/2006/main" w="9525">
            <a:noFill/>
          </a:ln>
        </p:spPr>
        <p:txBody>
          <a:bodyPr xmlns:a="http://schemas.openxmlformats.org/drawingml/2006/main" wrap="none" lIns="0" rIns="0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spcBef>
                <a:spcPts val="600"/>
              </a:spcBef>
              <a:buNone/>
            </a:pPr>
            <a:r>
              <a:rPr sz="1300" b="1">
                <a:ln>
                  <a:solidFill>
                    <a:srgbClr val="CCECFF">
                      <a:alpha val="0"/>
                    </a:srgbClr>
                  </a:solidFill>
                </a:ln>
                <a:solidFill>
                  <a:schemeClr val="bg1"/>
                </a:solidFill>
                <a:latin typeface="나눔고딕"/>
                <a:ea typeface="나눔고딕"/>
                <a:cs typeface="나눔고딕"/>
              </a:rPr>
              <a:t>고객 경험</a:t>
            </a:r>
          </a:p>
        </p:txBody>
      </p:sp>
      <p:sp>
        <p:nvSpPr>
          <p:cNvPr id="39" name="직사각형 38">
            <a:extLst xmlns:a="http://schemas.openxmlformats.org/drawingml/2006/main">
              <a:ext uri="{FF2B5EF4-FFF2-40B4-BE49-F238E27FC236}">
                <a16:creationId xmlns:a16="http://schemas.microsoft.com/office/drawing/2014/main" id="{1E9B8607-6B74-409B-9702-B4D862CD1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6665" y="2865869"/>
            <a:ext cx="2807497" cy="48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9EF1"/>
          </a:solidFill>
          <a:ln xmlns:a="http://schemas.openxmlformats.org/drawingml/2006/main" w="9525">
            <a:noFill/>
          </a:ln>
        </p:spPr>
        <p:txBody>
          <a:bodyPr xmlns:a="http://schemas.openxmlformats.org/drawingml/2006/main" wrap="none" lIns="0" r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1">
                <a:ln>
                  <a:solidFill>
                    <a:srgbClr val="CCECFF">
                      <a:alpha val="0"/>
                    </a:srgbClr>
                  </a:solidFill>
                </a:ln>
                <a:solidFill>
                  <a:schemeClr val="bg1"/>
                </a:solidFill>
                <a:latin typeface="나눔고딕"/>
                <a:ea typeface="나눔고딕"/>
                <a:cs typeface="나눔고딕"/>
              </a:rPr>
              <a:t>공급 운영</a:t>
            </a:r>
          </a:p>
        </p:txBody>
      </p:sp>
      <p:sp>
        <p:nvSpPr>
          <p:cNvPr id="40" name="직사각형 39">
            <a:extLst xmlns:a="http://schemas.openxmlformats.org/drawingml/2006/main">
              <a:ext uri="{FF2B5EF4-FFF2-40B4-BE49-F238E27FC236}">
                <a16:creationId xmlns:a16="http://schemas.microsoft.com/office/drawing/2014/main" id="{6BDD85B1-23E7-49B9-8DEB-FCF2ACF69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6704" y="2852504"/>
            <a:ext cx="2807497" cy="48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9EF1"/>
          </a:solidFill>
          <a:ln xmlns:a="http://schemas.openxmlformats.org/drawingml/2006/main" w="9525">
            <a:noFill/>
          </a:ln>
        </p:spPr>
        <p:txBody>
          <a:bodyPr xmlns:a="http://schemas.openxmlformats.org/drawingml/2006/main" wrap="none" lIns="0" rIns="0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spcBef>
                <a:spcPts val="600"/>
              </a:spcBef>
              <a:buNone/>
            </a:pPr>
            <a:r>
              <a:rPr sz="1300" b="1">
                <a:ln>
                  <a:solidFill>
                    <a:srgbClr val="CCECFF">
                      <a:alpha val="0"/>
                    </a:srgbClr>
                  </a:solidFill>
                </a:ln>
                <a:solidFill>
                  <a:schemeClr val="bg1"/>
                </a:solidFill>
                <a:latin typeface="나눔고딕"/>
                <a:ea typeface="나눔고딕"/>
                <a:cs typeface="나눔고딕"/>
              </a:rPr>
              <a:t>데이터 성장</a:t>
            </a:r>
          </a:p>
        </p:txBody>
      </p:sp>
      <p:sp>
        <p:nvSpPr>
          <p:cNvPr id="30" name="AutoShape 1073">
            <a:extLst xmlns:a="http://schemas.openxmlformats.org/drawingml/2006/main">
              <a:ext uri="{FF2B5EF4-FFF2-40B4-BE49-F238E27FC236}">
                <a16:creationId xmlns:a16="http://schemas.microsoft.com/office/drawing/2014/main" id="{7AE85CCB-A499-464E-8F37-5A3EB5D68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087" y="6102821"/>
            <a:ext cx="8599625" cy="330307"/>
          </a:xfrm>
          <a:prstGeom xmlns:a="http://schemas.openxmlformats.org/drawingml/2006/main" prst="roundRect">
            <a:avLst>
              <a:gd name="adj" fmla="val 12278"/>
            </a:avLst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46800" rIns="0" bIns="46800" anchor="ctr"/>
          <a:lstStyle xmlns:a="http://schemas.openxmlformats.org/drawingml/2006/main">
            <a:lvl1pPr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1pPr>
            <a:lvl2pPr marL="742950" indent="-28575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2pPr>
            <a:lvl3pPr marL="11430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3pPr>
            <a:lvl4pPr marL="16002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4pPr>
            <a:lvl5pPr marL="20574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9pPr>
          </a:lstStyle>
          <a:p xmlns:a="http://schemas.openxmlformats.org/drawingml/2006/main">
            <a:pPr>
              <a:buClr>
                <a:schemeClr val="accent2"/>
              </a:buClr>
              <a:buNone/>
            </a:pPr>
            <a:r>
              <a:rPr sz="1000">
                <a:latin typeface="나눔고딕"/>
                <a:ea typeface="나눔고딕"/>
                <a:cs typeface="나눔고딕"/>
              </a:rPr>
              <a:t>핵심 방향: Discover → Plan → Book → Operate → Learn</a:t>
            </a:r>
          </a:p>
        </p:txBody>
      </p:sp>
      <p:sp>
        <p:nvSpPr>
          <p:cNvPr id="2" name="슬라이드 번호 개체 틀 1">
            <a:extLst xmlns:a="http://schemas.openxmlformats.org/drawingml/2006/main">
              <a:ext uri="{FF2B5EF4-FFF2-40B4-BE49-F238E27FC236}">
                <a16:creationId xmlns:a16="http://schemas.microsoft.com/office/drawing/2014/main" id="{DDFC9716-A9B0-4549-A5B9-FE0891C55E6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9970F6C-59B2-055B-5132-2DC31A7003A7}" type="slidenum">
              <a:rPr>
                <a:latin typeface="나눔고딕"/>
                <a:ea typeface="나눔고딕"/>
                <a:cs typeface="나눔고딕"/>
              </a:rPr>
              <a:t>04</a:t>
            </a:fld>
          </a:p>
        </p:txBody>
      </p:sp>
    </p:spTree>
    <p:extLst>
      <p:ext uri="{BB962C8B-B14F-4D97-AF65-F5344CB8AC3E}">
        <p14:creationId xmlns:p14="http://schemas.microsoft.com/office/powerpoint/2010/main" val="211242512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제목 71">
            <a:extLst xmlns:a="http://schemas.openxmlformats.org/drawingml/2006/main">
              <a:ext uri="{FF2B5EF4-FFF2-40B4-BE49-F238E27FC236}">
                <a16:creationId xmlns:a16="http://schemas.microsoft.com/office/drawing/2014/main" id="{5C5C48E4-9E8B-4541-B156-A1A3C6CE6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487" y="71414"/>
            <a:ext cx="6768753" cy="57150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6800" rIns="91440" bIns="46800" anchor="b">
            <a:normAutofit/>
          </a:bodyPr>
          <a:lstStyle xmlns:a="http://schemas.openxmlformats.org/drawingml/2006/main">
            <a:lvl1pPr algn="l" defTabSz="914400">
              <a:spcBef>
                <a:spcPct val="0"/>
              </a:spcBef>
              <a:buNone/>
              <a:defRPr sz="1800" b="1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rPr>
                <a:solidFill>
                  <a:schemeClr val="bg1"/>
                </a:solidFill>
                <a:latin typeface="나눔고딕"/>
                <a:ea typeface="나눔고딕"/>
                <a:cs typeface="나눔고딕"/>
              </a:rPr>
              <a:t/>
            </a:r>
          </a:p>
        </p:txBody>
      </p:sp>
      <p:sp>
        <p:nvSpPr>
          <p:cNvPr id="3" name="직사각형 2">
            <a:extLst xmlns:a="http://schemas.openxmlformats.org/drawingml/2006/main">
              <a:ext uri="{FF2B5EF4-FFF2-40B4-BE49-F238E27FC236}">
                <a16:creationId xmlns:a16="http://schemas.microsoft.com/office/drawing/2014/main" id="{C3A22707-4EDC-470B-B202-338882A74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906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3B8"/>
          </a:solidFill>
          <a:ln xmlns:a="http://schemas.openxmlformats.org/drawingml/2006/main" w="9525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D758DEE3-39EC-40BC-8F24-8EE085735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96752"/>
            <a:ext cx="9905999" cy="520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bg1"/>
                </a:solidFill>
                <a:latin typeface="원신한 Medium"/>
                <a:ea typeface="원신한 Medium"/>
                <a:cs typeface="원신한 Medium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buClrTx/>
              <a:buNone/>
            </a:pPr>
            <a:r>
              <a:rPr sz="1200">
                <a:latin typeface="맑은 고딕"/>
                <a:ea typeface="맑은 고딕"/>
                <a:cs typeface="맑은 고딕"/>
              </a:rPr>
              <a:t>HotelNGo Service Promise</a:t>
            </a:r>
          </a:p>
        </p:txBody>
      </p:sp>
      <p:sp>
        <p:nvSpPr>
          <p:cNvPr id="21" name="타원 20">
            <a:extLst xmlns:a="http://schemas.openxmlformats.org/drawingml/2006/main">
              <a:ext uri="{FF2B5EF4-FFF2-40B4-BE49-F238E27FC236}">
                <a16:creationId xmlns:a16="http://schemas.microsoft.com/office/drawing/2014/main" id="{CAB8E2B0-6CD1-49AD-BB30-EB910CE6E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56656" y="2762369"/>
            <a:ext cx="2228433" cy="2228434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bg1">
              <a:alpha val="80000"/>
            </a:schemeClr>
          </a:solidFill>
          <a:ln xmlns:a="http://schemas.openxmlformats.org/drawingml/2006/main">
            <a:solidFill>
              <a:srgbClr val="0196D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타원 21">
            <a:extLst xmlns:a="http://schemas.openxmlformats.org/drawingml/2006/main">
              <a:ext uri="{FF2B5EF4-FFF2-40B4-BE49-F238E27FC236}">
                <a16:creationId xmlns:a16="http://schemas.microsoft.com/office/drawing/2014/main" id="{5A157072-645B-4119-9CD9-CFEA7D5F8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91001" y="2762369"/>
            <a:ext cx="2228433" cy="2228434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bg1">
              <a:alpha val="80000"/>
            </a:schemeClr>
          </a:solidFill>
          <a:ln xmlns:a="http://schemas.openxmlformats.org/drawingml/2006/main">
            <a:solidFill>
              <a:srgbClr val="0196D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타원 22">
            <a:extLst xmlns:a="http://schemas.openxmlformats.org/drawingml/2006/main">
              <a:ext uri="{FF2B5EF4-FFF2-40B4-BE49-F238E27FC236}">
                <a16:creationId xmlns:a16="http://schemas.microsoft.com/office/drawing/2014/main" id="{D52FA993-75C5-4FA8-BD27-F076A8216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25345" y="2762369"/>
            <a:ext cx="2228433" cy="2228434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bg1">
              <a:alpha val="80000"/>
            </a:schemeClr>
          </a:solidFill>
          <a:ln xmlns:a="http://schemas.openxmlformats.org/drawingml/2006/main">
            <a:solidFill>
              <a:srgbClr val="0196D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D76CA87D-474C-42CF-88BB-21BBC4294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249421" y="3616236"/>
            <a:ext cx="1442906" cy="520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bg1"/>
                </a:solidFill>
                <a:latin typeface="원신한 Medium"/>
                <a:ea typeface="원신한 Medium"/>
                <a:cs typeface="원신한 Medium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buClrTx/>
              <a:buNone/>
            </a:pPr>
            <a:r>
              <a:rPr sz="1800">
                <a:solidFill>
                  <a:srgbClr val="016FA1"/>
                </a:solidFill>
                <a:latin typeface="맑은 고딕"/>
                <a:ea typeface="맑은 고딕"/>
                <a:cs typeface="맑은 고딕"/>
              </a:rPr>
              <a:t>DISCOVER</a:t>
            </a:r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0E10783-06F1-4209-BD17-1F7F5EA4E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21704" y="3616236"/>
            <a:ext cx="1442906" cy="520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bg1"/>
                </a:solidFill>
                <a:latin typeface="원신한 Medium"/>
                <a:ea typeface="원신한 Medium"/>
                <a:cs typeface="원신한 Medium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buClrTx/>
              <a:buNone/>
            </a:pPr>
            <a:r>
              <a:rPr sz="1800">
                <a:solidFill>
                  <a:srgbClr val="016FA1"/>
                </a:solidFill>
                <a:latin typeface="맑은 고딕"/>
                <a:ea typeface="맑은 고딕"/>
                <a:cs typeface="맑은 고딕"/>
              </a:rPr>
              <a:t>BOOK</a:t>
            </a:r>
          </a:p>
        </p:txBody>
      </p:sp>
      <p:sp>
        <p:nvSpPr>
          <p:cNvPr id="16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909A36B-6681-444C-B666-6A3498ED8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93487" y="5145905"/>
            <a:ext cx="2147583" cy="520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bg1"/>
                </a:solidFill>
                <a:latin typeface="원신한 Medium"/>
                <a:ea typeface="원신한 Medium"/>
                <a:cs typeface="원신한 Medium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buClrTx/>
              <a:buNone/>
            </a:pPr>
            <a:r>
              <a:rPr sz="1400">
                <a:latin typeface="맑은 고딕"/>
                <a:ea typeface="맑은 고딕"/>
                <a:cs typeface="맑은 고딕"/>
              </a:rPr>
              <a:t>가보지 않아도 가본 듯한 감성으로 여행 의도를 만듭니다.</a:t>
            </a:r>
          </a:p>
        </p:txBody>
      </p:sp>
      <p:sp>
        <p:nvSpPr>
          <p:cNvPr id="17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64D4E80-DB1B-4B83-8D34-5F657BD1F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40401" y="5145905"/>
            <a:ext cx="2147583" cy="520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bg1"/>
                </a:solidFill>
                <a:latin typeface="원신한 Medium"/>
                <a:ea typeface="원신한 Medium"/>
                <a:cs typeface="원신한 Medium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buClrTx/>
              <a:buNone/>
            </a:pPr>
            <a:r>
              <a:rPr sz="1400">
                <a:latin typeface="맑은 고딕"/>
                <a:ea typeface="맑은 고딕"/>
                <a:cs typeface="맑은 고딕"/>
              </a:rPr>
              <a:t>여행 전체를 한 카트와 주문으로 연결합니다.</a:t>
            </a:r>
          </a:p>
        </p:txBody>
      </p:sp>
      <p:sp>
        <p:nvSpPr>
          <p:cNvPr id="1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94972C3-5728-420D-A0B2-89A68E732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16735" y="3616236"/>
            <a:ext cx="1442906" cy="520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bg1"/>
                </a:solidFill>
                <a:latin typeface="원신한 Medium"/>
                <a:ea typeface="원신한 Medium"/>
                <a:cs typeface="원신한 Medium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buClrTx/>
              <a:buNone/>
            </a:pPr>
            <a:r>
              <a:rPr sz="1800">
                <a:solidFill>
                  <a:srgbClr val="016FA1"/>
                </a:solidFill>
                <a:latin typeface="맑은 고딕"/>
                <a:ea typeface="맑은 고딕"/>
                <a:cs typeface="맑은 고딕"/>
              </a:rPr>
              <a:t>PLAN</a:t>
            </a:r>
          </a:p>
        </p:txBody>
      </p:sp>
      <p:sp>
        <p:nvSpPr>
          <p:cNvPr id="1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C1E5973-B3C9-4579-BAAC-C8BE3F835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78926" y="5145905"/>
            <a:ext cx="2147583" cy="520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bg1"/>
                </a:solidFill>
                <a:latin typeface="원신한 Medium"/>
                <a:ea typeface="원신한 Medium"/>
                <a:cs typeface="원신한 Medium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buClrTx/>
              <a:buNone/>
            </a:pPr>
            <a:r>
              <a:rPr sz="1400">
                <a:latin typeface="맑은 고딕"/>
                <a:ea typeface="맑은 고딕"/>
                <a:cs typeface="맑은 고딕"/>
              </a:rPr>
              <a:t>날짜·동행·예산에 맞춰 여러 업종을 한 일정에 엮습니다.</a:t>
            </a:r>
          </a:p>
        </p:txBody>
      </p:sp>
      <p:sp>
        <p:nvSpPr>
          <p:cNvPr id="2" name="슬라이드 번호 개체 틀 1">
            <a:extLst xmlns:a="http://schemas.openxmlformats.org/drawingml/2006/main">
              <a:ext uri="{FF2B5EF4-FFF2-40B4-BE49-F238E27FC236}">
                <a16:creationId xmlns:a16="http://schemas.microsoft.com/office/drawing/2014/main" id="{F34B7221-CFE4-4FF8-BE8F-34CCAB2B3C8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370F4AC-E6D1-01EE-6732-05F7C8E78B55}" type="slidenum">
              <a:rPr>
                <a:latin typeface="나눔고딕"/>
                <a:ea typeface="나눔고딕"/>
                <a:cs typeface="나눔고딕"/>
              </a:rPr>
              <a:t>05</a:t>
            </a:fld>
          </a:p>
        </p:txBody>
      </p:sp>
    </p:spTree>
    <p:extLst>
      <p:ext uri="{BB962C8B-B14F-4D97-AF65-F5344CB8AC3E}">
        <p14:creationId xmlns:p14="http://schemas.microsoft.com/office/powerpoint/2010/main" val="42877498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제목 71">
            <a:extLst xmlns:a="http://schemas.openxmlformats.org/drawingml/2006/main">
              <a:ext uri="{FF2B5EF4-FFF2-40B4-BE49-F238E27FC236}">
                <a16:creationId xmlns:a16="http://schemas.microsoft.com/office/drawing/2014/main" id="{0A4D92D9-7E69-480C-9827-E9CD4C613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487" y="71414"/>
            <a:ext cx="6768753" cy="57150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6800" rIns="91440" bIns="46800" anchor="b">
            <a:normAutofit fontScale="100000"/>
          </a:bodyPr>
          <a:lstStyle xmlns:a="http://schemas.openxmlformats.org/drawingml/2006/main">
            <a:lvl1pPr algn="l" defTabSz="914400">
              <a:spcBef>
                <a:spcPct val="0"/>
              </a:spcBef>
              <a:buNone/>
              <a:defRPr sz="1800" b="1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rPr>
                <a:solidFill>
                  <a:schemeClr val="bg1"/>
                </a:solidFill>
                <a:latin typeface="나눔고딕"/>
                <a:ea typeface="나눔고딕"/>
                <a:cs typeface="나눔고딕"/>
              </a:rPr>
              <a:t>2. 고객·공급자·플랫폼의 문제 정의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3F454521-134A-4C19-B324-2C34D0011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512" y="908720"/>
            <a:ext cx="8945580" cy="8475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1300" b="1">
                <a:latin typeface="나눔고딕"/>
                <a:ea typeface="나눔고딕"/>
                <a:cs typeface="나눔고딕"/>
              </a:rPr>
              <a:t>여행 정보는 많지만 ‘어디로 갈지’부터 ‘무엇을 예약할지’까지의 결정은 여전히 분리되어 있습니다. 공급자 역시 업종별로 다른 도구를 사용해 상품과 거래를 관리합니다.</a:t>
            </a:r>
          </a:p>
        </p:txBody>
      </p:sp>
      <p:sp>
        <p:nvSpPr>
          <p:cNvPr id="10" name="삼각형 8">
            <a:extLst xmlns:a="http://schemas.openxmlformats.org/drawingml/2006/main">
              <a:ext uri="{FF2B5EF4-FFF2-40B4-BE49-F238E27FC236}">
                <a16:creationId xmlns:a16="http://schemas.microsoft.com/office/drawing/2014/main" id="{96744AEB-2A7A-45EC-9328-C78D7D088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520" y="1784011"/>
            <a:ext cx="7818959" cy="1210857"/>
          </a:xfrm>
          <a:prstGeom xmlns:a="http://schemas.openxmlformats.org/drawingml/2006/main" prst="triangle">
            <a:avLst>
              <a:gd name="adj" fmla="val 49887"/>
            </a:avLst>
          </a:prstGeom>
          <a:gradFill xmlns:a="http://schemas.openxmlformats.org/drawingml/2006/main" rotWithShape="1">
            <a:gsLst>
              <a:gs pos="0">
                <a:srgbClr val="D1EFF9">
                  <a:alpha val="30000"/>
                </a:srgb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162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Clr>
                <a:srgbClr val="000000"/>
              </a:buClr>
              <a:buFont typeface="Arial"/>
              <a:buNone/>
            </a:pPr>
          </a:p>
        </p:txBody>
      </p:sp>
      <p:sp>
        <p:nvSpPr>
          <p:cNvPr id="11" name="사각형: 둥근 모서리 10">
            <a:extLst xmlns:a="http://schemas.openxmlformats.org/drawingml/2006/main">
              <a:ext uri="{FF2B5EF4-FFF2-40B4-BE49-F238E27FC236}">
                <a16:creationId xmlns:a16="http://schemas.microsoft.com/office/drawing/2014/main" id="{08657C82-0C4A-4BB5-941E-A1F4CCD8B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474" y="4832033"/>
            <a:ext cx="8644727" cy="122285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9525">
            <a:solidFill>
              <a:schemeClr val="bg1">
                <a:lumMod val="65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 Box 1059">
            <a:extLst xmlns:a="http://schemas.openxmlformats.org/drawingml/2006/main">
              <a:ext uri="{FF2B5EF4-FFF2-40B4-BE49-F238E27FC236}">
                <a16:creationId xmlns:a16="http://schemas.microsoft.com/office/drawing/2014/main" id="{A1C9E121-F826-4C77-AFFB-93257D138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4608" y="5039197"/>
            <a:ext cx="2016224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1pPr>
            <a:lvl2pPr marL="742950" indent="-28575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2pPr>
            <a:lvl3pPr marL="11430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3pPr>
            <a:lvl4pPr marL="16002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4pPr>
            <a:lvl5pPr marL="20574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9pPr>
          </a:lstStyle>
          <a:p xmlns:a="http://schemas.openxmlformats.org/drawingml/2006/main">
            <a:pPr>
              <a:buNone/>
            </a:pPr>
            <a:r>
              <a:rPr sz="1100" b="1">
                <a:latin typeface="나눔고딕"/>
                <a:ea typeface="나눔고딕"/>
                <a:cs typeface="나눔고딕"/>
              </a:rPr>
              <a:t>• 목적지·기간·동행·예산을 모든 메뉴의 공통 조건으로 사용</a:t>
            </a:r>
          </a:p>
        </p:txBody>
      </p:sp>
      <p:sp>
        <p:nvSpPr>
          <p:cNvPr id="14" name="사각형: 둥근 모서리 13">
            <a:extLst xmlns:a="http://schemas.openxmlformats.org/drawingml/2006/main">
              <a:ext uri="{FF2B5EF4-FFF2-40B4-BE49-F238E27FC236}">
                <a16:creationId xmlns:a16="http://schemas.microsoft.com/office/drawing/2014/main" id="{6BED4BEC-4414-418C-AD4E-70FE50217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474" y="1926992"/>
            <a:ext cx="8644727" cy="493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54D83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Clr>
                <a:srgbClr val="000000"/>
              </a:buClr>
              <a:buFont typeface="Arial"/>
              <a:buNone/>
            </a:pPr>
            <a:r>
              <a:rPr b="1">
                <a:solidFill>
                  <a:schemeClr val="bg1"/>
                </a:solidFill>
                <a:latin typeface="나눔고딕"/>
                <a:ea typeface="나눔고딕"/>
                <a:cs typeface="나눔고딕"/>
              </a:rPr>
              <a:t>정보는 넘치지만</a:t>
            </a:r>
          </a:p>
          <a:p xmlns:a="http://schemas.openxmlformats.org/drawingml/2006/main">
            <a:pPr algn="ctr">
              <a:buClr>
                <a:srgbClr val="000000"/>
              </a:buClr>
              <a:buFont typeface="Arial"/>
              <a:buNone/>
            </a:pPr>
            <a:r>
              <a:rPr b="1">
                <a:solidFill>
                  <a:schemeClr val="bg1"/>
                </a:solidFill>
                <a:latin typeface="나눔고딕"/>
                <a:ea typeface="나눔고딕"/>
                <a:cs typeface="나눔고딕"/>
              </a:rPr>
              <a:t>여행 전체는 끊어져 있다</a:t>
            </a:r>
          </a:p>
        </p:txBody>
      </p:sp>
      <p:sp>
        <p:nvSpPr>
          <p:cNvPr id="16" name="AutoShape 1073">
            <a:extLst xmlns:a="http://schemas.openxmlformats.org/drawingml/2006/main">
              <a:ext uri="{FF2B5EF4-FFF2-40B4-BE49-F238E27FC236}">
                <a16:creationId xmlns:a16="http://schemas.microsoft.com/office/drawing/2014/main" id="{C46E2062-1BD1-41E4-BB85-27970B07D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202" y="2432230"/>
            <a:ext cx="8155110" cy="393789"/>
          </a:xfrm>
          <a:prstGeom xmlns:a="http://schemas.openxmlformats.org/drawingml/2006/main" prst="roundRect">
            <a:avLst>
              <a:gd name="adj" fmla="val 12278"/>
            </a:avLst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46800" rIns="0" bIns="46800" anchor="ctr"/>
          <a:lstStyle xmlns:a="http://schemas.openxmlformats.org/drawingml/2006/main">
            <a:lvl1pPr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1pPr>
            <a:lvl2pPr marL="742950" indent="-28575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2pPr>
            <a:lvl3pPr marL="11430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3pPr>
            <a:lvl4pPr marL="16002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4pPr>
            <a:lvl5pPr marL="20574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9pPr>
          </a:lstStyle>
          <a:p xmlns:a="http://schemas.openxmlformats.org/drawingml/2006/main">
            <a:pPr algn="ctr">
              <a:buClr>
                <a:schemeClr val="accent2"/>
              </a:buClr>
              <a:buNone/>
            </a:pPr>
            <a:r>
              <a:rPr sz="1600" b="1">
                <a:latin typeface="나눔고딕"/>
                <a:ea typeface="나눔고딕"/>
                <a:cs typeface="나눔고딕"/>
              </a:rPr>
              <a:t>고객의 탐색 비용과 공급자의 운영 비용이 동시에 커지는 구조</a:t>
            </a:r>
          </a:p>
        </p:txBody>
      </p:sp>
      <p:sp>
        <p:nvSpPr>
          <p:cNvPr id="17" name="사각형: 둥근 모서리 16">
            <a:extLst xmlns:a="http://schemas.openxmlformats.org/drawingml/2006/main">
              <a:ext uri="{FF2B5EF4-FFF2-40B4-BE49-F238E27FC236}">
                <a16:creationId xmlns:a16="http://schemas.microsoft.com/office/drawing/2014/main" id="{9227A528-23D7-430D-82C2-CC04E412A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097" y="4653136"/>
            <a:ext cx="7359190" cy="34588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tIns="0" bIns="0" anchor="ctr"/>
          <a:lstStyle xmlns:a="http://schemas.openxmlformats.org/drawingml/2006/main"/>
          <a:p xmlns:a="http://schemas.openxmlformats.org/drawingml/2006/main">
            <a:pPr algn="ctr">
              <a:buClr>
                <a:srgbClr val="000000"/>
              </a:buClr>
              <a:buFont typeface="Arial"/>
              <a:buNone/>
            </a:pPr>
            <a:r>
              <a:rPr sz="1400" b="1">
                <a:latin typeface="나눔고딕"/>
                <a:ea typeface="나눔고딕"/>
                <a:cs typeface="나눔고딕"/>
              </a:rPr>
              <a:t>해결 원칙</a:t>
            </a:r>
          </a:p>
        </p:txBody>
      </p:sp>
      <p:sp>
        <p:nvSpPr>
          <p:cNvPr id="18" name="사각형: 둥근 모서리 17">
            <a:extLst xmlns:a="http://schemas.openxmlformats.org/drawingml/2006/main">
              <a:ext uri="{FF2B5EF4-FFF2-40B4-BE49-F238E27FC236}">
                <a16:creationId xmlns:a16="http://schemas.microsoft.com/office/drawing/2014/main" id="{9B1F9BE3-70A7-4D4D-8EE6-71B6AFED7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6035" y="5281071"/>
            <a:ext cx="1399410" cy="428931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BE3EE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Clr>
                <a:srgbClr val="000000"/>
              </a:buClr>
              <a:buFont typeface="Arial"/>
              <a:buNone/>
            </a:pPr>
          </a:p>
        </p:txBody>
      </p:sp>
      <p:sp>
        <p:nvSpPr>
          <p:cNvPr id="19" name="Text Box 1067">
            <a:extLst xmlns:a="http://schemas.openxmlformats.org/drawingml/2006/main">
              <a:ext uri="{FF2B5EF4-FFF2-40B4-BE49-F238E27FC236}">
                <a16:creationId xmlns:a16="http://schemas.microsoft.com/office/drawing/2014/main" id="{127D301A-BA50-4D6F-8A82-A09973BD4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4760" y="5357037"/>
            <a:ext cx="1821959" cy="2769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spAutoFit/>
          </a:bodyPr>
          <a:lstStyle xmlns:a="http://schemas.openxmlformats.org/drawingml/2006/main">
            <a:lvl1pPr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1pPr>
            <a:lvl2pPr marL="742950" indent="-28575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2pPr>
            <a:lvl3pPr marL="11430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3pPr>
            <a:lvl4pPr marL="16002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4pPr>
            <a:lvl5pPr marL="20574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9pPr>
          </a:lstStyle>
          <a:p xmlns:a="http://schemas.openxmlformats.org/drawingml/2006/main">
            <a:pPr algn="ctr">
              <a:buNone/>
            </a:pPr>
            <a:r>
              <a:rPr b="1">
                <a:latin typeface="나눔고딕"/>
                <a:ea typeface="나눔고딕"/>
                <a:cs typeface="나눔고딕"/>
              </a:rPr>
              <a:t>ONE JOURNEY</a:t>
            </a:r>
          </a:p>
        </p:txBody>
      </p:sp>
      <p:cxnSp>
        <p:nvCxnSpPr>
          <p:cNvPr id="65" name="연결선: 꺾임 20"/>
          <p:cNvCxnSpPr/>
          <p:nvPr/>
        </p:nvCxnSpPr>
        <p:spPr>
          <a:xfrm xmlns:a="http://schemas.openxmlformats.org/drawingml/2006/main" rot="0" flipH="0" flipV="1">
            <a:off x="5514397" y="5218539"/>
            <a:ext cx="647542" cy="280326"/>
          </a:xfrm>
          <a:prstGeom xmlns:a="http://schemas.openxmlformats.org/drawingml/2006/main" prst="bentConnector3">
            <a:avLst/>
          </a:prstGeom>
          <a:ln xmlns:a="http://schemas.openxmlformats.org/drawingml/2006/main">
            <a:solidFill>
              <a:srgbClr val="C7B38F"/>
            </a:solidFill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66" name="연결선: 꺾임 21"/>
          <p:cNvCxnSpPr/>
          <p:nvPr/>
        </p:nvCxnSpPr>
        <p:spPr>
          <a:xfrm xmlns:a="http://schemas.openxmlformats.org/drawingml/2006/main" rot="0" flipH="0" flipV="0">
            <a:off x="5514397" y="5498865"/>
            <a:ext cx="647542" cy="346166"/>
          </a:xfrm>
          <a:prstGeom xmlns:a="http://schemas.openxmlformats.org/drawingml/2006/main" prst="bentConnector3">
            <a:avLst/>
          </a:prstGeom>
          <a:ln xmlns:a="http://schemas.openxmlformats.org/drawingml/2006/main">
            <a:solidFill>
              <a:srgbClr val="C7B38F"/>
            </a:solidFill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67" name="연결선: 꺾임 23"/>
          <p:cNvCxnSpPr/>
          <p:nvPr/>
        </p:nvCxnSpPr>
        <p:spPr>
          <a:xfrm xmlns:a="http://schemas.openxmlformats.org/drawingml/2006/main" rot="10800000" flipH="0" flipV="0">
            <a:off x="-8573939" y="5218539"/>
            <a:ext cx="647542" cy="276999"/>
          </a:xfrm>
          <a:prstGeom xmlns:a="http://schemas.openxmlformats.org/drawingml/2006/main" prst="bentConnector3">
            <a:avLst/>
          </a:prstGeom>
          <a:ln xmlns:a="http://schemas.openxmlformats.org/drawingml/2006/main">
            <a:solidFill>
              <a:srgbClr val="C7B38F"/>
            </a:solidFill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68" name="연결선: 꺾임 24"/>
          <p:cNvCxnSpPr/>
          <p:nvPr/>
        </p:nvCxnSpPr>
        <p:spPr>
          <a:xfrm xmlns:a="http://schemas.openxmlformats.org/drawingml/2006/main" rot="0" flipH="1" flipV="0">
            <a:off x="-8573939" y="5495537"/>
            <a:ext cx="647542" cy="346166"/>
          </a:xfrm>
          <a:prstGeom xmlns:a="http://schemas.openxmlformats.org/drawingml/2006/main" prst="bentConnector3">
            <a:avLst/>
          </a:prstGeom>
          <a:ln xmlns:a="http://schemas.openxmlformats.org/drawingml/2006/main">
            <a:solidFill>
              <a:srgbClr val="C7B38F"/>
            </a:solidFill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26" name="Text Box 1059">
            <a:extLst xmlns:a="http://schemas.openxmlformats.org/drawingml/2006/main">
              <a:ext uri="{FF2B5EF4-FFF2-40B4-BE49-F238E27FC236}">
                <a16:creationId xmlns:a16="http://schemas.microsoft.com/office/drawing/2014/main" id="{1ECA50C8-87E4-43BB-8927-5FB42570C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4608" y="5590401"/>
            <a:ext cx="2016224" cy="4308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1pPr>
            <a:lvl2pPr marL="742950" indent="-28575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2pPr>
            <a:lvl3pPr marL="11430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3pPr>
            <a:lvl4pPr marL="16002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4pPr>
            <a:lvl5pPr marL="20574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9pPr>
          </a:lstStyle>
          <a:p xmlns:a="http://schemas.openxmlformats.org/drawingml/2006/main">
            <a:pPr>
              <a:buNone/>
            </a:pPr>
            <a:r>
              <a:rPr sz="1100" b="1">
                <a:latin typeface="나눔고딕"/>
                <a:ea typeface="나눔고딕"/>
                <a:cs typeface="나눔고딕"/>
              </a:rPr>
              <a:t>• 추천과 거래 가능 정보를 명확히 구분</a:t>
            </a:r>
          </a:p>
        </p:txBody>
      </p:sp>
      <p:sp>
        <p:nvSpPr>
          <p:cNvPr id="27" name="Text Box 1059">
            <a:extLst xmlns:a="http://schemas.openxmlformats.org/drawingml/2006/main">
              <a:ext uri="{FF2B5EF4-FFF2-40B4-BE49-F238E27FC236}">
                <a16:creationId xmlns:a16="http://schemas.microsoft.com/office/drawing/2014/main" id="{21413528-3D4D-43BA-92A5-64FEE2C9A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9143" y="5039197"/>
            <a:ext cx="2245143" cy="4308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>
              <a:buNone/>
              <a:defRPr sz="1100" b="1">
                <a:latin typeface="+mn-ea"/>
                <a:ea typeface="+mn-ea"/>
                <a:cs typeface="+mn-ea"/>
              </a:defRPr>
            </a:lvl1pPr>
            <a:lvl2pPr marL="742950" indent="-285750">
              <a:buNone/>
              <a:defRPr sz="1200">
                <a:latin typeface="굴림"/>
                <a:ea typeface="굴림"/>
                <a:cs typeface="굴림"/>
              </a:defRPr>
            </a:lvl2pPr>
            <a:lvl3pPr marL="1143000" indent="-228600">
              <a:buNone/>
              <a:defRPr sz="1200">
                <a:latin typeface="굴림"/>
                <a:ea typeface="굴림"/>
                <a:cs typeface="굴림"/>
              </a:defRPr>
            </a:lvl3pPr>
            <a:lvl4pPr marL="1600200" indent="-228600">
              <a:buNone/>
              <a:defRPr sz="1200">
                <a:latin typeface="굴림"/>
                <a:ea typeface="굴림"/>
                <a:cs typeface="굴림"/>
              </a:defRPr>
            </a:lvl4pPr>
            <a:lvl5pPr marL="2057400" indent="-228600">
              <a:buNone/>
              <a:defRPr sz="1200">
                <a:latin typeface="굴림"/>
                <a:ea typeface="굴림"/>
                <a:cs typeface="굴림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 sz="1200">
                <a:latin typeface="굴림"/>
                <a:ea typeface="굴림"/>
                <a:cs typeface="굴림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 sz="1200">
                <a:latin typeface="굴림"/>
                <a:ea typeface="굴림"/>
                <a:cs typeface="굴림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 sz="1200">
                <a:latin typeface="굴림"/>
                <a:ea typeface="굴림"/>
                <a:cs typeface="굴림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 sz="1200">
                <a:latin typeface="굴림"/>
                <a:ea typeface="굴림"/>
                <a:cs typeface="굴림"/>
              </a:defRPr>
            </a:lvl9pPr>
          </a:lstStyle>
          <a:p xmlns:a="http://schemas.openxmlformats.org/drawingml/2006/main">
            <a:r>
              <a:rPr>
                <a:latin typeface="나눔고딕"/>
                <a:ea typeface="나눔고딕"/>
                <a:cs typeface="나눔고딕"/>
              </a:rPr>
              <a:t>• 공급 유형이 달라도 고객에게는 동일한 상품 표현 제공</a:t>
            </a:r>
          </a:p>
        </p:txBody>
      </p:sp>
      <p:sp>
        <p:nvSpPr>
          <p:cNvPr id="28" name="Text Box 1059">
            <a:extLst xmlns:a="http://schemas.openxmlformats.org/drawingml/2006/main">
              <a:ext uri="{FF2B5EF4-FFF2-40B4-BE49-F238E27FC236}">
                <a16:creationId xmlns:a16="http://schemas.microsoft.com/office/drawing/2014/main" id="{DA221758-3EA0-4588-A66C-A7D2BAD77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9144" y="5590401"/>
            <a:ext cx="2016224" cy="4308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>
              <a:buNone/>
              <a:defRPr sz="1100" b="1">
                <a:latin typeface="+mn-ea"/>
                <a:ea typeface="+mn-ea"/>
                <a:cs typeface="+mn-ea"/>
              </a:defRPr>
            </a:lvl1pPr>
            <a:lvl2pPr marL="742950" indent="-285750">
              <a:buNone/>
              <a:defRPr sz="1200">
                <a:latin typeface="굴림"/>
                <a:ea typeface="굴림"/>
                <a:cs typeface="굴림"/>
              </a:defRPr>
            </a:lvl2pPr>
            <a:lvl3pPr marL="1143000" indent="-228600">
              <a:buNone/>
              <a:defRPr sz="1200">
                <a:latin typeface="굴림"/>
                <a:ea typeface="굴림"/>
                <a:cs typeface="굴림"/>
              </a:defRPr>
            </a:lvl3pPr>
            <a:lvl4pPr marL="1600200" indent="-228600">
              <a:buNone/>
              <a:defRPr sz="1200">
                <a:latin typeface="굴림"/>
                <a:ea typeface="굴림"/>
                <a:cs typeface="굴림"/>
              </a:defRPr>
            </a:lvl4pPr>
            <a:lvl5pPr marL="2057400" indent="-228600">
              <a:buNone/>
              <a:defRPr sz="1200">
                <a:latin typeface="굴림"/>
                <a:ea typeface="굴림"/>
                <a:cs typeface="굴림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 sz="1200">
                <a:latin typeface="굴림"/>
                <a:ea typeface="굴림"/>
                <a:cs typeface="굴림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 sz="1200">
                <a:latin typeface="굴림"/>
                <a:ea typeface="굴림"/>
                <a:cs typeface="굴림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 sz="1200">
                <a:latin typeface="굴림"/>
                <a:ea typeface="굴림"/>
                <a:cs typeface="굴림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 sz="1200">
                <a:latin typeface="굴림"/>
                <a:ea typeface="굴림"/>
                <a:cs typeface="굴림"/>
              </a:defRPr>
            </a:lvl9pPr>
          </a:lstStyle>
          <a:p xmlns:a="http://schemas.openxmlformats.org/drawingml/2006/main">
            <a:r>
              <a:rPr>
                <a:latin typeface="나눔고딕"/>
                <a:ea typeface="나눔고딕"/>
                <a:cs typeface="나눔고딕"/>
              </a:rPr>
              <a:t>• 예약 상태·근거·동기화 시각을 투명하게 표시</a:t>
            </a:r>
          </a:p>
        </p:txBody>
      </p:sp>
      <p:sp>
        <p:nvSpPr>
          <p:cNvPr id="32" name="직사각형 31">
            <a:extLst xmlns:a="http://schemas.openxmlformats.org/drawingml/2006/main">
              <a:ext uri="{FF2B5EF4-FFF2-40B4-BE49-F238E27FC236}">
                <a16:creationId xmlns:a16="http://schemas.microsoft.com/office/drawing/2014/main" id="{08F828A6-21D3-4344-A304-3F25615B6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087" y="3348469"/>
            <a:ext cx="2808697" cy="122285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350">
            <a:solidFill>
              <a:schemeClr val="bg1">
                <a:lumMod val="65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>
                <a:solidFill>
                  <a:schemeClr val="tx1"/>
                </a:solidFill>
                <a:latin typeface="나눔고딕"/>
                <a:ea typeface="나눔고딕"/>
                <a:cs typeface="나눔고딕"/>
              </a:rPr>
              <a:t>  </a:t>
            </a:r>
          </a:p>
        </p:txBody>
      </p:sp>
      <p:sp>
        <p:nvSpPr>
          <p:cNvPr id="33" name="직사각형 32">
            <a:extLst xmlns:a="http://schemas.openxmlformats.org/drawingml/2006/main">
              <a:ext uri="{FF2B5EF4-FFF2-40B4-BE49-F238E27FC236}">
                <a16:creationId xmlns:a16="http://schemas.microsoft.com/office/drawing/2014/main" id="{C56ADAF5-7FFB-4EF1-A92F-865832FA7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6704" y="3348469"/>
            <a:ext cx="2808697" cy="122285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350">
            <a:solidFill>
              <a:schemeClr val="bg1">
                <a:lumMod val="65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>
                <a:solidFill>
                  <a:schemeClr val="tx1"/>
                </a:solidFill>
                <a:latin typeface="나눔고딕"/>
                <a:ea typeface="나눔고딕"/>
                <a:cs typeface="나눔고딕"/>
              </a:rPr>
              <a:t>  </a:t>
            </a:r>
          </a:p>
        </p:txBody>
      </p:sp>
      <p:sp>
        <p:nvSpPr>
          <p:cNvPr id="34" name="직사각형 33">
            <a:extLst xmlns:a="http://schemas.openxmlformats.org/drawingml/2006/main">
              <a:ext uri="{FF2B5EF4-FFF2-40B4-BE49-F238E27FC236}">
                <a16:creationId xmlns:a16="http://schemas.microsoft.com/office/drawing/2014/main" id="{F00FDFFB-2264-49DF-9081-626215A8F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6665" y="3348469"/>
            <a:ext cx="2807497" cy="122285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350">
            <a:solidFill>
              <a:schemeClr val="bg1">
                <a:lumMod val="65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>
                <a:solidFill>
                  <a:schemeClr val="tx1"/>
                </a:solidFill>
                <a:latin typeface="나눔고딕"/>
                <a:ea typeface="나눔고딕"/>
                <a:cs typeface="나눔고딕"/>
              </a:rPr>
              <a:t>  </a:t>
            </a:r>
          </a:p>
        </p:txBody>
      </p:sp>
      <p:sp>
        <p:nvSpPr>
          <p:cNvPr id="35" name="Text Box 1078">
            <a:extLst xmlns:a="http://schemas.openxmlformats.org/drawingml/2006/main">
              <a:ext uri="{FF2B5EF4-FFF2-40B4-BE49-F238E27FC236}">
                <a16:creationId xmlns:a16="http://schemas.microsoft.com/office/drawing/2014/main" id="{702D5D0A-CE8A-41E3-B5FF-9B3172961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036" y="3391772"/>
            <a:ext cx="2779928" cy="11310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1pPr>
            <a:lvl2pPr marL="742950" indent="-28575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2pPr>
            <a:lvl3pPr marL="11430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3pPr>
            <a:lvl4pPr marL="16002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4pPr>
            <a:lvl5pPr marL="20574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9pPr>
          </a:lstStyle>
          <a:p xmlns:a="http://schemas.openxmlformats.org/drawingml/2006/main">
            <a:pPr>
              <a:spcBef>
                <a:spcPts val="600"/>
              </a:spcBef>
              <a:buFont typeface="Wingdings 3"/>
              <a:buChar char="}"/>
            </a:pPr>
            <a:r>
              <a:rPr sz="1050">
                <a:latin typeface="나눔고딕"/>
                <a:ea typeface="나눔고딕"/>
                <a:cs typeface="나눔고딕"/>
              </a:rPr>
              <a:t>목적지 결정부터 예약까지</a:t>
            </a:r>
          </a:p>
          <a:p xmlns:a="http://schemas.openxmlformats.org/drawingml/2006/main">
            <a:pPr>
              <a:spcBef>
                <a:spcPts val="600"/>
              </a:spcBef>
              <a:buFont typeface="Wingdings 3"/>
              <a:buChar char="}"/>
            </a:pPr>
            <a:r>
              <a:rPr sz="1050">
                <a:ln w="11430">
                  <a:noFill/>
                </a:ln>
                <a:latin typeface="나눔고딕"/>
                <a:ea typeface="나눔고딕"/>
                <a:cs typeface="나눔고딕"/>
              </a:rPr>
              <a:t>정보와 거래가 분산</a:t>
            </a:r>
          </a:p>
        </p:txBody>
      </p:sp>
      <p:sp>
        <p:nvSpPr>
          <p:cNvPr id="36" name="Text Box 1078">
            <a:extLst xmlns:a="http://schemas.openxmlformats.org/drawingml/2006/main">
              <a:ext uri="{FF2B5EF4-FFF2-40B4-BE49-F238E27FC236}">
                <a16:creationId xmlns:a16="http://schemas.microsoft.com/office/drawing/2014/main" id="{DEAE33C5-46D8-4BD7-BCCF-FA48AB3B0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0226" y="3391772"/>
            <a:ext cx="2892138" cy="11387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spcBef>
                <a:spcPts val="600"/>
              </a:spcBef>
              <a:buFont typeface="Wingdings 3"/>
              <a:buChar char="}"/>
              <a:defRPr sz="1050">
                <a:latin typeface="나눔고딕"/>
                <a:ea typeface="나눔고딕"/>
                <a:cs typeface="나눔고딕"/>
              </a:defRPr>
            </a:lvl1pPr>
            <a:lvl2pPr marL="742950" indent="-285750">
              <a:buNone/>
              <a:defRPr sz="1200">
                <a:latin typeface="굴림"/>
                <a:ea typeface="굴림"/>
                <a:cs typeface="굴림"/>
              </a:defRPr>
            </a:lvl2pPr>
            <a:lvl3pPr marL="1143000" indent="-228600">
              <a:buNone/>
              <a:defRPr sz="1200">
                <a:latin typeface="굴림"/>
                <a:ea typeface="굴림"/>
                <a:cs typeface="굴림"/>
              </a:defRPr>
            </a:lvl3pPr>
            <a:lvl4pPr marL="1600200" indent="-228600">
              <a:buNone/>
              <a:defRPr sz="1200">
                <a:latin typeface="굴림"/>
                <a:ea typeface="굴림"/>
                <a:cs typeface="굴림"/>
              </a:defRPr>
            </a:lvl4pPr>
            <a:lvl5pPr marL="2057400" indent="-228600">
              <a:buNone/>
              <a:defRPr sz="1200">
                <a:latin typeface="굴림"/>
                <a:ea typeface="굴림"/>
                <a:cs typeface="굴림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 sz="1200">
                <a:latin typeface="굴림"/>
                <a:ea typeface="굴림"/>
                <a:cs typeface="굴림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 sz="1200">
                <a:latin typeface="굴림"/>
                <a:ea typeface="굴림"/>
                <a:cs typeface="굴림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 sz="1200">
                <a:latin typeface="굴림"/>
                <a:ea typeface="굴림"/>
                <a:cs typeface="굴림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 sz="1200">
                <a:latin typeface="굴림"/>
                <a:ea typeface="굴림"/>
                <a:cs typeface="굴림"/>
              </a:defRPr>
            </a:lvl9pPr>
          </a:lstStyle>
          <a:p xmlns:a="http://schemas.openxmlformats.org/drawingml/2006/main">
            <a:r>
              <a:t>상품·재고·정산을</a:t>
            </a:r>
          </a:p>
          <a:p xmlns:a="http://schemas.openxmlformats.org/drawingml/2006/main">
            <a:r>
              <a:t>여러 도구로 반복 관리</a:t>
            </a:r>
          </a:p>
        </p:txBody>
      </p:sp>
      <p:sp>
        <p:nvSpPr>
          <p:cNvPr id="37" name="Text Box 1078">
            <a:extLst xmlns:a="http://schemas.openxmlformats.org/drawingml/2006/main">
              <a:ext uri="{FF2B5EF4-FFF2-40B4-BE49-F238E27FC236}">
                <a16:creationId xmlns:a16="http://schemas.microsoft.com/office/drawing/2014/main" id="{E49E58D5-12D6-4D3B-83F1-0C24B1DC9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0265" y="3378407"/>
            <a:ext cx="2787943" cy="10926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1pPr>
            <a:lvl2pPr marL="742950" indent="-28575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2pPr>
            <a:lvl3pPr marL="11430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3pPr>
            <a:lvl4pPr marL="16002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4pPr>
            <a:lvl5pPr marL="20574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9pPr>
          </a:lstStyle>
          <a:p xmlns:a="http://schemas.openxmlformats.org/drawingml/2006/main">
            <a:pPr>
              <a:spcBef>
                <a:spcPts val="500"/>
              </a:spcBef>
              <a:buFont typeface="Wingdings 3"/>
              <a:buChar char="}"/>
            </a:pPr>
            <a:r>
              <a:rPr sz="1050">
                <a:latin typeface="나눔고딕"/>
                <a:ea typeface="나눔고딕"/>
                <a:cs typeface="나눔고딕"/>
              </a:rPr>
              <a:t>가격·재고·CS·대사를</a:t>
            </a:r>
          </a:p>
          <a:p xmlns:a="http://schemas.openxmlformats.org/drawingml/2006/main">
            <a:pPr>
              <a:spcBef>
                <a:spcPts val="500"/>
              </a:spcBef>
              <a:buFont typeface="Wingdings 3"/>
              <a:buChar char="}"/>
            </a:pPr>
            <a:r>
              <a:rPr sz="1050">
                <a:ln w="11430">
                  <a:noFill/>
                </a:ln>
                <a:latin typeface="나눔고딕"/>
                <a:ea typeface="나눔고딕"/>
                <a:cs typeface="나눔고딕"/>
              </a:rPr>
              <a:t>동시에 통제해야 함</a:t>
            </a:r>
          </a:p>
        </p:txBody>
      </p:sp>
      <p:sp>
        <p:nvSpPr>
          <p:cNvPr id="38" name="직사각형 37">
            <a:extLst xmlns:a="http://schemas.openxmlformats.org/drawingml/2006/main">
              <a:ext uri="{FF2B5EF4-FFF2-40B4-BE49-F238E27FC236}">
                <a16:creationId xmlns:a16="http://schemas.microsoft.com/office/drawing/2014/main" id="{B1518440-D941-4F63-9C43-FF2511259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087" y="2865869"/>
            <a:ext cx="2811446" cy="48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9EF1"/>
          </a:solidFill>
          <a:ln xmlns:a="http://schemas.openxmlformats.org/drawingml/2006/main" w="9525">
            <a:noFill/>
          </a:ln>
        </p:spPr>
        <p:txBody>
          <a:bodyPr xmlns:a="http://schemas.openxmlformats.org/drawingml/2006/main" wrap="none" lIns="0" rIns="0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spcBef>
                <a:spcPts val="600"/>
              </a:spcBef>
              <a:buNone/>
            </a:pPr>
            <a:r>
              <a:rPr sz="1300" b="1">
                <a:ln>
                  <a:solidFill>
                    <a:srgbClr val="CCECFF">
                      <a:alpha val="0"/>
                    </a:srgbClr>
                  </a:solidFill>
                </a:ln>
                <a:solidFill>
                  <a:schemeClr val="bg1"/>
                </a:solidFill>
                <a:latin typeface="나눔고딕"/>
                <a:ea typeface="나눔고딕"/>
                <a:cs typeface="나눔고딕"/>
              </a:rPr>
              <a:t>여행자</a:t>
            </a:r>
          </a:p>
        </p:txBody>
      </p:sp>
      <p:sp>
        <p:nvSpPr>
          <p:cNvPr id="39" name="직사각형 38">
            <a:extLst xmlns:a="http://schemas.openxmlformats.org/drawingml/2006/main">
              <a:ext uri="{FF2B5EF4-FFF2-40B4-BE49-F238E27FC236}">
                <a16:creationId xmlns:a16="http://schemas.microsoft.com/office/drawing/2014/main" id="{1E9B8607-6B74-409B-9702-B4D862CD1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6665" y="2865869"/>
            <a:ext cx="2807497" cy="48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9EF1"/>
          </a:solidFill>
          <a:ln xmlns:a="http://schemas.openxmlformats.org/drawingml/2006/main" w="9525">
            <a:noFill/>
          </a:ln>
        </p:spPr>
        <p:txBody>
          <a:bodyPr xmlns:a="http://schemas.openxmlformats.org/drawingml/2006/main" wrap="none" lIns="0" r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1">
                <a:ln>
                  <a:solidFill>
                    <a:srgbClr val="CCECFF">
                      <a:alpha val="0"/>
                    </a:srgbClr>
                  </a:solidFill>
                </a:ln>
                <a:solidFill>
                  <a:schemeClr val="bg1"/>
                </a:solidFill>
                <a:latin typeface="나눔고딕"/>
                <a:ea typeface="나눔고딕"/>
                <a:cs typeface="나눔고딕"/>
              </a:rPr>
              <a:t>호텔·파트너</a:t>
            </a:r>
          </a:p>
        </p:txBody>
      </p:sp>
      <p:sp>
        <p:nvSpPr>
          <p:cNvPr id="40" name="직사각형 39">
            <a:extLst xmlns:a="http://schemas.openxmlformats.org/drawingml/2006/main">
              <a:ext uri="{FF2B5EF4-FFF2-40B4-BE49-F238E27FC236}">
                <a16:creationId xmlns:a16="http://schemas.microsoft.com/office/drawing/2014/main" id="{6BDD85B1-23E7-49B9-8DEB-FCF2ACF69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6704" y="2852504"/>
            <a:ext cx="2807497" cy="48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9EF1"/>
          </a:solidFill>
          <a:ln xmlns:a="http://schemas.openxmlformats.org/drawingml/2006/main" w="9525">
            <a:noFill/>
          </a:ln>
        </p:spPr>
        <p:txBody>
          <a:bodyPr xmlns:a="http://schemas.openxmlformats.org/drawingml/2006/main" wrap="none" lIns="0" rIns="0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spcBef>
                <a:spcPts val="600"/>
              </a:spcBef>
              <a:buNone/>
            </a:pPr>
            <a:r>
              <a:rPr sz="1300" b="1">
                <a:ln>
                  <a:solidFill>
                    <a:srgbClr val="CCECFF">
                      <a:alpha val="0"/>
                    </a:srgbClr>
                  </a:solidFill>
                </a:ln>
                <a:solidFill>
                  <a:schemeClr val="bg1"/>
                </a:solidFill>
                <a:latin typeface="나눔고딕"/>
                <a:ea typeface="나눔고딕"/>
                <a:cs typeface="나눔고딕"/>
              </a:rPr>
              <a:t>플랫폼 운영</a:t>
            </a:r>
          </a:p>
        </p:txBody>
      </p:sp>
      <p:sp>
        <p:nvSpPr>
          <p:cNvPr id="30" name="AutoShape 1073">
            <a:extLst xmlns:a="http://schemas.openxmlformats.org/drawingml/2006/main">
              <a:ext uri="{FF2B5EF4-FFF2-40B4-BE49-F238E27FC236}">
                <a16:creationId xmlns:a16="http://schemas.microsoft.com/office/drawing/2014/main" id="{7AE85CCB-A499-464E-8F37-5A3EB5D68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087" y="6102821"/>
            <a:ext cx="8599625" cy="330307"/>
          </a:xfrm>
          <a:prstGeom xmlns:a="http://schemas.openxmlformats.org/drawingml/2006/main" prst="roundRect">
            <a:avLst>
              <a:gd name="adj" fmla="val 12278"/>
            </a:avLst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46800" rIns="0" bIns="46800" anchor="ctr"/>
          <a:lstStyle xmlns:a="http://schemas.openxmlformats.org/drawingml/2006/main">
            <a:lvl1pPr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1pPr>
            <a:lvl2pPr marL="742950" indent="-28575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2pPr>
            <a:lvl3pPr marL="11430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3pPr>
            <a:lvl4pPr marL="16002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4pPr>
            <a:lvl5pPr marL="20574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9pPr>
          </a:lstStyle>
          <a:p xmlns:a="http://schemas.openxmlformats.org/drawingml/2006/main">
            <a:pPr>
              <a:buClr>
                <a:schemeClr val="accent2"/>
              </a:buClr>
              <a:buNone/>
            </a:pPr>
            <a:r>
              <a:rPr sz="1000">
                <a:latin typeface="나눔고딕"/>
                <a:ea typeface="나눔고딕"/>
                <a:cs typeface="나눔고딕"/>
              </a:rPr>
              <a:t>고객, 공급자, 플랫폼 운영자의 데이터 책임을 분리하고 API로 연결합니다.</a:t>
            </a:r>
          </a:p>
        </p:txBody>
      </p:sp>
      <p:sp>
        <p:nvSpPr>
          <p:cNvPr id="2" name="슬라이드 번호 개체 틀 1">
            <a:extLst xmlns:a="http://schemas.openxmlformats.org/drawingml/2006/main">
              <a:ext uri="{FF2B5EF4-FFF2-40B4-BE49-F238E27FC236}">
                <a16:creationId xmlns:a16="http://schemas.microsoft.com/office/drawing/2014/main" id="{DDFC9716-A9B0-4549-A5B9-FE0891C55E6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9BFB0FA-5DC7-50DB-D53A-0B6D0E34987E}" type="slidenum">
              <a:rPr>
                <a:latin typeface="나눔고딕"/>
                <a:ea typeface="나눔고딕"/>
                <a:cs typeface="나눔고딕"/>
              </a:rPr>
              <a:t>06</a:t>
            </a:fld>
          </a:p>
        </p:txBody>
      </p:sp>
    </p:spTree>
    <p:extLst>
      <p:ext uri="{BB962C8B-B14F-4D97-AF65-F5344CB8AC3E}">
        <p14:creationId xmlns:p14="http://schemas.microsoft.com/office/powerpoint/2010/main" val="211242512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제목 71">
            <a:extLst xmlns:a="http://schemas.openxmlformats.org/drawingml/2006/main">
              <a:ext uri="{FF2B5EF4-FFF2-40B4-BE49-F238E27FC236}">
                <a16:creationId xmlns:a16="http://schemas.microsoft.com/office/drawing/2014/main" id="{5C5C48E4-9E8B-4541-B156-A1A3C6CE6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487" y="71414"/>
            <a:ext cx="6768753" cy="57150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6800" rIns="91440" bIns="46800" anchor="b">
            <a:normAutofit/>
          </a:bodyPr>
          <a:lstStyle xmlns:a="http://schemas.openxmlformats.org/drawingml/2006/main">
            <a:lvl1pPr algn="l" defTabSz="914400">
              <a:spcBef>
                <a:spcPct val="0"/>
              </a:spcBef>
              <a:buNone/>
              <a:defRPr sz="1800" b="1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rPr>
                <a:solidFill>
                  <a:schemeClr val="bg1"/>
                </a:solidFill>
                <a:latin typeface="나눔고딕"/>
                <a:ea typeface="나눔고딕"/>
                <a:cs typeface="나눔고딕"/>
              </a:rPr>
              <a:t/>
            </a:r>
          </a:p>
        </p:txBody>
      </p:sp>
      <p:sp>
        <p:nvSpPr>
          <p:cNvPr id="3" name="직사각형 2">
            <a:extLst xmlns:a="http://schemas.openxmlformats.org/drawingml/2006/main">
              <a:ext uri="{FF2B5EF4-FFF2-40B4-BE49-F238E27FC236}">
                <a16:creationId xmlns:a16="http://schemas.microsoft.com/office/drawing/2014/main" id="{C3A22707-4EDC-470B-B202-338882A74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906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3B8"/>
          </a:solidFill>
          <a:ln xmlns:a="http://schemas.openxmlformats.org/drawingml/2006/main" w="9525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93A4DC4F-623E-4C98-9BEF-0A8BA1E9D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372" y="1648698"/>
            <a:ext cx="3269313" cy="520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bg1"/>
                </a:solidFill>
                <a:latin typeface="원신한 Medium"/>
                <a:ea typeface="원신한 Medium"/>
                <a:cs typeface="원신한 Medium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ts val="1800"/>
              </a:lnSpc>
              <a:spcBef>
                <a:spcPts val="0"/>
              </a:spcBef>
              <a:buClrTx/>
              <a:buNone/>
            </a:pPr>
            <a:r>
              <a:rPr sz="1400" b="1">
                <a:latin typeface="맑은 고딕"/>
                <a:ea typeface="맑은 고딕"/>
                <a:cs typeface="맑은 고딕"/>
              </a:rPr>
              <a:t>목적지 발견 → 일정 구성 → 여행 카트</a:t>
            </a:r>
          </a:p>
        </p:txBody>
      </p:sp>
      <p:sp>
        <p:nvSpPr>
          <p:cNvPr id="2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976FDD89-A820-4374-BB7C-9768027EA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20068"/>
            <a:ext cx="9905999" cy="520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bg1"/>
                </a:solidFill>
                <a:latin typeface="원신한 Medium"/>
                <a:ea typeface="원신한 Medium"/>
                <a:cs typeface="원신한 Medium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buClrTx/>
              <a:buNone/>
            </a:pPr>
            <a:r>
              <a:rPr sz="1800">
                <a:latin typeface="맑은 고딕"/>
                <a:ea typeface="맑은 고딕"/>
                <a:cs typeface="맑은 고딕"/>
              </a:rPr>
              <a:t>HotelNGo Customer Journey</a:t>
            </a:r>
          </a:p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buClrTx/>
              <a:buNone/>
            </a:pPr>
            <a:r>
              <a:rPr sz="4000">
                <a:latin typeface="맑은 고딕"/>
                <a:ea typeface="맑은 고딕"/>
                <a:cs typeface="맑은 고딕"/>
              </a:rPr>
              <a:t>A.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9EBD5631-A2DE-42A6-9CE2-8D629C245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371" y="3789040"/>
            <a:ext cx="4424627" cy="258532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171450" indent="-171450">
              <a:lnSpc>
                <a:spcPts val="1800"/>
              </a:lnSpc>
              <a:spcBef>
                <a:spcPts val="0"/>
              </a:spcBef>
              <a:buClrTx/>
              <a:buFontTx/>
              <a:buChar char="-"/>
            </a:pPr>
            <a:r>
              <a:rPr sz="1200" b="0" i="0">
                <a:solidFill>
                  <a:schemeClr val="bg1"/>
                </a:solidFill>
                <a:latin typeface="원신한 Light"/>
                <a:ea typeface="원신한 Light"/>
                <a:cs typeface="원신한 Light"/>
              </a:rPr>
              <a:t>목적지·기간·동행·예산을 먼저 정합니다.</a:t>
            </a:r>
          </a:p>
          <a:p xmlns:a="http://schemas.openxmlformats.org/drawingml/2006/main">
            <a:pPr>
              <a:lnSpc>
                <a:spcPts val="1800"/>
              </a:lnSpc>
              <a:spcBef>
                <a:spcPts val="0"/>
              </a:spcBef>
              <a:buClrTx/>
              <a:buNone/>
            </a:pPr>
            <a:r>
              <a:rPr sz="1200">
                <a:solidFill>
                  <a:schemeClr val="bg1"/>
                </a:solidFill>
                <a:latin typeface="원신한 Light"/>
                <a:ea typeface="원신한 Light"/>
                <a:cs typeface="원신한 Light"/>
              </a:rPr>
              <a:t/>
            </a:r>
          </a:p>
          <a:p xmlns:a="http://schemas.openxmlformats.org/drawingml/2006/main">
            <a:pPr marL="171450" indent="-171450">
              <a:lnSpc>
                <a:spcPts val="1800"/>
              </a:lnSpc>
              <a:spcBef>
                <a:spcPts val="0"/>
              </a:spcBef>
              <a:buClrTx/>
              <a:buFontTx/>
              <a:buChar char="-"/>
            </a:pPr>
            <a:r>
              <a:rPr sz="1200" b="0" i="0">
                <a:solidFill>
                  <a:schemeClr val="bg1"/>
                </a:solidFill>
                <a:latin typeface="원신한 Light"/>
                <a:ea typeface="원신한 Light"/>
                <a:cs typeface="원신한 Light"/>
              </a:rPr>
              <a:t>스토리·호텔·골프·식사·차량·스파·투어를</a:t>
            </a:r>
          </a:p>
          <a:p xmlns:a="http://schemas.openxmlformats.org/drawingml/2006/main">
            <a:pPr>
              <a:lnSpc>
                <a:spcPts val="1800"/>
              </a:lnSpc>
              <a:spcBef>
                <a:spcPts val="0"/>
              </a:spcBef>
              <a:buClrTx/>
              <a:buNone/>
            </a:pPr>
            <a:r>
              <a:rPr sz="1200">
                <a:solidFill>
                  <a:schemeClr val="bg1"/>
                </a:solidFill>
                <a:latin typeface="원신한 Light"/>
                <a:ea typeface="원신한 Light"/>
                <a:cs typeface="원신한 Light"/>
              </a:rPr>
              <a:t>날짜별 일정에 담습니다.</a:t>
            </a:r>
          </a:p>
          <a:p xmlns:a="http://schemas.openxmlformats.org/drawingml/2006/main">
            <a:pPr marL="171450" indent="-171450">
              <a:lnSpc>
                <a:spcPts val="1800"/>
              </a:lnSpc>
              <a:spcBef>
                <a:spcPts val="0"/>
              </a:spcBef>
              <a:buClrTx/>
              <a:buFontTx/>
              <a:buChar char="-"/>
            </a:pPr>
            <a:r>
              <a:rPr sz="1200" b="0" i="0">
                <a:solidFill>
                  <a:schemeClr val="bg1"/>
                </a:solidFill>
                <a:latin typeface="원신한 Light"/>
                <a:ea typeface="원신한 Light"/>
                <a:cs typeface="원신한 Light"/>
              </a:rPr>
              <a:t/>
            </a:r>
          </a:p>
          <a:p xmlns:a="http://schemas.openxmlformats.org/drawingml/2006/main">
            <a:pPr>
              <a:lnSpc>
                <a:spcPts val="1800"/>
              </a:lnSpc>
              <a:spcBef>
                <a:spcPts val="0"/>
              </a:spcBef>
              <a:buClrTx/>
              <a:buNone/>
            </a:pPr>
            <a:r>
              <a:rPr sz="1200">
                <a:solidFill>
                  <a:schemeClr val="bg1"/>
                </a:solidFill>
                <a:latin typeface="원신한 Light"/>
                <a:ea typeface="원신한 Light"/>
                <a:cs typeface="원신한 Light"/>
              </a:rPr>
              <a:t>AI가 이동·영업시간·예약 가능성을 검증하고</a:t>
            </a:r>
          </a:p>
          <a:p xmlns:a="http://schemas.openxmlformats.org/drawingml/2006/main">
            <a:pPr marL="171450" indent="-171450">
              <a:lnSpc>
                <a:spcPts val="1800"/>
              </a:lnSpc>
              <a:spcBef>
                <a:spcPts val="0"/>
              </a:spcBef>
              <a:buClrTx/>
              <a:buFontTx/>
              <a:buChar char="-"/>
            </a:pPr>
            <a:r>
              <a:rPr sz="1200" b="0" i="0">
                <a:solidFill>
                  <a:schemeClr val="bg1"/>
                </a:solidFill>
                <a:latin typeface="원신한 Light"/>
                <a:ea typeface="원신한 Light"/>
                <a:cs typeface="원신한 Light"/>
              </a:rPr>
              <a:t>선택을 여행 카트와 주문으로 연결합니다.</a:t>
            </a:r>
          </a:p>
        </p:txBody>
      </p:sp>
      <p:pic>
        <p:nvPicPr>
          <p:cNvPr id="42" name="그림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83433808144b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952999" y="2996952"/>
            <a:ext cx="4788024" cy="3591018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43" name="그림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fb2ca6e87043d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313039" y="4437112"/>
            <a:ext cx="792088" cy="1649167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2" name="슬라이드 번호 개체 틀 1">
            <a:extLst xmlns:a="http://schemas.openxmlformats.org/drawingml/2006/main">
              <a:ext uri="{FF2B5EF4-FFF2-40B4-BE49-F238E27FC236}">
                <a16:creationId xmlns:a16="http://schemas.microsoft.com/office/drawing/2014/main" id="{AAF76E09-2FC9-45FA-8EF0-5151AB6DA00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C5B3A8-B30B-D205-8921-516C108AB9AB}" type="slidenum">
              <a:rPr>
                <a:latin typeface="나눔고딕"/>
                <a:ea typeface="나눔고딕"/>
                <a:cs typeface="나눔고딕"/>
              </a:rPr>
              <a:t>07</a:t>
            </a:fld>
          </a:p>
        </p:txBody>
      </p:sp>
    </p:spTree>
    <p:extLst>
      <p:ext uri="{BB962C8B-B14F-4D97-AF65-F5344CB8AC3E}">
        <p14:creationId xmlns:p14="http://schemas.microsoft.com/office/powerpoint/2010/main" val="73578374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제목 71">
            <a:extLst xmlns:a="http://schemas.openxmlformats.org/drawingml/2006/main">
              <a:ext uri="{FF2B5EF4-FFF2-40B4-BE49-F238E27FC236}">
                <a16:creationId xmlns:a16="http://schemas.microsoft.com/office/drawing/2014/main" id="{5C5C48E4-9E8B-4541-B156-A1A3C6CE6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487" y="71414"/>
            <a:ext cx="6768753" cy="57150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6800" rIns="91440" bIns="46800" anchor="b">
            <a:normAutofit/>
          </a:bodyPr>
          <a:lstStyle xmlns:a="http://schemas.openxmlformats.org/drawingml/2006/main">
            <a:lvl1pPr algn="l" defTabSz="914400">
              <a:spcBef>
                <a:spcPct val="0"/>
              </a:spcBef>
              <a:buNone/>
              <a:defRPr sz="1800" b="1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rPr>
                <a:solidFill>
                  <a:schemeClr val="bg1"/>
                </a:solidFill>
                <a:latin typeface="나눔고딕"/>
                <a:ea typeface="나눔고딕"/>
                <a:cs typeface="나눔고딕"/>
              </a:rPr>
              <a:t/>
            </a:r>
          </a:p>
        </p:txBody>
      </p:sp>
      <p:sp>
        <p:nvSpPr>
          <p:cNvPr id="3" name="직사각형 2">
            <a:extLst xmlns:a="http://schemas.openxmlformats.org/drawingml/2006/main">
              <a:ext uri="{FF2B5EF4-FFF2-40B4-BE49-F238E27FC236}">
                <a16:creationId xmlns:a16="http://schemas.microsoft.com/office/drawing/2014/main" id="{C3A22707-4EDC-470B-B202-338882A74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1414"/>
            <a:ext cx="9906000" cy="67865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3B8"/>
          </a:solidFill>
          <a:ln xmlns:a="http://schemas.openxmlformats.org/drawingml/2006/main" w="9525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93A4DC4F-623E-4C98-9BEF-0A8BA1E9D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31" y="787352"/>
            <a:ext cx="4971893" cy="68920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bg1"/>
                </a:solidFill>
                <a:latin typeface="원신한 Medium"/>
                <a:ea typeface="원신한 Medium"/>
                <a:cs typeface="원신한 Medium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ts val="1800"/>
              </a:lnSpc>
              <a:spcBef>
                <a:spcPts val="0"/>
              </a:spcBef>
              <a:buClrTx/>
              <a:buNone/>
            </a:pPr>
            <a:r>
              <a:rPr sz="1400" b="1">
                <a:latin typeface="맑은 고딕"/>
                <a:ea typeface="맑은 고딕"/>
                <a:cs typeface="맑은 고딕"/>
              </a:rPr>
              <a:t>CUSTOMER EXPERIENCE</a:t>
            </a:r>
          </a:p>
          <a:p xmlns:a="http://schemas.openxmlformats.org/drawingml/2006/main">
            <a:pPr>
              <a:lnSpc>
                <a:spcPts val="2200"/>
              </a:lnSpc>
              <a:spcBef>
                <a:spcPts val="0"/>
              </a:spcBef>
              <a:buClrTx/>
              <a:buNone/>
            </a:pPr>
            <a:r>
              <a:rPr sz="1400" b="1">
                <a:solidFill>
                  <a:srgbClr val="CCFFFF"/>
                </a:solidFill>
                <a:latin typeface="맑은 고딕"/>
                <a:ea typeface="맑은 고딕"/>
                <a:cs typeface="맑은 고딕"/>
              </a:rPr>
              <a:t>발견에서 예약까지 하나의 여정</a:t>
            </a:r>
          </a:p>
          <a:p xmlns:a="http://schemas.openxmlformats.org/drawingml/2006/main">
            <a:pPr>
              <a:lnSpc>
                <a:spcPts val="2200"/>
              </a:lnSpc>
              <a:spcBef>
                <a:spcPts val="0"/>
              </a:spcBef>
              <a:buClrTx/>
              <a:buNone/>
            </a:pPr>
            <a:r>
              <a:rPr sz="1400" b="1">
                <a:solidFill>
                  <a:srgbClr val="CCFFFF"/>
                </a:solidFill>
                <a:latin typeface="맑은 고딕"/>
                <a:ea typeface="맑은 고딕"/>
                <a:cs typeface="맑은 고딕"/>
              </a:rPr>
              <a:t/>
            </a:r>
          </a:p>
          <a:p xmlns:a="http://schemas.openxmlformats.org/drawingml/2006/main">
            <a:pPr>
              <a:lnSpc>
                <a:spcPts val="2200"/>
              </a:lnSpc>
              <a:spcBef>
                <a:spcPts val="0"/>
              </a:spcBef>
              <a:buClrTx/>
              <a:buNone/>
            </a:pPr>
            <a:r>
              <a:rPr sz="1400" b="1">
                <a:solidFill>
                  <a:srgbClr val="CCFFFF"/>
                </a:solidFill>
                <a:latin typeface="맑은 고딕"/>
                <a:ea typeface="맑은 고딕"/>
                <a:cs typeface="맑은 고딕"/>
              </a:rPr>
              <a:t>#DISCOVER #ITINERARY #HOTEL #CART</a:t>
            </a:r>
          </a:p>
        </p:txBody>
      </p:sp>
      <p:sp>
        <p:nvSpPr>
          <p:cNvPr id="2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976FDD89-A820-4374-BB7C-9768027EA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472" y="290342"/>
            <a:ext cx="4464496" cy="520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bg1"/>
                </a:solidFill>
                <a:latin typeface="원신한 Medium"/>
                <a:ea typeface="원신한 Medium"/>
                <a:cs typeface="원신한 Medium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buClrTx/>
              <a:buNone/>
            </a:pPr>
            <a:r>
              <a:rPr sz="1600" b="1">
                <a:latin typeface="맑은 고딕"/>
                <a:ea typeface="맑은 고딕"/>
                <a:cs typeface="맑은 고딕"/>
              </a:rPr>
              <a:t>HotelNGo Product Experience · PC</a:t>
            </a:r>
          </a:p>
        </p:txBody>
      </p:sp>
      <p:pic>
        <p:nvPicPr>
          <p:cNvPr id="44" name="그림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f9c1c2ccf149b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71584" y="2999410"/>
            <a:ext cx="4757665" cy="3568248"/>
          </a:xfrm>
          <a:prstGeom xmlns:a="http://schemas.openxmlformats.org/drawingml/2006/main" prst="rect">
            <a:avLst/>
          </a:prstGeom>
        </p:spPr>
      </p:pic>
      <p:pic>
        <p:nvPicPr>
          <p:cNvPr id="45" name="그림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bfcb87e01647d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990871" y="4821103"/>
            <a:ext cx="2328738" cy="1746554"/>
          </a:xfrm>
          <a:prstGeom xmlns:a="http://schemas.openxmlformats.org/drawingml/2006/main" prst="rect">
            <a:avLst/>
          </a:prstGeom>
        </p:spPr>
      </p:pic>
      <p:pic>
        <p:nvPicPr>
          <p:cNvPr id="46" name="그림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9dd9e86f33406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7396925" y="2999408"/>
            <a:ext cx="2328738" cy="1746554"/>
          </a:xfrm>
          <a:prstGeom xmlns:a="http://schemas.openxmlformats.org/drawingml/2006/main" prst="rect">
            <a:avLst/>
          </a:prstGeom>
        </p:spPr>
      </p:pic>
      <p:pic>
        <p:nvPicPr>
          <p:cNvPr id="47" name="그림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a03e2422e34ae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7396924" y="4821102"/>
            <a:ext cx="2328738" cy="1746554"/>
          </a:xfrm>
          <a:prstGeom xmlns:a="http://schemas.openxmlformats.org/drawingml/2006/main" prst="rect">
            <a:avLst/>
          </a:prstGeom>
        </p:spPr>
      </p:pic>
      <p:pic>
        <p:nvPicPr>
          <p:cNvPr id="48" name="그림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8d8be9ed62448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990871" y="2999409"/>
            <a:ext cx="2328738" cy="1746554"/>
          </a:xfrm>
          <a:prstGeom xmlns:a="http://schemas.openxmlformats.org/drawingml/2006/main" prst="rect">
            <a:avLst/>
          </a:prstGeom>
        </p:spPr>
      </p:pic>
      <p:sp>
        <p:nvSpPr>
          <p:cNvPr id="2" name="슬라이드 번호 개체 틀 1">
            <a:extLst xmlns:a="http://schemas.openxmlformats.org/drawingml/2006/main">
              <a:ext uri="{FF2B5EF4-FFF2-40B4-BE49-F238E27FC236}">
                <a16:creationId xmlns:a16="http://schemas.microsoft.com/office/drawing/2014/main" id="{C6255D2C-F3EF-43F2-8249-EAE80E85574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2E54B70-3376-18BE-56BD-5BB8BA701776}" type="slidenum">
              <a:rPr>
                <a:latin typeface="나눔고딕"/>
                <a:ea typeface="나눔고딕"/>
                <a:cs typeface="나눔고딕"/>
              </a:rPr>
              <a:t>08</a:t>
            </a:fld>
          </a:p>
        </p:txBody>
      </p:sp>
    </p:spTree>
    <p:extLst>
      <p:ext uri="{BB962C8B-B14F-4D97-AF65-F5344CB8AC3E}">
        <p14:creationId xmlns:p14="http://schemas.microsoft.com/office/powerpoint/2010/main" val="234864805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제목 71">
            <a:extLst xmlns:a="http://schemas.openxmlformats.org/drawingml/2006/main">
              <a:ext uri="{FF2B5EF4-FFF2-40B4-BE49-F238E27FC236}">
                <a16:creationId xmlns:a16="http://schemas.microsoft.com/office/drawing/2014/main" id="{5C5C48E4-9E8B-4541-B156-A1A3C6CE6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487" y="71414"/>
            <a:ext cx="6768753" cy="57150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6800" rIns="91440" bIns="46800" anchor="b">
            <a:normAutofit/>
          </a:bodyPr>
          <a:lstStyle xmlns:a="http://schemas.openxmlformats.org/drawingml/2006/main">
            <a:lvl1pPr algn="l" defTabSz="914400">
              <a:spcBef>
                <a:spcPct val="0"/>
              </a:spcBef>
              <a:buNone/>
              <a:defRPr sz="1800" b="1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rPr>
                <a:solidFill>
                  <a:schemeClr val="bg1"/>
                </a:solidFill>
                <a:latin typeface="나눔고딕"/>
                <a:ea typeface="나눔고딕"/>
                <a:cs typeface="나눔고딕"/>
              </a:rPr>
              <a:t/>
            </a:r>
          </a:p>
        </p:txBody>
      </p:sp>
      <p:sp>
        <p:nvSpPr>
          <p:cNvPr id="3" name="직사각형 2">
            <a:extLst xmlns:a="http://schemas.openxmlformats.org/drawingml/2006/main">
              <a:ext uri="{FF2B5EF4-FFF2-40B4-BE49-F238E27FC236}">
                <a16:creationId xmlns:a16="http://schemas.microsoft.com/office/drawing/2014/main" id="{C3A22707-4EDC-470B-B202-338882A74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1414"/>
            <a:ext cx="9906000" cy="67865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3B8"/>
          </a:solidFill>
          <a:ln xmlns:a="http://schemas.openxmlformats.org/drawingml/2006/main" w="9525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93A4DC4F-623E-4C98-9BEF-0A8BA1E9D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31" y="811042"/>
            <a:ext cx="4971893" cy="68920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bg1"/>
                </a:solidFill>
                <a:latin typeface="원신한 Medium"/>
                <a:ea typeface="원신한 Medium"/>
                <a:cs typeface="원신한 Medium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ts val="1800"/>
              </a:lnSpc>
              <a:spcBef>
                <a:spcPts val="0"/>
              </a:spcBef>
              <a:buClrTx/>
              <a:buNone/>
            </a:pPr>
            <a:r>
              <a:rPr sz="1400" b="1">
                <a:latin typeface="맑은 고딕"/>
                <a:ea typeface="맑은 고딕"/>
                <a:cs typeface="맑은 고딕"/>
              </a:rPr>
              <a:t>MOBILE EXPERIENCE</a:t>
            </a:r>
          </a:p>
          <a:p xmlns:a="http://schemas.openxmlformats.org/drawingml/2006/main">
            <a:pPr>
              <a:lnSpc>
                <a:spcPts val="2200"/>
              </a:lnSpc>
              <a:spcBef>
                <a:spcPts val="0"/>
              </a:spcBef>
              <a:buClrTx/>
              <a:buNone/>
            </a:pPr>
            <a:r>
              <a:rPr sz="1400" b="1">
                <a:solidFill>
                  <a:srgbClr val="CCFFFF"/>
                </a:solidFill>
                <a:latin typeface="맑은 고딕"/>
                <a:ea typeface="맑은 고딕"/>
                <a:cs typeface="맑은 고딕"/>
              </a:rPr>
              <a:t>여행 중에도 발견·일정·호텔을 같은 흐름으로</a:t>
            </a:r>
          </a:p>
          <a:p xmlns:a="http://schemas.openxmlformats.org/drawingml/2006/main">
            <a:pPr>
              <a:lnSpc>
                <a:spcPts val="2200"/>
              </a:lnSpc>
              <a:spcBef>
                <a:spcPts val="0"/>
              </a:spcBef>
              <a:buClrTx/>
              <a:buNone/>
            </a:pPr>
            <a:r>
              <a:rPr sz="1400" b="1">
                <a:solidFill>
                  <a:srgbClr val="CCFFFF"/>
                </a:solidFill>
                <a:latin typeface="맑은 고딕"/>
                <a:ea typeface="맑은 고딕"/>
                <a:cs typeface="맑은 고딕"/>
              </a:rPr>
              <a:t/>
            </a:r>
          </a:p>
          <a:p xmlns:a="http://schemas.openxmlformats.org/drawingml/2006/main">
            <a:pPr>
              <a:lnSpc>
                <a:spcPts val="2200"/>
              </a:lnSpc>
              <a:spcBef>
                <a:spcPts val="0"/>
              </a:spcBef>
              <a:buClrTx/>
              <a:buNone/>
            </a:pPr>
            <a:r>
              <a:rPr sz="1400" b="1">
                <a:solidFill>
                  <a:srgbClr val="CCFFFF"/>
                </a:solidFill>
                <a:latin typeface="맑은 고딕"/>
                <a:ea typeface="맑은 고딕"/>
                <a:cs typeface="맑은 고딕"/>
              </a:rPr>
              <a:t>#RESPONSIVE #TRAVEL_ON_THE_GO</a:t>
            </a:r>
          </a:p>
        </p:txBody>
      </p:sp>
      <p:sp>
        <p:nvSpPr>
          <p:cNvPr id="2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976FDD89-A820-4374-BB7C-9768027EA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472" y="290342"/>
            <a:ext cx="4464496" cy="520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bg1"/>
                </a:solidFill>
                <a:latin typeface="원신한 Medium"/>
                <a:ea typeface="원신한 Medium"/>
                <a:cs typeface="원신한 Medium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buClrTx/>
              <a:buNone/>
            </a:pPr>
            <a:r>
              <a:rPr sz="1600" b="1">
                <a:latin typeface="맑은 고딕"/>
                <a:ea typeface="맑은 고딕"/>
                <a:cs typeface="맑은 고딕"/>
              </a:rPr>
              <a:t>HotelNGo Product Experience · Mobile</a:t>
            </a:r>
          </a:p>
        </p:txBody>
      </p:sp>
      <p:pic>
        <p:nvPicPr>
          <p:cNvPr id="45" name="그림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7ab0f72b17433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566852" y="4003237"/>
            <a:ext cx="1374589" cy="2863726"/>
          </a:xfrm>
          <a:prstGeom xmlns:a="http://schemas.openxmlformats.org/drawingml/2006/main" prst="rect">
            <a:avLst/>
          </a:prstGeom>
        </p:spPr>
      </p:pic>
      <p:pic>
        <p:nvPicPr>
          <p:cNvPr id="46" name="그림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89d1e4915d4f5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6983924" y="3999576"/>
            <a:ext cx="1374588" cy="2863726"/>
          </a:xfrm>
          <a:prstGeom xmlns:a="http://schemas.openxmlformats.org/drawingml/2006/main" prst="rect">
            <a:avLst/>
          </a:prstGeom>
        </p:spPr>
      </p:pic>
      <p:pic>
        <p:nvPicPr>
          <p:cNvPr id="47" name="그림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5fd38812b842e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8401412" y="3999576"/>
            <a:ext cx="1374589" cy="2863729"/>
          </a:xfrm>
          <a:prstGeom xmlns:a="http://schemas.openxmlformats.org/drawingml/2006/main" prst="rect">
            <a:avLst/>
          </a:prstGeom>
        </p:spPr>
      </p:pic>
      <p:pic>
        <p:nvPicPr>
          <p:cNvPr id="48" name="그림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701e5b83684d7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2078264" y="2439794"/>
            <a:ext cx="1707519" cy="4418205"/>
          </a:xfrm>
          <a:prstGeom xmlns:a="http://schemas.openxmlformats.org/drawingml/2006/main" prst="rect">
            <a:avLst/>
          </a:prstGeom>
        </p:spPr>
      </p:pic>
      <p:pic>
        <p:nvPicPr>
          <p:cNvPr id="49" name="그림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cfdc0a0b2e4fb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3828683" y="2439794"/>
            <a:ext cx="1707519" cy="4418206"/>
          </a:xfrm>
          <a:prstGeom xmlns:a="http://schemas.openxmlformats.org/drawingml/2006/main" prst="rect">
            <a:avLst/>
          </a:prstGeom>
        </p:spPr>
      </p:pic>
      <p:pic>
        <p:nvPicPr>
          <p:cNvPr id="50" name="그림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77876cdf744f1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46790" y="2435512"/>
            <a:ext cx="1288574" cy="4418205"/>
          </a:xfrm>
          <a:prstGeom xmlns:a="http://schemas.openxmlformats.org/drawingml/2006/main" prst="rect">
            <a:avLst/>
          </a:prstGeom>
        </p:spPr>
      </p:pic>
      <p:sp>
        <p:nvSpPr>
          <p:cNvPr id="2" name="슬라이드 번호 개체 틀 1">
            <a:extLst xmlns:a="http://schemas.openxmlformats.org/drawingml/2006/main">
              <a:ext uri="{FF2B5EF4-FFF2-40B4-BE49-F238E27FC236}">
                <a16:creationId xmlns:a16="http://schemas.microsoft.com/office/drawing/2014/main" id="{633B26A2-1F95-463A-94ED-24A2E50CBB6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4235D47-801C-AA1F-E2A0-5E98061CBF6D}" type="slidenum">
              <a:rPr>
                <a:latin typeface="나눔고딕"/>
                <a:ea typeface="나눔고딕"/>
                <a:cs typeface="나눔고딕"/>
              </a:rPr>
              <a:t>09</a:t>
            </a:fld>
          </a:p>
        </p:txBody>
      </p:sp>
    </p:spTree>
    <p:extLst>
      <p:ext uri="{BB962C8B-B14F-4D97-AF65-F5344CB8AC3E}">
        <p14:creationId xmlns:p14="http://schemas.microsoft.com/office/powerpoint/2010/main" val="426150673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제목 71">
            <a:extLst xmlns:a="http://schemas.openxmlformats.org/drawingml/2006/main">
              <a:ext uri="{FF2B5EF4-FFF2-40B4-BE49-F238E27FC236}">
                <a16:creationId xmlns:a16="http://schemas.microsoft.com/office/drawing/2014/main" id="{5C5C48E4-9E8B-4541-B156-A1A3C6CE6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487" y="71414"/>
            <a:ext cx="6768753" cy="57150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6800" rIns="91440" bIns="46800" anchor="b">
            <a:normAutofit/>
          </a:bodyPr>
          <a:lstStyle xmlns:a="http://schemas.openxmlformats.org/drawingml/2006/main">
            <a:lvl1pPr algn="l" defTabSz="914400">
              <a:spcBef>
                <a:spcPct val="0"/>
              </a:spcBef>
              <a:buNone/>
              <a:defRPr sz="1800" b="1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rPr>
                <a:solidFill>
                  <a:schemeClr val="bg1"/>
                </a:solidFill>
                <a:latin typeface="나눔고딕"/>
                <a:ea typeface="나눔고딕"/>
                <a:cs typeface="나눔고딕"/>
              </a:rPr>
              <a:t/>
            </a:r>
          </a:p>
        </p:txBody>
      </p:sp>
      <p:sp>
        <p:nvSpPr>
          <p:cNvPr id="3" name="직사각형 2">
            <a:extLst xmlns:a="http://schemas.openxmlformats.org/drawingml/2006/main">
              <a:ext uri="{FF2B5EF4-FFF2-40B4-BE49-F238E27FC236}">
                <a16:creationId xmlns:a16="http://schemas.microsoft.com/office/drawing/2014/main" id="{C3A22707-4EDC-470B-B202-338882A74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906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3B8"/>
          </a:solidFill>
          <a:ln xmlns:a="http://schemas.openxmlformats.org/drawingml/2006/main" w="9525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014AC9A-12C1-4CA9-841E-889339001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108" y="2614779"/>
            <a:ext cx="8157141" cy="1634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3B8"/>
          </a:solidFill>
        </p:spPr>
        <p:txBody>
          <a:bodyPr xmlns:a="http://schemas.openxmlformats.org/drawingml/2006/main" anchor="ctr"/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bg1"/>
                </a:solidFill>
                <a:latin typeface="원신한 Medium"/>
                <a:ea typeface="원신한 Medium"/>
                <a:cs typeface="원신한 Medium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buClrTx/>
              <a:buNone/>
            </a:pPr>
            <a:r>
              <a:rPr sz="2800" b="1">
                <a:latin typeface="맑은 고딕"/>
                <a:ea typeface="맑은 고딕"/>
                <a:cs typeface="맑은 고딕"/>
              </a:rPr>
              <a:t>II. 서비스와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buClrTx/>
              <a:buNone/>
            </a:pPr>
            <a:r>
              <a:rPr sz="2800" b="1">
                <a:latin typeface="맑은 고딕"/>
                <a:ea typeface="맑은 고딕"/>
                <a:cs typeface="맑은 고딕"/>
              </a:rPr>
              <a:t>운영 구조</a:t>
            </a:r>
          </a:p>
        </p:txBody>
      </p:sp>
      <p:sp>
        <p:nvSpPr>
          <p:cNvPr id="7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E0B470ED-DCC4-436D-9285-360D32741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01" y="6404661"/>
            <a:ext cx="3990876" cy="29515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3B8"/>
          </a:solidFill>
        </p:spPr>
        <p:txBody>
          <a:bodyPr xmlns:a="http://schemas.openxmlformats.org/drawingml/2006/main" anchor="ctr"/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bg1"/>
                </a:solidFill>
                <a:latin typeface="원신한 Medium"/>
                <a:ea typeface="원신한 Medium"/>
                <a:cs typeface="원신한 Medium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buClrTx/>
              <a:buNone/>
            </a:pPr>
            <a:r>
              <a:rPr sz="800">
                <a:latin typeface="맑은 고딕"/>
                <a:ea typeface="맑은 고딕"/>
                <a:cs typeface="맑은 고딕"/>
              </a:rPr>
              <a:t>HotelNGo Project Plan</a:t>
            </a:r>
          </a:p>
        </p:txBody>
      </p:sp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0423B1E-8A1A-43D2-8FBF-431CD4D7C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7025" y="6404661"/>
            <a:ext cx="3990876" cy="29515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3B8"/>
          </a:solidFill>
        </p:spPr>
        <p:txBody>
          <a:bodyPr xmlns:a="http://schemas.openxmlformats.org/drawingml/2006/main" anchor="ctr"/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bg1"/>
                </a:solidFill>
                <a:latin typeface="원신한 Medium"/>
                <a:ea typeface="원신한 Medium"/>
                <a:cs typeface="원신한 Medium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lnSpc>
                <a:spcPct val="100000"/>
              </a:lnSpc>
              <a:spcBef>
                <a:spcPts val="0"/>
              </a:spcBef>
              <a:buClrTx/>
              <a:buNone/>
            </a:pPr>
            <a:r>
              <a:rPr sz="800">
                <a:latin typeface="맑은 고딕"/>
                <a:ea typeface="맑은 고딕"/>
                <a:cs typeface="맑은 고딕"/>
              </a:rPr>
              <a:t>Supply · Commerce · PMS · AI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C3A70BE-32E2-4AB5-BDE8-46BFE65D4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108" y="158185"/>
            <a:ext cx="1719247" cy="520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bg1"/>
                </a:solidFill>
                <a:latin typeface="원신한 Medium"/>
                <a:ea typeface="원신한 Medium"/>
                <a:cs typeface="원신한 Medium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ts val="1800"/>
              </a:lnSpc>
              <a:spcBef>
                <a:spcPts val="0"/>
              </a:spcBef>
              <a:buClrTx/>
              <a:buNone/>
            </a:pPr>
            <a:r>
              <a:rPr sz="1800" b="1">
                <a:latin typeface="맑은 고딕"/>
                <a:ea typeface="맑은 고딕"/>
                <a:cs typeface="맑은 고딕"/>
              </a:rPr>
              <a:t>SECTION 02</a:t>
            </a:r>
          </a:p>
        </p:txBody>
      </p:sp>
      <p:sp>
        <p:nvSpPr>
          <p:cNvPr id="2" name="슬라이드 번호 개체 틀 1">
            <a:extLst xmlns:a="http://schemas.openxmlformats.org/drawingml/2006/main">
              <a:ext uri="{FF2B5EF4-FFF2-40B4-BE49-F238E27FC236}">
                <a16:creationId xmlns:a16="http://schemas.microsoft.com/office/drawing/2014/main" id="{D95FF13F-E7B3-420E-8597-71DF3CF5E45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B7BEEEC-A170-5376-2B6E-CB54687B0CB1}" type="slidenum">
              <a:rPr>
                <a:latin typeface="나눔고딕"/>
                <a:ea typeface="나눔고딕"/>
                <a:cs typeface="나눔고딕"/>
              </a:rPr>
              <a:t>10</a:t>
            </a:fld>
          </a:p>
        </p:txBody>
      </p:sp>
    </p:spTree>
    <p:extLst>
      <p:ext uri="{BB962C8B-B14F-4D97-AF65-F5344CB8AC3E}">
        <p14:creationId xmlns:p14="http://schemas.microsoft.com/office/powerpoint/2010/main" val="798098132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제목 71">
            <a:extLst xmlns:a="http://schemas.openxmlformats.org/drawingml/2006/main">
              <a:ext uri="{FF2B5EF4-FFF2-40B4-BE49-F238E27FC236}">
                <a16:creationId xmlns:a16="http://schemas.microsoft.com/office/drawing/2014/main" id="{0A4D92D9-7E69-480C-9827-E9CD4C613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487" y="71414"/>
            <a:ext cx="6768753" cy="57150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6800" rIns="91440" bIns="46800" anchor="b">
            <a:normAutofit fontScale="100000"/>
          </a:bodyPr>
          <a:lstStyle xmlns:a="http://schemas.openxmlformats.org/drawingml/2006/main">
            <a:lvl1pPr algn="l" defTabSz="914400">
              <a:spcBef>
                <a:spcPct val="0"/>
              </a:spcBef>
              <a:buNone/>
              <a:defRPr sz="1800" b="1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rPr>
                <a:solidFill>
                  <a:schemeClr val="bg1"/>
                </a:solidFill>
                <a:latin typeface="나눔고딕"/>
                <a:ea typeface="나눔고딕"/>
                <a:cs typeface="나눔고딕"/>
              </a:rPr>
              <a:t>3. 독립 시스템을 API로 연결하는 사업 구조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3F454521-134A-4C19-B324-2C34D0011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512" y="908720"/>
            <a:ext cx="8945580" cy="8475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1300" b="1">
                <a:latin typeface="나눔고딕"/>
                <a:ea typeface="나눔고딕"/>
                <a:cs typeface="나눔고딕"/>
              </a:rPr>
              <a:t>HotelNGo 고객 회원, 호텔의 Hotel_PMS 회원, 액티비티 파트너, 플랫폼 관리자는 서로 다른 계정과 권한을 사용하며 공통 계약을 통해 필요한 데이터만 교환하도록 합니다.</a:t>
            </a:r>
          </a:p>
        </p:txBody>
      </p:sp>
      <p:sp>
        <p:nvSpPr>
          <p:cNvPr id="10" name="삼각형 8">
            <a:extLst xmlns:a="http://schemas.openxmlformats.org/drawingml/2006/main">
              <a:ext uri="{FF2B5EF4-FFF2-40B4-BE49-F238E27FC236}">
                <a16:creationId xmlns:a16="http://schemas.microsoft.com/office/drawing/2014/main" id="{96744AEB-2A7A-45EC-9328-C78D7D088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520" y="1784011"/>
            <a:ext cx="7818959" cy="1210857"/>
          </a:xfrm>
          <a:prstGeom xmlns:a="http://schemas.openxmlformats.org/drawingml/2006/main" prst="triangle">
            <a:avLst>
              <a:gd name="adj" fmla="val 49887"/>
            </a:avLst>
          </a:prstGeom>
          <a:gradFill xmlns:a="http://schemas.openxmlformats.org/drawingml/2006/main" rotWithShape="1">
            <a:gsLst>
              <a:gs pos="0">
                <a:srgbClr val="D1EFF9">
                  <a:alpha val="30000"/>
                </a:srgb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162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Clr>
                <a:srgbClr val="000000"/>
              </a:buClr>
              <a:buFont typeface="Arial"/>
              <a:buNone/>
            </a:pPr>
          </a:p>
        </p:txBody>
      </p:sp>
      <p:sp>
        <p:nvSpPr>
          <p:cNvPr id="11" name="사각형: 둥근 모서리 10">
            <a:extLst xmlns:a="http://schemas.openxmlformats.org/drawingml/2006/main">
              <a:ext uri="{FF2B5EF4-FFF2-40B4-BE49-F238E27FC236}">
                <a16:creationId xmlns:a16="http://schemas.microsoft.com/office/drawing/2014/main" id="{08657C82-0C4A-4BB5-941E-A1F4CCD8B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474" y="4832033"/>
            <a:ext cx="8644727" cy="122285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9525">
            <a:solidFill>
              <a:schemeClr val="bg1">
                <a:lumMod val="65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 Box 1059">
            <a:extLst xmlns:a="http://schemas.openxmlformats.org/drawingml/2006/main">
              <a:ext uri="{FF2B5EF4-FFF2-40B4-BE49-F238E27FC236}">
                <a16:creationId xmlns:a16="http://schemas.microsoft.com/office/drawing/2014/main" id="{A1C9E121-F826-4C77-AFFB-93257D138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4608" y="5039197"/>
            <a:ext cx="2016224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1pPr>
            <a:lvl2pPr marL="742950" indent="-28575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2pPr>
            <a:lvl3pPr marL="11430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3pPr>
            <a:lvl4pPr marL="16002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4pPr>
            <a:lvl5pPr marL="20574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9pPr>
          </a:lstStyle>
          <a:p xmlns:a="http://schemas.openxmlformats.org/drawingml/2006/main">
            <a:pPr>
              <a:buNone/>
            </a:pPr>
            <a:r>
              <a:rPr sz="1100" b="1">
                <a:latin typeface="나눔고딕"/>
                <a:ea typeface="나눔고딕"/>
                <a:cs typeface="나눔고딕"/>
              </a:rPr>
              <a:t>• HotelNGo 회원과 PMS 고객은 동일 계정으로 취급하지 않음</a:t>
            </a:r>
          </a:p>
        </p:txBody>
      </p:sp>
      <p:sp>
        <p:nvSpPr>
          <p:cNvPr id="14" name="사각형: 둥근 모서리 13">
            <a:extLst xmlns:a="http://schemas.openxmlformats.org/drawingml/2006/main">
              <a:ext uri="{FF2B5EF4-FFF2-40B4-BE49-F238E27FC236}">
                <a16:creationId xmlns:a16="http://schemas.microsoft.com/office/drawing/2014/main" id="{6BED4BEC-4414-418C-AD4E-70FE50217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474" y="1926992"/>
            <a:ext cx="8644727" cy="493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54D83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Clr>
                <a:srgbClr val="000000"/>
              </a:buClr>
              <a:buFont typeface="Arial"/>
              <a:buNone/>
            </a:pPr>
            <a:r>
              <a:rPr b="1">
                <a:solidFill>
                  <a:schemeClr val="bg1"/>
                </a:solidFill>
                <a:latin typeface="나눔고딕"/>
                <a:ea typeface="나눔고딕"/>
                <a:cs typeface="나눔고딕"/>
              </a:rPr>
              <a:t>독립성은 지키고</a:t>
            </a:r>
          </a:p>
          <a:p xmlns:a="http://schemas.openxmlformats.org/drawingml/2006/main">
            <a:pPr algn="ctr">
              <a:buClr>
                <a:srgbClr val="000000"/>
              </a:buClr>
              <a:buFont typeface="Arial"/>
              <a:buNone/>
            </a:pPr>
            <a:r>
              <a:rPr b="1">
                <a:solidFill>
                  <a:schemeClr val="bg1"/>
                </a:solidFill>
                <a:latin typeface="나눔고딕"/>
                <a:ea typeface="나눔고딕"/>
                <a:cs typeface="나눔고딕"/>
              </a:rPr>
              <a:t>여행 경험은 하나로 연결</a:t>
            </a:r>
          </a:p>
        </p:txBody>
      </p:sp>
      <p:sp>
        <p:nvSpPr>
          <p:cNvPr id="16" name="AutoShape 1073">
            <a:extLst xmlns:a="http://schemas.openxmlformats.org/drawingml/2006/main">
              <a:ext uri="{FF2B5EF4-FFF2-40B4-BE49-F238E27FC236}">
                <a16:creationId xmlns:a16="http://schemas.microsoft.com/office/drawing/2014/main" id="{C46E2062-1BD1-41E4-BB85-27970B07D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202" y="2432230"/>
            <a:ext cx="8155110" cy="393789"/>
          </a:xfrm>
          <a:prstGeom xmlns:a="http://schemas.openxmlformats.org/drawingml/2006/main" prst="roundRect">
            <a:avLst>
              <a:gd name="adj" fmla="val 12278"/>
            </a:avLst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46800" rIns="0" bIns="46800" anchor="ctr"/>
          <a:lstStyle xmlns:a="http://schemas.openxmlformats.org/drawingml/2006/main">
            <a:lvl1pPr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1pPr>
            <a:lvl2pPr marL="742950" indent="-28575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2pPr>
            <a:lvl3pPr marL="11430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3pPr>
            <a:lvl4pPr marL="16002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4pPr>
            <a:lvl5pPr marL="20574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9pPr>
          </a:lstStyle>
          <a:p xmlns:a="http://schemas.openxmlformats.org/drawingml/2006/main">
            <a:pPr algn="ctr">
              <a:buClr>
                <a:schemeClr val="accent2"/>
              </a:buClr>
              <a:buNone/>
            </a:pPr>
            <a:r>
              <a:rPr sz="1600" b="1">
                <a:latin typeface="나눔고딕"/>
                <a:ea typeface="나눔고딕"/>
                <a:cs typeface="나눔고딕"/>
              </a:rPr>
              <a:t>B2C · Partner · Admin · PMS를 분리한 통합 플랫폼</a:t>
            </a:r>
          </a:p>
        </p:txBody>
      </p:sp>
      <p:sp>
        <p:nvSpPr>
          <p:cNvPr id="17" name="사각형: 둥근 모서리 16">
            <a:extLst xmlns:a="http://schemas.openxmlformats.org/drawingml/2006/main">
              <a:ext uri="{FF2B5EF4-FFF2-40B4-BE49-F238E27FC236}">
                <a16:creationId xmlns:a16="http://schemas.microsoft.com/office/drawing/2014/main" id="{9227A528-23D7-430D-82C2-CC04E412A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097" y="4653136"/>
            <a:ext cx="7359190" cy="34588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tIns="0" bIns="0" anchor="ctr"/>
          <a:lstStyle xmlns:a="http://schemas.openxmlformats.org/drawingml/2006/main"/>
          <a:p xmlns:a="http://schemas.openxmlformats.org/drawingml/2006/main">
            <a:pPr algn="ctr">
              <a:buClr>
                <a:srgbClr val="000000"/>
              </a:buClr>
              <a:buFont typeface="Arial"/>
              <a:buNone/>
            </a:pPr>
            <a:r>
              <a:rPr sz="1400" b="1">
                <a:latin typeface="나눔고딕"/>
                <a:ea typeface="나눔고딕"/>
                <a:cs typeface="나눔고딕"/>
              </a:rPr>
              <a:t>책임 분리</a:t>
            </a:r>
          </a:p>
        </p:txBody>
      </p:sp>
      <p:sp>
        <p:nvSpPr>
          <p:cNvPr id="18" name="사각형: 둥근 모서리 17">
            <a:extLst xmlns:a="http://schemas.openxmlformats.org/drawingml/2006/main">
              <a:ext uri="{FF2B5EF4-FFF2-40B4-BE49-F238E27FC236}">
                <a16:creationId xmlns:a16="http://schemas.microsoft.com/office/drawing/2014/main" id="{9B1F9BE3-70A7-4D4D-8EE6-71B6AFED7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6035" y="5281071"/>
            <a:ext cx="1399410" cy="428931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BE3EE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Clr>
                <a:srgbClr val="000000"/>
              </a:buClr>
              <a:buFont typeface="Arial"/>
              <a:buNone/>
            </a:pPr>
          </a:p>
        </p:txBody>
      </p:sp>
      <p:sp>
        <p:nvSpPr>
          <p:cNvPr id="19" name="Text Box 1067">
            <a:extLst xmlns:a="http://schemas.openxmlformats.org/drawingml/2006/main">
              <a:ext uri="{FF2B5EF4-FFF2-40B4-BE49-F238E27FC236}">
                <a16:creationId xmlns:a16="http://schemas.microsoft.com/office/drawing/2014/main" id="{127D301A-BA50-4D6F-8A82-A09973BD4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4760" y="5357037"/>
            <a:ext cx="1821959" cy="2769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spAutoFit/>
          </a:bodyPr>
          <a:lstStyle xmlns:a="http://schemas.openxmlformats.org/drawingml/2006/main">
            <a:lvl1pPr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1pPr>
            <a:lvl2pPr marL="742950" indent="-28575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2pPr>
            <a:lvl3pPr marL="11430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3pPr>
            <a:lvl4pPr marL="16002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4pPr>
            <a:lvl5pPr marL="20574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9pPr>
          </a:lstStyle>
          <a:p xmlns:a="http://schemas.openxmlformats.org/drawingml/2006/main">
            <a:pPr algn="ctr">
              <a:buNone/>
            </a:pPr>
            <a:r>
              <a:rPr b="1">
                <a:latin typeface="나눔고딕"/>
                <a:ea typeface="나눔고딕"/>
                <a:cs typeface="나눔고딕"/>
              </a:rPr>
              <a:t>API FIRST</a:t>
            </a:r>
          </a:p>
        </p:txBody>
      </p:sp>
      <p:cxnSp>
        <p:nvCxnSpPr>
          <p:cNvPr id="65" name="연결선: 꺾임 20"/>
          <p:cNvCxnSpPr/>
          <p:nvPr/>
        </p:nvCxnSpPr>
        <p:spPr>
          <a:xfrm xmlns:a="http://schemas.openxmlformats.org/drawingml/2006/main" rot="0" flipH="0" flipV="1">
            <a:off x="5514397" y="5218539"/>
            <a:ext cx="647542" cy="280326"/>
          </a:xfrm>
          <a:prstGeom xmlns:a="http://schemas.openxmlformats.org/drawingml/2006/main" prst="bentConnector3">
            <a:avLst/>
          </a:prstGeom>
          <a:ln xmlns:a="http://schemas.openxmlformats.org/drawingml/2006/main">
            <a:solidFill>
              <a:srgbClr val="C7B38F"/>
            </a:solidFill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66" name="연결선: 꺾임 21"/>
          <p:cNvCxnSpPr/>
          <p:nvPr/>
        </p:nvCxnSpPr>
        <p:spPr>
          <a:xfrm xmlns:a="http://schemas.openxmlformats.org/drawingml/2006/main" rot="0" flipH="0" flipV="0">
            <a:off x="5514397" y="5498865"/>
            <a:ext cx="647542" cy="346166"/>
          </a:xfrm>
          <a:prstGeom xmlns:a="http://schemas.openxmlformats.org/drawingml/2006/main" prst="bentConnector3">
            <a:avLst/>
          </a:prstGeom>
          <a:ln xmlns:a="http://schemas.openxmlformats.org/drawingml/2006/main">
            <a:solidFill>
              <a:srgbClr val="C7B38F"/>
            </a:solidFill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67" name="연결선: 꺾임 23"/>
          <p:cNvCxnSpPr/>
          <p:nvPr/>
        </p:nvCxnSpPr>
        <p:spPr>
          <a:xfrm xmlns:a="http://schemas.openxmlformats.org/drawingml/2006/main" rot="10800000" flipH="0" flipV="0">
            <a:off x="-8573939" y="5218539"/>
            <a:ext cx="647542" cy="276999"/>
          </a:xfrm>
          <a:prstGeom xmlns:a="http://schemas.openxmlformats.org/drawingml/2006/main" prst="bentConnector3">
            <a:avLst/>
          </a:prstGeom>
          <a:ln xmlns:a="http://schemas.openxmlformats.org/drawingml/2006/main">
            <a:solidFill>
              <a:srgbClr val="C7B38F"/>
            </a:solidFill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68" name="연결선: 꺾임 24"/>
          <p:cNvCxnSpPr/>
          <p:nvPr/>
        </p:nvCxnSpPr>
        <p:spPr>
          <a:xfrm xmlns:a="http://schemas.openxmlformats.org/drawingml/2006/main" rot="0" flipH="1" flipV="0">
            <a:off x="-8573939" y="5495537"/>
            <a:ext cx="647542" cy="346166"/>
          </a:xfrm>
          <a:prstGeom xmlns:a="http://schemas.openxmlformats.org/drawingml/2006/main" prst="bentConnector3">
            <a:avLst/>
          </a:prstGeom>
          <a:ln xmlns:a="http://schemas.openxmlformats.org/drawingml/2006/main">
            <a:solidFill>
              <a:srgbClr val="C7B38F"/>
            </a:solidFill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26" name="Text Box 1059">
            <a:extLst xmlns:a="http://schemas.openxmlformats.org/drawingml/2006/main">
              <a:ext uri="{FF2B5EF4-FFF2-40B4-BE49-F238E27FC236}">
                <a16:creationId xmlns:a16="http://schemas.microsoft.com/office/drawing/2014/main" id="{1ECA50C8-87E4-43BB-8927-5FB42570C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4608" y="5590401"/>
            <a:ext cx="2016224" cy="4308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1pPr>
            <a:lvl2pPr marL="742950" indent="-28575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2pPr>
            <a:lvl3pPr marL="11430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3pPr>
            <a:lvl4pPr marL="16002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4pPr>
            <a:lvl5pPr marL="20574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9pPr>
          </a:lstStyle>
          <a:p xmlns:a="http://schemas.openxmlformats.org/drawingml/2006/main">
            <a:pPr>
              <a:buNone/>
            </a:pPr>
            <a:r>
              <a:rPr sz="1100" b="1">
                <a:latin typeface="나눔고딕"/>
                <a:ea typeface="나눔고딕"/>
                <a:cs typeface="나눔고딕"/>
              </a:rPr>
              <a:t>• 호텔 공개 콘텐츠와 PMS 운영 데이터의 소유권 분리</a:t>
            </a:r>
          </a:p>
        </p:txBody>
      </p:sp>
      <p:sp>
        <p:nvSpPr>
          <p:cNvPr id="27" name="Text Box 1059">
            <a:extLst xmlns:a="http://schemas.openxmlformats.org/drawingml/2006/main">
              <a:ext uri="{FF2B5EF4-FFF2-40B4-BE49-F238E27FC236}">
                <a16:creationId xmlns:a16="http://schemas.microsoft.com/office/drawing/2014/main" id="{21413528-3D4D-43BA-92A5-64FEE2C9A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9143" y="5039197"/>
            <a:ext cx="2245143" cy="4308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>
              <a:buNone/>
              <a:defRPr sz="1100" b="1">
                <a:latin typeface="+mn-ea"/>
                <a:ea typeface="+mn-ea"/>
                <a:cs typeface="+mn-ea"/>
              </a:defRPr>
            </a:lvl1pPr>
            <a:lvl2pPr marL="742950" indent="-285750">
              <a:buNone/>
              <a:defRPr sz="1200">
                <a:latin typeface="굴림"/>
                <a:ea typeface="굴림"/>
                <a:cs typeface="굴림"/>
              </a:defRPr>
            </a:lvl2pPr>
            <a:lvl3pPr marL="1143000" indent="-228600">
              <a:buNone/>
              <a:defRPr sz="1200">
                <a:latin typeface="굴림"/>
                <a:ea typeface="굴림"/>
                <a:cs typeface="굴림"/>
              </a:defRPr>
            </a:lvl3pPr>
            <a:lvl4pPr marL="1600200" indent="-228600">
              <a:buNone/>
              <a:defRPr sz="1200">
                <a:latin typeface="굴림"/>
                <a:ea typeface="굴림"/>
                <a:cs typeface="굴림"/>
              </a:defRPr>
            </a:lvl4pPr>
            <a:lvl5pPr marL="2057400" indent="-228600">
              <a:buNone/>
              <a:defRPr sz="1200">
                <a:latin typeface="굴림"/>
                <a:ea typeface="굴림"/>
                <a:cs typeface="굴림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 sz="1200">
                <a:latin typeface="굴림"/>
                <a:ea typeface="굴림"/>
                <a:cs typeface="굴림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 sz="1200">
                <a:latin typeface="굴림"/>
                <a:ea typeface="굴림"/>
                <a:cs typeface="굴림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 sz="1200">
                <a:latin typeface="굴림"/>
                <a:ea typeface="굴림"/>
                <a:cs typeface="굴림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 sz="1200">
                <a:latin typeface="굴림"/>
                <a:ea typeface="굴림"/>
                <a:cs typeface="굴림"/>
              </a:defRPr>
            </a:lvl9pPr>
          </a:lstStyle>
          <a:p xmlns:a="http://schemas.openxmlformats.org/drawingml/2006/main">
            <a:r>
              <a:rPr>
                <a:latin typeface="나눔고딕"/>
                <a:ea typeface="나눔고딕"/>
                <a:cs typeface="나눔고딕"/>
              </a:rPr>
              <a:t>• 파트너 승인·정산·감사 로그는 플랫폼 관리 영역</a:t>
            </a:r>
          </a:p>
        </p:txBody>
      </p:sp>
      <p:sp>
        <p:nvSpPr>
          <p:cNvPr id="28" name="Text Box 1059">
            <a:extLst xmlns:a="http://schemas.openxmlformats.org/drawingml/2006/main">
              <a:ext uri="{FF2B5EF4-FFF2-40B4-BE49-F238E27FC236}">
                <a16:creationId xmlns:a16="http://schemas.microsoft.com/office/drawing/2014/main" id="{DA221758-3EA0-4588-A66C-A7D2BAD77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9144" y="5590401"/>
            <a:ext cx="2016224" cy="4308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>
              <a:buNone/>
              <a:defRPr sz="1100" b="1">
                <a:latin typeface="+mn-ea"/>
                <a:ea typeface="+mn-ea"/>
                <a:cs typeface="+mn-ea"/>
              </a:defRPr>
            </a:lvl1pPr>
            <a:lvl2pPr marL="742950" indent="-285750">
              <a:buNone/>
              <a:defRPr sz="1200">
                <a:latin typeface="굴림"/>
                <a:ea typeface="굴림"/>
                <a:cs typeface="굴림"/>
              </a:defRPr>
            </a:lvl2pPr>
            <a:lvl3pPr marL="1143000" indent="-228600">
              <a:buNone/>
              <a:defRPr sz="1200">
                <a:latin typeface="굴림"/>
                <a:ea typeface="굴림"/>
                <a:cs typeface="굴림"/>
              </a:defRPr>
            </a:lvl3pPr>
            <a:lvl4pPr marL="1600200" indent="-228600">
              <a:buNone/>
              <a:defRPr sz="1200">
                <a:latin typeface="굴림"/>
                <a:ea typeface="굴림"/>
                <a:cs typeface="굴림"/>
              </a:defRPr>
            </a:lvl4pPr>
            <a:lvl5pPr marL="2057400" indent="-228600">
              <a:buNone/>
              <a:defRPr sz="1200">
                <a:latin typeface="굴림"/>
                <a:ea typeface="굴림"/>
                <a:cs typeface="굴림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 sz="1200">
                <a:latin typeface="굴림"/>
                <a:ea typeface="굴림"/>
                <a:cs typeface="굴림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 sz="1200">
                <a:latin typeface="굴림"/>
                <a:ea typeface="굴림"/>
                <a:cs typeface="굴림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 sz="1200">
                <a:latin typeface="굴림"/>
                <a:ea typeface="굴림"/>
                <a:cs typeface="굴림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 sz="1200">
                <a:latin typeface="굴림"/>
                <a:ea typeface="굴림"/>
                <a:cs typeface="굴림"/>
              </a:defRPr>
            </a:lvl9pPr>
          </a:lstStyle>
          <a:p xmlns:a="http://schemas.openxmlformats.org/drawingml/2006/main">
            <a:r>
              <a:rPr>
                <a:latin typeface="나눔고딕"/>
                <a:ea typeface="나눔고딕"/>
                <a:cs typeface="나눔고딕"/>
              </a:rPr>
              <a:t>• JSON Mock 계약을 실제 API로 교체 가능한 구조</a:t>
            </a:r>
          </a:p>
        </p:txBody>
      </p:sp>
      <p:sp>
        <p:nvSpPr>
          <p:cNvPr id="32" name="직사각형 31">
            <a:extLst xmlns:a="http://schemas.openxmlformats.org/drawingml/2006/main">
              <a:ext uri="{FF2B5EF4-FFF2-40B4-BE49-F238E27FC236}">
                <a16:creationId xmlns:a16="http://schemas.microsoft.com/office/drawing/2014/main" id="{08F828A6-21D3-4344-A304-3F25615B6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087" y="3348469"/>
            <a:ext cx="2808697" cy="122285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350">
            <a:solidFill>
              <a:schemeClr val="bg1">
                <a:lumMod val="65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>
                <a:solidFill>
                  <a:schemeClr val="tx1"/>
                </a:solidFill>
                <a:latin typeface="나눔고딕"/>
                <a:ea typeface="나눔고딕"/>
                <a:cs typeface="나눔고딕"/>
              </a:rPr>
              <a:t>  </a:t>
            </a:r>
          </a:p>
        </p:txBody>
      </p:sp>
      <p:sp>
        <p:nvSpPr>
          <p:cNvPr id="33" name="직사각형 32">
            <a:extLst xmlns:a="http://schemas.openxmlformats.org/drawingml/2006/main">
              <a:ext uri="{FF2B5EF4-FFF2-40B4-BE49-F238E27FC236}">
                <a16:creationId xmlns:a16="http://schemas.microsoft.com/office/drawing/2014/main" id="{C56ADAF5-7FFB-4EF1-A92F-865832FA7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6704" y="3348469"/>
            <a:ext cx="2808697" cy="122285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350">
            <a:solidFill>
              <a:schemeClr val="bg1">
                <a:lumMod val="65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>
                <a:solidFill>
                  <a:schemeClr val="tx1"/>
                </a:solidFill>
                <a:latin typeface="나눔고딕"/>
                <a:ea typeface="나눔고딕"/>
                <a:cs typeface="나눔고딕"/>
              </a:rPr>
              <a:t>  </a:t>
            </a:r>
          </a:p>
        </p:txBody>
      </p:sp>
      <p:sp>
        <p:nvSpPr>
          <p:cNvPr id="34" name="직사각형 33">
            <a:extLst xmlns:a="http://schemas.openxmlformats.org/drawingml/2006/main">
              <a:ext uri="{FF2B5EF4-FFF2-40B4-BE49-F238E27FC236}">
                <a16:creationId xmlns:a16="http://schemas.microsoft.com/office/drawing/2014/main" id="{F00FDFFB-2264-49DF-9081-626215A8F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6665" y="3348469"/>
            <a:ext cx="2807497" cy="122285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350">
            <a:solidFill>
              <a:schemeClr val="bg1">
                <a:lumMod val="65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>
                <a:solidFill>
                  <a:schemeClr val="tx1"/>
                </a:solidFill>
                <a:latin typeface="나눔고딕"/>
                <a:ea typeface="나눔고딕"/>
                <a:cs typeface="나눔고딕"/>
              </a:rPr>
              <a:t>  </a:t>
            </a:r>
          </a:p>
        </p:txBody>
      </p:sp>
      <p:sp>
        <p:nvSpPr>
          <p:cNvPr id="35" name="Text Box 1078">
            <a:extLst xmlns:a="http://schemas.openxmlformats.org/drawingml/2006/main">
              <a:ext uri="{FF2B5EF4-FFF2-40B4-BE49-F238E27FC236}">
                <a16:creationId xmlns:a16="http://schemas.microsoft.com/office/drawing/2014/main" id="{702D5D0A-CE8A-41E3-B5FF-9B3172961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036" y="3391772"/>
            <a:ext cx="2779928" cy="11310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1pPr>
            <a:lvl2pPr marL="742950" indent="-28575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2pPr>
            <a:lvl3pPr marL="11430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3pPr>
            <a:lvl4pPr marL="16002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4pPr>
            <a:lvl5pPr marL="20574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9pPr>
          </a:lstStyle>
          <a:p xmlns:a="http://schemas.openxmlformats.org/drawingml/2006/main">
            <a:pPr>
              <a:spcBef>
                <a:spcPts val="600"/>
              </a:spcBef>
              <a:buFont typeface="Wingdings 3"/>
              <a:buChar char="}"/>
            </a:pPr>
            <a:r>
              <a:rPr sz="1050">
                <a:latin typeface="나눔고딕"/>
                <a:ea typeface="나눔고딕"/>
                <a:cs typeface="나눔고딕"/>
              </a:rPr>
              <a:t>회원·발견·일정·카트·예약</a:t>
            </a:r>
          </a:p>
          <a:p xmlns:a="http://schemas.openxmlformats.org/drawingml/2006/main">
            <a:pPr>
              <a:spcBef>
                <a:spcPts val="600"/>
              </a:spcBef>
              <a:buFont typeface="Wingdings 3"/>
              <a:buChar char="}"/>
            </a:pPr>
            <a:r>
              <a:rPr sz="1050">
                <a:ln w="11430">
                  <a:noFill/>
                </a:ln>
                <a:latin typeface="나눔고딕"/>
                <a:ea typeface="나눔고딕"/>
                <a:cs typeface="나눔고딕"/>
              </a:rPr>
              <a:t>리뷰·고객센터</a:t>
            </a:r>
          </a:p>
        </p:txBody>
      </p:sp>
      <p:sp>
        <p:nvSpPr>
          <p:cNvPr id="36" name="Text Box 1078">
            <a:extLst xmlns:a="http://schemas.openxmlformats.org/drawingml/2006/main">
              <a:ext uri="{FF2B5EF4-FFF2-40B4-BE49-F238E27FC236}">
                <a16:creationId xmlns:a16="http://schemas.microsoft.com/office/drawing/2014/main" id="{DEAE33C5-46D8-4BD7-BCCF-FA48AB3B0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0226" y="3391772"/>
            <a:ext cx="2892138" cy="11387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spcBef>
                <a:spcPts val="600"/>
              </a:spcBef>
              <a:buFont typeface="Wingdings 3"/>
              <a:buChar char="}"/>
              <a:defRPr sz="1050">
                <a:latin typeface="나눔고딕"/>
                <a:ea typeface="나눔고딕"/>
                <a:cs typeface="나눔고딕"/>
              </a:defRPr>
            </a:lvl1pPr>
            <a:lvl2pPr marL="742950" indent="-285750">
              <a:buNone/>
              <a:defRPr sz="1200">
                <a:latin typeface="굴림"/>
                <a:ea typeface="굴림"/>
                <a:cs typeface="굴림"/>
              </a:defRPr>
            </a:lvl2pPr>
            <a:lvl3pPr marL="1143000" indent="-228600">
              <a:buNone/>
              <a:defRPr sz="1200">
                <a:latin typeface="굴림"/>
                <a:ea typeface="굴림"/>
                <a:cs typeface="굴림"/>
              </a:defRPr>
            </a:lvl3pPr>
            <a:lvl4pPr marL="1600200" indent="-228600">
              <a:buNone/>
              <a:defRPr sz="1200">
                <a:latin typeface="굴림"/>
                <a:ea typeface="굴림"/>
                <a:cs typeface="굴림"/>
              </a:defRPr>
            </a:lvl4pPr>
            <a:lvl5pPr marL="2057400" indent="-228600">
              <a:buNone/>
              <a:defRPr sz="1200">
                <a:latin typeface="굴림"/>
                <a:ea typeface="굴림"/>
                <a:cs typeface="굴림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 sz="1200">
                <a:latin typeface="굴림"/>
                <a:ea typeface="굴림"/>
                <a:cs typeface="굴림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 sz="1200">
                <a:latin typeface="굴림"/>
                <a:ea typeface="굴림"/>
                <a:cs typeface="굴림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 sz="1200">
                <a:latin typeface="굴림"/>
                <a:ea typeface="굴림"/>
                <a:cs typeface="굴림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 sz="1200">
                <a:latin typeface="굴림"/>
                <a:ea typeface="굴림"/>
                <a:cs typeface="굴림"/>
              </a:defRPr>
            </a:lvl9pPr>
          </a:lstStyle>
          <a:p xmlns:a="http://schemas.openxmlformats.org/drawingml/2006/main">
            <a:r>
              <a:t>호텔·파트너·관리자</a:t>
            </a:r>
          </a:p>
          <a:p xmlns:a="http://schemas.openxmlformats.org/drawingml/2006/main">
            <a:r>
              <a:t>상품·재고·예약·정산</a:t>
            </a:r>
          </a:p>
        </p:txBody>
      </p:sp>
      <p:sp>
        <p:nvSpPr>
          <p:cNvPr id="37" name="Text Box 1078">
            <a:extLst xmlns:a="http://schemas.openxmlformats.org/drawingml/2006/main">
              <a:ext uri="{FF2B5EF4-FFF2-40B4-BE49-F238E27FC236}">
                <a16:creationId xmlns:a16="http://schemas.microsoft.com/office/drawing/2014/main" id="{E49E58D5-12D6-4D3B-83F1-0C24B1DC9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0265" y="3378407"/>
            <a:ext cx="2787943" cy="10926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1pPr>
            <a:lvl2pPr marL="742950" indent="-28575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2pPr>
            <a:lvl3pPr marL="11430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3pPr>
            <a:lvl4pPr marL="16002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4pPr>
            <a:lvl5pPr marL="20574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9pPr>
          </a:lstStyle>
          <a:p xmlns:a="http://schemas.openxmlformats.org/drawingml/2006/main">
            <a:pPr>
              <a:spcBef>
                <a:spcPts val="500"/>
              </a:spcBef>
              <a:buFont typeface="Wingdings 3"/>
              <a:buChar char="}"/>
            </a:pPr>
            <a:r>
              <a:rPr sz="1050">
                <a:latin typeface="나눔고딕"/>
                <a:ea typeface="나눔고딕"/>
                <a:cs typeface="나눔고딕"/>
              </a:rPr>
              <a:t>공급 계약·PMS 채널</a:t>
            </a:r>
          </a:p>
          <a:p xmlns:a="http://schemas.openxmlformats.org/drawingml/2006/main">
            <a:pPr>
              <a:spcBef>
                <a:spcPts val="500"/>
              </a:spcBef>
              <a:buFont typeface="Wingdings 3"/>
              <a:buChar char="}"/>
            </a:pPr>
            <a:r>
              <a:rPr sz="1050">
                <a:ln w="11430">
                  <a:noFill/>
                </a:ln>
                <a:latin typeface="나눔고딕"/>
                <a:ea typeface="나눔고딕"/>
                <a:cs typeface="나눔고딕"/>
              </a:rPr>
              <a:t>PG·지도·알림·AI/RAG</a:t>
            </a:r>
          </a:p>
        </p:txBody>
      </p:sp>
      <p:sp>
        <p:nvSpPr>
          <p:cNvPr id="38" name="직사각형 37">
            <a:extLst xmlns:a="http://schemas.openxmlformats.org/drawingml/2006/main">
              <a:ext uri="{FF2B5EF4-FFF2-40B4-BE49-F238E27FC236}">
                <a16:creationId xmlns:a16="http://schemas.microsoft.com/office/drawing/2014/main" id="{B1518440-D941-4F63-9C43-FF2511259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087" y="2865869"/>
            <a:ext cx="2811446" cy="48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9EF1"/>
          </a:solidFill>
          <a:ln xmlns:a="http://schemas.openxmlformats.org/drawingml/2006/main" w="9525">
            <a:noFill/>
          </a:ln>
        </p:spPr>
        <p:txBody>
          <a:bodyPr xmlns:a="http://schemas.openxmlformats.org/drawingml/2006/main" wrap="none" lIns="0" rIns="0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spcBef>
                <a:spcPts val="600"/>
              </a:spcBef>
              <a:buNone/>
            </a:pPr>
            <a:r>
              <a:rPr sz="1300" b="1">
                <a:ln>
                  <a:solidFill>
                    <a:srgbClr val="CCECFF">
                      <a:alpha val="0"/>
                    </a:srgbClr>
                  </a:solidFill>
                </a:ln>
                <a:solidFill>
                  <a:schemeClr val="bg1"/>
                </a:solidFill>
                <a:latin typeface="나눔고딕"/>
                <a:ea typeface="나눔고딕"/>
                <a:cs typeface="나눔고딕"/>
              </a:rPr>
              <a:t>B2C 고객 영역</a:t>
            </a:r>
          </a:p>
        </p:txBody>
      </p:sp>
      <p:sp>
        <p:nvSpPr>
          <p:cNvPr id="39" name="직사각형 38">
            <a:extLst xmlns:a="http://schemas.openxmlformats.org/drawingml/2006/main">
              <a:ext uri="{FF2B5EF4-FFF2-40B4-BE49-F238E27FC236}">
                <a16:creationId xmlns:a16="http://schemas.microsoft.com/office/drawing/2014/main" id="{1E9B8607-6B74-409B-9702-B4D862CD1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6665" y="2865869"/>
            <a:ext cx="2807497" cy="48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9EF1"/>
          </a:solidFill>
          <a:ln xmlns:a="http://schemas.openxmlformats.org/drawingml/2006/main" w="9525">
            <a:noFill/>
          </a:ln>
        </p:spPr>
        <p:txBody>
          <a:bodyPr xmlns:a="http://schemas.openxmlformats.org/drawingml/2006/main" wrap="none" lIns="0" r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1">
                <a:ln>
                  <a:solidFill>
                    <a:srgbClr val="CCECFF">
                      <a:alpha val="0"/>
                    </a:srgbClr>
                  </a:solidFill>
                </a:ln>
                <a:solidFill>
                  <a:schemeClr val="bg1"/>
                </a:solidFill>
                <a:latin typeface="나눔고딕"/>
                <a:ea typeface="나눔고딕"/>
                <a:cs typeface="나눔고딕"/>
              </a:rPr>
              <a:t>공급·운영 영역</a:t>
            </a:r>
          </a:p>
        </p:txBody>
      </p:sp>
      <p:sp>
        <p:nvSpPr>
          <p:cNvPr id="40" name="직사각형 39">
            <a:extLst xmlns:a="http://schemas.openxmlformats.org/drawingml/2006/main">
              <a:ext uri="{FF2B5EF4-FFF2-40B4-BE49-F238E27FC236}">
                <a16:creationId xmlns:a16="http://schemas.microsoft.com/office/drawing/2014/main" id="{6BDD85B1-23E7-49B9-8DEB-FCF2ACF69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6704" y="2852504"/>
            <a:ext cx="2807497" cy="48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9EF1"/>
          </a:solidFill>
          <a:ln xmlns:a="http://schemas.openxmlformats.org/drawingml/2006/main" w="9525">
            <a:noFill/>
          </a:ln>
        </p:spPr>
        <p:txBody>
          <a:bodyPr xmlns:a="http://schemas.openxmlformats.org/drawingml/2006/main" wrap="none" lIns="0" rIns="0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spcBef>
                <a:spcPts val="600"/>
              </a:spcBef>
              <a:buNone/>
            </a:pPr>
            <a:r>
              <a:rPr sz="1300" b="1">
                <a:ln>
                  <a:solidFill>
                    <a:srgbClr val="CCECFF">
                      <a:alpha val="0"/>
                    </a:srgbClr>
                  </a:solidFill>
                </a:ln>
                <a:solidFill>
                  <a:schemeClr val="bg1"/>
                </a:solidFill>
                <a:latin typeface="나눔고딕"/>
                <a:ea typeface="나눔고딕"/>
                <a:cs typeface="나눔고딕"/>
              </a:rPr>
              <a:t>데이터·연계 영역</a:t>
            </a:r>
          </a:p>
        </p:txBody>
      </p:sp>
      <p:sp>
        <p:nvSpPr>
          <p:cNvPr id="30" name="AutoShape 1073">
            <a:extLst xmlns:a="http://schemas.openxmlformats.org/drawingml/2006/main">
              <a:ext uri="{FF2B5EF4-FFF2-40B4-BE49-F238E27FC236}">
                <a16:creationId xmlns:a16="http://schemas.microsoft.com/office/drawing/2014/main" id="{7AE85CCB-A499-464E-8F37-5A3EB5D68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087" y="6102821"/>
            <a:ext cx="8599625" cy="330307"/>
          </a:xfrm>
          <a:prstGeom xmlns:a="http://schemas.openxmlformats.org/drawingml/2006/main" prst="roundRect">
            <a:avLst>
              <a:gd name="adj" fmla="val 12278"/>
            </a:avLst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46800" rIns="0" bIns="46800" anchor="ctr"/>
          <a:lstStyle xmlns:a="http://schemas.openxmlformats.org/drawingml/2006/main">
            <a:lvl1pPr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1pPr>
            <a:lvl2pPr marL="742950" indent="-28575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2pPr>
            <a:lvl3pPr marL="11430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3pPr>
            <a:lvl4pPr marL="16002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4pPr>
            <a:lvl5pPr marL="20574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9pPr>
          </a:lstStyle>
          <a:p xmlns:a="http://schemas.openxmlformats.org/drawingml/2006/main">
            <a:pPr>
              <a:buClr>
                <a:schemeClr val="accent2"/>
              </a:buClr>
              <a:buNone/>
            </a:pPr>
            <a:r>
              <a:rPr sz="1000">
                <a:latin typeface="나눔고딕"/>
                <a:ea typeface="나눔고딕"/>
                <a:cs typeface="나눔고딕"/>
              </a:rPr>
              <a:t>독립 시스템 간에는 최소 정보, 명시적 권한, 요청 추적 ID를 적용합니다.</a:t>
            </a:r>
          </a:p>
        </p:txBody>
      </p:sp>
      <p:sp>
        <p:nvSpPr>
          <p:cNvPr id="2" name="슬라이드 번호 개체 틀 1">
            <a:extLst xmlns:a="http://schemas.openxmlformats.org/drawingml/2006/main">
              <a:ext uri="{FF2B5EF4-FFF2-40B4-BE49-F238E27FC236}">
                <a16:creationId xmlns:a16="http://schemas.microsoft.com/office/drawing/2014/main" id="{DDFC9716-A9B0-4549-A5B9-FE0891C55E6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0394428-F1DC-E5F6-DB0C-7DE31F3D8A23}" type="slidenum">
              <a:rPr>
                <a:latin typeface="나눔고딕"/>
                <a:ea typeface="나눔고딕"/>
                <a:cs typeface="나눔고딕"/>
              </a:rPr>
              <a:t>11</a:t>
            </a:fld>
          </a:p>
        </p:txBody>
      </p:sp>
    </p:spTree>
    <p:extLst>
      <p:ext uri="{BB962C8B-B14F-4D97-AF65-F5344CB8AC3E}">
        <p14:creationId xmlns:p14="http://schemas.microsoft.com/office/powerpoint/2010/main" val="2112425122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71">
            <a:extLst xmlns:a="http://schemas.openxmlformats.org/drawingml/2006/main">
              <a:ext uri="{FF2B5EF4-FFF2-40B4-BE49-F238E27FC236}">
                <a16:creationId xmlns:a16="http://schemas.microsoft.com/office/drawing/2014/main" id="{E4D0D23B-6314-4E5A-88BF-20A960957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487" y="71414"/>
            <a:ext cx="6768753" cy="57150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6800" rIns="91440" bIns="46800" anchor="b">
            <a:normAutofit fontScale="100000"/>
          </a:bodyPr>
          <a:lstStyle xmlns:a="http://schemas.openxmlformats.org/drawingml/2006/main">
            <a:lvl1pPr>
              <a:spcBef>
                <a:spcPct val="0"/>
              </a:spcBef>
              <a:buNone/>
              <a:defRPr b="1">
                <a:solidFill>
                  <a:schemeClr val="bg1"/>
                </a:solidFill>
                <a:latin typeface="나눔고딕"/>
                <a:ea typeface="나눔고딕"/>
                <a:cs typeface="나눔고딕"/>
              </a:defRPr>
            </a:lvl1pPr>
          </a:lstStyle>
          <a:p xmlns:a="http://schemas.openxmlformats.org/drawingml/2006/main">
            <a:r>
              <a:t>4. 발견·일정·예약을 하나의 여정 데이터로 연결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DB8C8546-84A5-4652-840C-F8F56ECA1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512" y="1268760"/>
            <a:ext cx="8945580" cy="6065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1300" b="1">
                <a:latin typeface="나눔고딕"/>
                <a:ea typeface="나눔고딕"/>
                <a:cs typeface="나눔고딕"/>
              </a:rPr>
              <a:t>모든 메뉴는 목적지·기간·동행·예산이라는 공통 여행 조건을 읽고, 고객 선택을 날짜별 ItineraryItem과 거래 가능한 Booking으로 이어가도록 합니다.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86396C04-5831-40D4-913F-A6E8D89F9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488" y="836712"/>
            <a:ext cx="8945580" cy="4084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1600" b="1">
                <a:latin typeface="나눔고딕"/>
                <a:ea typeface="나눔고딕"/>
                <a:cs typeface="나눔고딕"/>
              </a:rPr>
              <a:t>고객 여정과 플랫폼 연계</a:t>
            </a:r>
          </a:p>
        </p:txBody>
      </p:sp>
      <p:sp>
        <p:nvSpPr>
          <p:cNvPr id="6" name="모서리가 둥근 직사각형 146">
            <a:extLst xmlns:a="http://schemas.openxmlformats.org/drawingml/2006/main">
              <a:ext uri="{FF2B5EF4-FFF2-40B4-BE49-F238E27FC236}">
                <a16:creationId xmlns:a16="http://schemas.microsoft.com/office/drawing/2014/main" id="{768D02EB-679C-45A3-9937-99B5A8C4F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2674" y="2630200"/>
            <a:ext cx="5179088" cy="360711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1">
              <a:lumMod val="95000"/>
              <a:alpha val="70000"/>
            </a:schemeClr>
          </a:solidFill>
          <a:ln xmlns:a="http://schemas.openxmlformats.org/drawingml/2006/main" w="6350">
            <a:noFill/>
          </a:ln>
        </p:spPr>
        <p:txBody>
          <a:bodyPr xmlns:a="http://schemas.openxmlformats.org/drawingml/2006/main" vert="horz" wrap="square" lIns="36000" tIns="36000" rIns="36000" bIns="36000" anchor="ctr"/>
          <a:lstStyle xmlns:a="http://schemas.openxmlformats.org/drawingml/2006/main"/>
          <a:p xmlns:a="http://schemas.openxmlformats.org/drawingml/2006/main">
            <a:pPr lvl="1">
              <a:buNone/>
            </a:pPr>
          </a:p>
        </p:txBody>
      </p:sp>
      <p:sp>
        <p:nvSpPr>
          <p:cNvPr id="7" name="직선 연결선 6">
            <a:extLst xmlns:a="http://schemas.openxmlformats.org/drawingml/2006/main">
              <a:ext uri="{FF2B5EF4-FFF2-40B4-BE49-F238E27FC236}">
                <a16:creationId xmlns:a16="http://schemas.microsoft.com/office/drawing/2014/main" id="{5E089F8F-AE10-4FD7-BE40-004E9EB10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4784" y="2630199"/>
            <a:ext cx="0" cy="360710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16FA1"/>
            </a:solidFill>
            <a:prstDash val="solid"/>
          </a:ln>
        </p:spPr>
      </p:sp>
      <p:sp>
        <p:nvSpPr>
          <p:cNvPr id="8" name="직선 연결선 7">
            <a:extLst xmlns:a="http://schemas.openxmlformats.org/drawingml/2006/main">
              <a:ext uri="{FF2B5EF4-FFF2-40B4-BE49-F238E27FC236}">
                <a16:creationId xmlns:a16="http://schemas.microsoft.com/office/drawing/2014/main" id="{63EE2A3D-FE2C-4052-837B-3D78B31B5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67592" y="2630199"/>
            <a:ext cx="0" cy="360710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16FA1"/>
            </a:solidFill>
            <a:prstDash val="solid"/>
          </a:ln>
        </p:spPr>
      </p:sp>
      <p:sp>
        <p:nvSpPr>
          <p:cNvPr id="9" name="직선 연결선 8">
            <a:extLst xmlns:a="http://schemas.openxmlformats.org/drawingml/2006/main">
              <a:ext uri="{FF2B5EF4-FFF2-40B4-BE49-F238E27FC236}">
                <a16:creationId xmlns:a16="http://schemas.microsoft.com/office/drawing/2014/main" id="{94CA859B-02C1-4ED2-BF23-51F3E8516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8504" y="6237305"/>
            <a:ext cx="5179086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16FA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Freeform 5">
            <a:extLst xmlns:a="http://schemas.openxmlformats.org/drawingml/2006/main">
              <a:ext uri="{FF2B5EF4-FFF2-40B4-BE49-F238E27FC236}">
                <a16:creationId xmlns:a16="http://schemas.microsoft.com/office/drawing/2014/main" id="{5D147A6F-8D06-4EE4-B0E6-B18564F73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504" y="2120332"/>
            <a:ext cx="5179088" cy="444572"/>
          </a:xfrm>
          <a:custGeom xmlns:a="http://schemas.openxmlformats.org/drawingml/2006/main">
            <a:gdLst>
              <a:gd name="T0" fmla="*/ 0 w 3870"/>
              <a:gd name="T1" fmla="*/ 720 h 720"/>
              <a:gd name="T2" fmla="*/ 0 w 3870"/>
              <a:gd name="T3" fmla="*/ 0 h 720"/>
              <a:gd name="T4" fmla="*/ 3870 w 3870"/>
              <a:gd name="T5" fmla="*/ 0 h 720"/>
              <a:gd name="T6" fmla="*/ 3870 w 3870"/>
              <a:gd name="T7" fmla="*/ 720 h 720"/>
            </a:gdLst>
            <a:rect l="0" t="0" r="r" b="b"/>
            <a:pathLst>
              <a:path w="3870" h="720">
                <a:moveTo>
                  <a:pt x="0" y="720"/>
                </a:moveTo>
                <a:lnTo>
                  <a:pt x="0" y="0"/>
                </a:lnTo>
                <a:lnTo>
                  <a:pt x="3870" y="0"/>
                </a:lnTo>
                <a:lnTo>
                  <a:pt x="3870" y="720"/>
                </a:lnTo>
              </a:path>
            </a:pathLst>
          </a:custGeom>
          <a:solidFill xmlns:a="http://schemas.openxmlformats.org/drawingml/2006/main">
            <a:srgbClr val="003686"/>
          </a:solidFill>
          <a:ln xmlns:a="http://schemas.openxmlformats.org/drawingml/2006/main" w="19050" cmpd="sng">
            <a:noFill/>
            <a:prstDash val="solid"/>
          </a:ln>
        </p:spPr>
        <p:txBody>
          <a:bodyPr xmlns:a="http://schemas.openxmlformats.org/drawingml/2006/main" lIns="0" tIns="36000" rIns="0" bIns="0" anchor="ctr"/>
          <a:lstStyle xmlns:a="http://schemas.openxmlformats.org/drawingml/2006/main"/>
          <a:p xmlns:a="http://schemas.openxmlformats.org/drawingml/2006/main">
            <a:pPr algn="ctr" defTabSz="414772">
              <a:buNone/>
            </a:pPr>
            <a:r>
              <a:rPr sz="1200" b="1">
                <a:solidFill>
                  <a:schemeClr val="bg1"/>
                </a:solidFill>
                <a:latin typeface="나눔고딕"/>
                <a:ea typeface="나눔고딕"/>
                <a:cs typeface="나눔고딕"/>
              </a:rPr>
              <a:t>고객 여정</a:t>
            </a:r>
          </a:p>
        </p:txBody>
      </p:sp>
      <p:sp>
        <p:nvSpPr>
          <p:cNvPr id="11" name="직사각형 23">
            <a:extLst xmlns:a="http://schemas.openxmlformats.org/drawingml/2006/main">
              <a:ext uri="{FF2B5EF4-FFF2-40B4-BE49-F238E27FC236}">
                <a16:creationId xmlns:a16="http://schemas.microsoft.com/office/drawing/2014/main" id="{00D159CD-D3F3-4761-AC7B-F9BF9740D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418" y="2791663"/>
            <a:ext cx="31990" cy="2879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597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spcBef>
                <a:spcPts val="600"/>
              </a:spcBef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4079DC46-3D1C-4319-A092-F9C292EA7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230" y="3151703"/>
            <a:ext cx="4572483" cy="63224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</p:spPr>
        <p:txBody>
          <a:bodyPr xmlns:a="http://schemas.openxmlformats.org/drawingml/2006/main" wrap="none" tIns="36000" rIns="36000" bIns="36000" anchor="t">
            <a:noAutofit/>
          </a:bodyPr>
          <a:lstStyle xmlns:a="http://schemas.openxmlformats.org/drawingml/2006/main"/>
          <a:p xmlns:a="http://schemas.openxmlformats.org/drawingml/2006/main">
            <a:pPr marL="87313" indent="-87313" algn="l">
              <a:lnSpc>
                <a:spcPct val="120000"/>
              </a:lnSpc>
              <a:buFont typeface="Arial"/>
              <a:buChar char="•"/>
            </a:pPr>
            <a:r>
              <a:rPr sz="1000">
                <a:latin typeface="나눔고딕"/>
                <a:ea typeface="나눔고딕"/>
                <a:cs typeface="나눔고딕"/>
              </a:rPr>
              <a:t>스토리·랜드마크·인기 지역·테마 여행으로 목적지 후보를 넓힙니다.</a:t>
            </a:r>
          </a:p>
        </p:txBody>
      </p:sp>
      <p:sp>
        <p:nvSpPr>
          <p:cNvPr id="14" name="AutoShape 231">
            <a:extLst xmlns:a="http://schemas.openxmlformats.org/drawingml/2006/main">
              <a:ext uri="{FF2B5EF4-FFF2-40B4-BE49-F238E27FC236}">
                <a16:creationId xmlns:a16="http://schemas.microsoft.com/office/drawing/2014/main" id="{DD0F4D2F-9879-440C-839A-A74F17542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 flipH="1">
            <a:off x="2873307" y="583456"/>
            <a:ext cx="288000" cy="4704415"/>
          </a:xfrm>
          <a:prstGeom xmlns:a="http://schemas.openxmlformats.org/drawingml/2006/main" prst="round2SameRect">
            <a:avLst>
              <a:gd name="adj1" fmla="val 50000"/>
              <a:gd name="adj2" fmla="val 0"/>
            </a:avLst>
          </a:prstGeom>
          <a:solidFill xmlns:a="http://schemas.openxmlformats.org/drawingml/2006/main">
            <a:srgbClr val="599EF1"/>
          </a:solidFill>
          <a:ln xmlns:a="http://schemas.openxmlformats.org/drawingml/2006/main" w="9525">
            <a:noFill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spcBef>
                <a:spcPts val="600"/>
              </a:spcBef>
              <a:buNone/>
            </a:pPr>
          </a:p>
        </p:txBody>
      </p:sp>
      <p:sp>
        <p:nvSpPr>
          <p:cNvPr id="15" name="Text Box 91">
            <a:extLst xmlns:a="http://schemas.openxmlformats.org/drawingml/2006/main">
              <a:ext uri="{FF2B5EF4-FFF2-40B4-BE49-F238E27FC236}">
                <a16:creationId xmlns:a16="http://schemas.microsoft.com/office/drawing/2014/main" id="{3B5B757B-0CFF-449C-942C-D416C23F6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201" y="2842561"/>
            <a:ext cx="4574536" cy="1862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9EF1"/>
          </a:solidFill>
          <a:ln xmlns:a="http://schemas.openxmlformats.org/drawingml/2006/main" w="9525">
            <a:noFill/>
          </a:ln>
        </p:spPr>
        <p:txBody>
          <a:bodyPr xmlns:a="http://schemas.openxmlformats.org/drawingml/2006/main" wrap="square" anchor="ctr"/>
          <a:lstStyle xmlns:a="http://schemas.openxmlformats.org/drawingml/2006/main">
            <a:lvl1pPr algn="ctr">
              <a:lnSpc>
                <a:spcPct val="120000"/>
              </a:lnSpc>
              <a:spcBef>
                <a:spcPts val="600"/>
              </a:spcBef>
              <a:buNone/>
              <a:defRPr sz="1100" b="1">
                <a:ln>
                  <a:solidFill>
                    <a:srgbClr val="CCECFF">
                      <a:alpha val="0"/>
                    </a:srgbClr>
                  </a:solidFill>
                </a:ln>
                <a:solidFill>
                  <a:srgbClr val="4D4D4D"/>
                </a:solidFill>
                <a:latin typeface="나눔고딕"/>
                <a:ea typeface="나눔고딕"/>
                <a:cs typeface="나눔고딕"/>
              </a:defRPr>
            </a:lvl1pPr>
          </a:lstStyle>
          <a:p xmlns:a="http://schemas.openxmlformats.org/drawingml/2006/main">
            <a:pPr algn="l">
              <a:buNone/>
            </a:pPr>
            <a:r>
              <a:rPr>
                <a:solidFill>
                  <a:schemeClr val="bg1"/>
                </a:solidFill>
              </a:rPr>
              <a:t>1. 발견</a:t>
            </a:r>
          </a:p>
        </p:txBody>
      </p:sp>
      <p:sp>
        <p:nvSpPr>
          <p:cNvPr id="16" name="직사각형 23">
            <a:extLst xmlns:a="http://schemas.openxmlformats.org/drawingml/2006/main">
              <a:ext uri="{FF2B5EF4-FFF2-40B4-BE49-F238E27FC236}">
                <a16:creationId xmlns:a16="http://schemas.microsoft.com/office/drawing/2014/main" id="{BD2C5CD2-507A-4227-BF5D-167D00092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035" y="5044085"/>
            <a:ext cx="31990" cy="2879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597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spcBef>
                <a:spcPts val="600"/>
              </a:spcBef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68160B07-EEF9-4730-AA4F-59908B0D7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847" y="5404125"/>
            <a:ext cx="4553867" cy="64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</p:spPr>
        <p:txBody>
          <a:bodyPr xmlns:a="http://schemas.openxmlformats.org/drawingml/2006/main" wrap="none" tIns="36000" rIns="36000" bIns="36000" anchor="t">
            <a:noAutofit/>
          </a:bodyPr>
          <a:lstStyle xmlns:a="http://schemas.openxmlformats.org/drawingml/2006/main"/>
          <a:p xmlns:a="http://schemas.openxmlformats.org/drawingml/2006/main">
            <a:pPr marL="87313" indent="-87313" algn="l">
              <a:lnSpc>
                <a:spcPct val="120000"/>
              </a:lnSpc>
              <a:buFont typeface="Arial"/>
              <a:buChar char="•"/>
            </a:pPr>
            <a:r>
              <a:rPr sz="1000" b="0">
                <a:latin typeface="나눔고딕"/>
                <a:ea typeface="나눔고딕"/>
                <a:cs typeface="나눔고딕"/>
              </a:rPr>
              <a:t>카트·주문·결제 후 공급자 상태를 재확인하고 여행 후 리뷰·공유로 순환합니다.</a:t>
            </a:r>
          </a:p>
        </p:txBody>
      </p:sp>
      <p:sp>
        <p:nvSpPr>
          <p:cNvPr id="19" name="AutoShape 231">
            <a:extLst xmlns:a="http://schemas.openxmlformats.org/drawingml/2006/main">
              <a:ext uri="{FF2B5EF4-FFF2-40B4-BE49-F238E27FC236}">
                <a16:creationId xmlns:a16="http://schemas.microsoft.com/office/drawing/2014/main" id="{4DAC9B89-9A53-4C62-8EB2-332084527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 flipH="1">
            <a:off x="2891925" y="2835877"/>
            <a:ext cx="288000" cy="4704417"/>
          </a:xfrm>
          <a:prstGeom xmlns:a="http://schemas.openxmlformats.org/drawingml/2006/main" prst="round2SameRect">
            <a:avLst>
              <a:gd name="adj1" fmla="val 50000"/>
              <a:gd name="adj2" fmla="val 0"/>
            </a:avLst>
          </a:prstGeom>
          <a:solidFill xmlns:a="http://schemas.openxmlformats.org/drawingml/2006/main">
            <a:srgbClr val="599EF1"/>
          </a:solidFill>
          <a:ln xmlns:a="http://schemas.openxmlformats.org/drawingml/2006/main" w="9525">
            <a:noFill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spcBef>
                <a:spcPts val="600"/>
              </a:spcBef>
              <a:buNone/>
            </a:pPr>
          </a:p>
        </p:txBody>
      </p:sp>
      <p:sp>
        <p:nvSpPr>
          <p:cNvPr id="20" name="Text Box 91">
            <a:extLst xmlns:a="http://schemas.openxmlformats.org/drawingml/2006/main">
              <a:ext uri="{FF2B5EF4-FFF2-40B4-BE49-F238E27FC236}">
                <a16:creationId xmlns:a16="http://schemas.microsoft.com/office/drawing/2014/main" id="{4132C04C-A8C6-49E2-BD70-B063FD7A8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818" y="5094983"/>
            <a:ext cx="4574538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spcBef>
                <a:spcPts val="600"/>
              </a:spcBef>
              <a:buNone/>
            </a:pPr>
            <a:r>
              <a:rPr sz="1100" b="1">
                <a:ln>
                  <a:solidFill>
                    <a:srgbClr val="CCECFF">
                      <a:alpha val="0"/>
                    </a:srgbClr>
                  </a:solidFill>
                </a:ln>
                <a:solidFill>
                  <a:schemeClr val="bg1"/>
                </a:solidFill>
                <a:latin typeface="나눔고딕"/>
                <a:ea typeface="나눔고딕"/>
                <a:cs typeface="나눔고딕"/>
              </a:rPr>
              <a:t>3. 예약·여행 후</a:t>
            </a:r>
          </a:p>
        </p:txBody>
      </p:sp>
      <p:sp>
        <p:nvSpPr>
          <p:cNvPr id="21" name="직사각형 23">
            <a:extLst xmlns:a="http://schemas.openxmlformats.org/drawingml/2006/main">
              <a:ext uri="{FF2B5EF4-FFF2-40B4-BE49-F238E27FC236}">
                <a16:creationId xmlns:a16="http://schemas.microsoft.com/office/drawing/2014/main" id="{76E57B17-DDB2-482D-A51A-94A7DEE04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493" y="3891957"/>
            <a:ext cx="31990" cy="2879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597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spcBef>
                <a:spcPts val="600"/>
              </a:spcBef>
              <a:buNone/>
            </a:pP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11ABCF04-7B08-4705-91F0-A280A76A8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305" y="4251997"/>
            <a:ext cx="4559223" cy="65556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</p:spPr>
        <p:txBody>
          <a:bodyPr xmlns:a="http://schemas.openxmlformats.org/drawingml/2006/main" wrap="none" tIns="36000" rIns="36000" bIns="36000" anchor="t">
            <a:noAutofit/>
          </a:bodyPr>
          <a:lstStyle xmlns:a="http://schemas.openxmlformats.org/drawingml/2006/main"/>
          <a:p xmlns:a="http://schemas.openxmlformats.org/drawingml/2006/main">
            <a:pPr marL="87313" indent="-87313" algn="l">
              <a:lnSpc>
                <a:spcPct val="120000"/>
              </a:lnSpc>
              <a:buFont typeface="Arial"/>
              <a:buChar char="•"/>
            </a:pPr>
            <a:r>
              <a:rPr sz="1000" b="0">
                <a:latin typeface="나눔고딕"/>
                <a:ea typeface="나눔고딕"/>
                <a:cs typeface="나눔고딕"/>
              </a:rPr>
              <a:t>숙소·식사·골프·차량·스파·투어를 날짜·시간·이동 동선에 맞춰 조합합니다.</a:t>
            </a:r>
          </a:p>
        </p:txBody>
      </p:sp>
      <p:sp>
        <p:nvSpPr>
          <p:cNvPr id="24" name="AutoShape 231">
            <a:extLst xmlns:a="http://schemas.openxmlformats.org/drawingml/2006/main">
              <a:ext uri="{FF2B5EF4-FFF2-40B4-BE49-F238E27FC236}">
                <a16:creationId xmlns:a16="http://schemas.microsoft.com/office/drawing/2014/main" id="{7207B600-3CCB-4213-92F9-4B346185C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 flipH="1">
            <a:off x="2888907" y="1683750"/>
            <a:ext cx="288000" cy="4704416"/>
          </a:xfrm>
          <a:prstGeom xmlns:a="http://schemas.openxmlformats.org/drawingml/2006/main" prst="round2SameRect">
            <a:avLst>
              <a:gd name="adj1" fmla="val 50000"/>
              <a:gd name="adj2" fmla="val 0"/>
            </a:avLst>
          </a:prstGeom>
          <a:solidFill xmlns:a="http://schemas.openxmlformats.org/drawingml/2006/main">
            <a:srgbClr val="599EF1"/>
          </a:solidFill>
          <a:ln xmlns:a="http://schemas.openxmlformats.org/drawingml/2006/main" w="9525">
            <a:noFill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spcBef>
                <a:spcPts val="600"/>
              </a:spcBef>
              <a:buNone/>
            </a:pPr>
          </a:p>
        </p:txBody>
      </p:sp>
      <p:sp>
        <p:nvSpPr>
          <p:cNvPr id="25" name="Text Box 91">
            <a:extLst xmlns:a="http://schemas.openxmlformats.org/drawingml/2006/main">
              <a:ext uri="{FF2B5EF4-FFF2-40B4-BE49-F238E27FC236}">
                <a16:creationId xmlns:a16="http://schemas.microsoft.com/office/drawing/2014/main" id="{2B0121D1-18A0-49E2-AD59-863B1E1CB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801" y="3942855"/>
            <a:ext cx="4574537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spcBef>
                <a:spcPts val="600"/>
              </a:spcBef>
              <a:buNone/>
            </a:pPr>
            <a:r>
              <a:rPr sz="1100" b="1">
                <a:ln>
                  <a:solidFill>
                    <a:srgbClr val="CCECFF">
                      <a:alpha val="0"/>
                    </a:srgbClr>
                  </a:solidFill>
                </a:ln>
                <a:solidFill>
                  <a:schemeClr val="bg1"/>
                </a:solidFill>
                <a:latin typeface="나눔고딕"/>
                <a:ea typeface="나눔고딕"/>
                <a:cs typeface="나눔고딕"/>
              </a:rPr>
              <a:t>2. 일정</a:t>
            </a:r>
          </a:p>
        </p:txBody>
      </p:sp>
      <p:sp>
        <p:nvSpPr>
          <p:cNvPr id="27" name="모서리가 둥근 직사각형 146">
            <a:extLst xmlns:a="http://schemas.openxmlformats.org/drawingml/2006/main">
              <a:ext uri="{FF2B5EF4-FFF2-40B4-BE49-F238E27FC236}">
                <a16:creationId xmlns:a16="http://schemas.microsoft.com/office/drawing/2014/main" id="{1CF5B57C-7091-4E5F-BA0A-11C90F42F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34327" y="2627201"/>
            <a:ext cx="3483169" cy="360711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1">
              <a:lumMod val="95000"/>
              <a:alpha val="70000"/>
            </a:schemeClr>
          </a:solidFill>
          <a:ln xmlns:a="http://schemas.openxmlformats.org/drawingml/2006/main" w="6350">
            <a:noFill/>
          </a:ln>
        </p:spPr>
        <p:txBody>
          <a:bodyPr xmlns:a="http://schemas.openxmlformats.org/drawingml/2006/main" vert="horz" wrap="square" lIns="36000" tIns="36000" rIns="36000" bIns="36000" anchor="ctr"/>
          <a:lstStyle xmlns:a="http://schemas.openxmlformats.org/drawingml/2006/main"/>
          <a:p xmlns:a="http://schemas.openxmlformats.org/drawingml/2006/main">
            <a:pPr lvl="1">
              <a:buNone/>
            </a:pPr>
          </a:p>
        </p:txBody>
      </p:sp>
      <p:sp>
        <p:nvSpPr>
          <p:cNvPr id="28" name="직선 연결선 27">
            <a:extLst xmlns:a="http://schemas.openxmlformats.org/drawingml/2006/main">
              <a:ext uri="{FF2B5EF4-FFF2-40B4-BE49-F238E27FC236}">
                <a16:creationId xmlns:a16="http://schemas.microsoft.com/office/drawing/2014/main" id="{E3E47366-7FB6-44AF-8B19-5DB7D46C2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29021" y="2627200"/>
            <a:ext cx="0" cy="360710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16FA1"/>
            </a:solidFill>
            <a:prstDash val="solid"/>
          </a:ln>
        </p:spPr>
      </p:sp>
      <p:sp>
        <p:nvSpPr>
          <p:cNvPr id="29" name="직선 연결선 28">
            <a:extLst xmlns:a="http://schemas.openxmlformats.org/drawingml/2006/main">
              <a:ext uri="{FF2B5EF4-FFF2-40B4-BE49-F238E27FC236}">
                <a16:creationId xmlns:a16="http://schemas.microsoft.com/office/drawing/2014/main" id="{DCFAA09A-921A-4EBF-A1FB-7AA264C63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407965" y="2627200"/>
            <a:ext cx="0" cy="360710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16FA1"/>
            </a:solidFill>
            <a:prstDash val="solid"/>
          </a:ln>
        </p:spPr>
      </p:sp>
      <p:sp>
        <p:nvSpPr>
          <p:cNvPr id="30" name="직선 연결선 29">
            <a:extLst xmlns:a="http://schemas.openxmlformats.org/drawingml/2006/main">
              <a:ext uri="{FF2B5EF4-FFF2-40B4-BE49-F238E27FC236}">
                <a16:creationId xmlns:a16="http://schemas.microsoft.com/office/drawing/2014/main" id="{D963DD69-DD81-4268-897C-0EAAD1AB7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24797" y="6234306"/>
            <a:ext cx="3483168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16FA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1" name="Freeform 5">
            <a:extLst xmlns:a="http://schemas.openxmlformats.org/drawingml/2006/main">
              <a:ext uri="{FF2B5EF4-FFF2-40B4-BE49-F238E27FC236}">
                <a16:creationId xmlns:a16="http://schemas.microsoft.com/office/drawing/2014/main" id="{1C41232A-0593-489C-BE7F-F5B2860B5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797" y="2117333"/>
            <a:ext cx="3492699" cy="444572"/>
          </a:xfrm>
          <a:custGeom xmlns:a="http://schemas.openxmlformats.org/drawingml/2006/main">
            <a:gdLst>
              <a:gd name="T0" fmla="*/ 0 w 3870"/>
              <a:gd name="T1" fmla="*/ 720 h 720"/>
              <a:gd name="T2" fmla="*/ 0 w 3870"/>
              <a:gd name="T3" fmla="*/ 0 h 720"/>
              <a:gd name="T4" fmla="*/ 3870 w 3870"/>
              <a:gd name="T5" fmla="*/ 0 h 720"/>
              <a:gd name="T6" fmla="*/ 3870 w 3870"/>
              <a:gd name="T7" fmla="*/ 720 h 720"/>
            </a:gdLst>
            <a:rect l="0" t="0" r="r" b="b"/>
            <a:pathLst>
              <a:path w="3870" h="720">
                <a:moveTo>
                  <a:pt x="0" y="720"/>
                </a:moveTo>
                <a:lnTo>
                  <a:pt x="0" y="0"/>
                </a:lnTo>
                <a:lnTo>
                  <a:pt x="3870" y="0"/>
                </a:lnTo>
                <a:lnTo>
                  <a:pt x="3870" y="720"/>
                </a:lnTo>
              </a:path>
            </a:pathLst>
          </a:custGeom>
          <a:solidFill xmlns:a="http://schemas.openxmlformats.org/drawingml/2006/main">
            <a:srgbClr val="003686"/>
          </a:solidFill>
          <a:ln xmlns:a="http://schemas.openxmlformats.org/drawingml/2006/main" w="19050" cmpd="sng">
            <a:noFill/>
            <a:prstDash val="solid"/>
          </a:ln>
        </p:spPr>
        <p:txBody>
          <a:bodyPr xmlns:a="http://schemas.openxmlformats.org/drawingml/2006/main" lIns="0" tIns="36000" rIns="0" bIns="0" anchor="ctr"/>
          <a:lstStyle xmlns:a="http://schemas.openxmlformats.org/drawingml/2006/main"/>
          <a:p xmlns:a="http://schemas.openxmlformats.org/drawingml/2006/main">
            <a:pPr algn="ctr" defTabSz="414772">
              <a:buNone/>
            </a:pPr>
            <a:r>
              <a:rPr sz="1200" b="1">
                <a:solidFill>
                  <a:schemeClr val="bg1"/>
                </a:solidFill>
                <a:latin typeface="나눔고딕"/>
                <a:ea typeface="나눔고딕"/>
                <a:cs typeface="나눔고딕"/>
              </a:rPr>
              <a:t>플랫폼 연계</a:t>
            </a:r>
          </a:p>
        </p:txBody>
      </p:sp>
      <p:sp>
        <p:nvSpPr>
          <p:cNvPr id="32" name="직사각형 23">
            <a:extLst xmlns:a="http://schemas.openxmlformats.org/drawingml/2006/main">
              <a:ext uri="{FF2B5EF4-FFF2-40B4-BE49-F238E27FC236}">
                <a16:creationId xmlns:a16="http://schemas.microsoft.com/office/drawing/2014/main" id="{963E7FA5-08F5-4226-AD58-EC1B6B8D2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3980" y="2843412"/>
            <a:ext cx="43404" cy="3254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597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spcBef>
                <a:spcPts val="600"/>
              </a:spcBef>
              <a:buNone/>
            </a:pPr>
          </a:p>
        </p:txBody>
      </p:sp>
      <p:sp>
        <p:nvSpPr>
          <p:cNvPr id="35" name="AutoShape 231">
            <a:extLst xmlns:a="http://schemas.openxmlformats.org/drawingml/2006/main">
              <a:ext uri="{FF2B5EF4-FFF2-40B4-BE49-F238E27FC236}">
                <a16:creationId xmlns:a16="http://schemas.microsoft.com/office/drawing/2014/main" id="{941624EF-69BF-4F12-BEC3-A28A9FB9E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 flipH="1" flipV="0">
            <a:off x="7433868" y="2055403"/>
            <a:ext cx="541503" cy="1901448"/>
          </a:xfrm>
          <a:prstGeom xmlns:a="http://schemas.openxmlformats.org/drawingml/2006/main" prst="round2SameRect">
            <a:avLst>
              <a:gd name="adj1" fmla="val 50000"/>
              <a:gd name="adj2" fmla="val 0"/>
            </a:avLst>
          </a:prstGeom>
          <a:solidFill xmlns:a="http://schemas.openxmlformats.org/drawingml/2006/main">
            <a:srgbClr val="599EF1"/>
          </a:solidFill>
          <a:ln xmlns:a="http://schemas.openxmlformats.org/drawingml/2006/main" w="9525">
            <a:noFill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spcBef>
                <a:spcPts val="600"/>
              </a:spcBef>
              <a:buNone/>
            </a:pPr>
          </a:p>
        </p:txBody>
      </p:sp>
      <p:sp>
        <p:nvSpPr>
          <p:cNvPr id="36" name="Text Box 91">
            <a:extLst xmlns:a="http://schemas.openxmlformats.org/drawingml/2006/main">
              <a:ext uri="{FF2B5EF4-FFF2-40B4-BE49-F238E27FC236}">
                <a16:creationId xmlns:a16="http://schemas.microsoft.com/office/drawing/2014/main" id="{B1B28FF9-583A-4F85-AF6F-5150BBE35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78522" y="2900925"/>
            <a:ext cx="2765995" cy="2104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9EF1"/>
          </a:solidFill>
          <a:ln xmlns:a="http://schemas.openxmlformats.org/drawingml/2006/main" w="9525">
            <a:noFill/>
          </a:ln>
        </p:spPr>
        <p:txBody>
          <a:bodyPr xmlns:a="http://schemas.openxmlformats.org/drawingml/2006/main" wrap="square" anchor="ctr"/>
          <a:lstStyle xmlns:a="http://schemas.openxmlformats.org/drawingml/2006/main">
            <a:lvl1pPr algn="ctr">
              <a:lnSpc>
                <a:spcPct val="120000"/>
              </a:lnSpc>
              <a:spcBef>
                <a:spcPts val="600"/>
              </a:spcBef>
              <a:buNone/>
              <a:defRPr sz="1100" b="1">
                <a:ln>
                  <a:solidFill>
                    <a:srgbClr val="CCECFF">
                      <a:alpha val="0"/>
                    </a:srgbClr>
                  </a:solidFill>
                </a:ln>
                <a:solidFill>
                  <a:srgbClr val="4D4D4D"/>
                </a:solidFill>
                <a:latin typeface="나눔고딕"/>
                <a:ea typeface="나눔고딕"/>
                <a:cs typeface="나눔고딕"/>
              </a:defRPr>
            </a:lvl1pPr>
          </a:lstStyle>
          <a:p xmlns:a="http://schemas.openxmlformats.org/drawingml/2006/main">
            <a:pPr algn="l">
              <a:buNone/>
            </a:pPr>
            <a:r>
              <a:rPr>
                <a:solidFill>
                  <a:schemeClr val="bg1"/>
                </a:solidFill>
              </a:rPr>
              <a:t>호텔 공급 계약 / PMS 채널</a:t>
            </a:r>
          </a:p>
        </p:txBody>
      </p:sp>
      <p:sp>
        <p:nvSpPr>
          <p:cNvPr id="47" name="직사각형 23">
            <a:extLst xmlns:a="http://schemas.openxmlformats.org/drawingml/2006/main">
              <a:ext uri="{FF2B5EF4-FFF2-40B4-BE49-F238E27FC236}">
                <a16:creationId xmlns:a16="http://schemas.microsoft.com/office/drawing/2014/main" id="{059A567B-3C4C-4A1F-B7B7-DD9DB51D5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3980" y="5087268"/>
            <a:ext cx="43404" cy="3254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597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spcBef>
                <a:spcPts val="600"/>
              </a:spcBef>
              <a:buNone/>
            </a:pPr>
          </a:p>
        </p:txBody>
      </p:sp>
      <p:sp>
        <p:nvSpPr>
          <p:cNvPr id="50" name="AutoShape 231">
            <a:extLst xmlns:a="http://schemas.openxmlformats.org/drawingml/2006/main">
              <a:ext uri="{FF2B5EF4-FFF2-40B4-BE49-F238E27FC236}">
                <a16:creationId xmlns:a16="http://schemas.microsoft.com/office/drawing/2014/main" id="{B27E3C47-6400-4C62-9D60-ACAEC2AAA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 flipH="1" flipV="0">
            <a:off x="7433868" y="4299259"/>
            <a:ext cx="541503" cy="1901448"/>
          </a:xfrm>
          <a:prstGeom xmlns:a="http://schemas.openxmlformats.org/drawingml/2006/main" prst="round2SameRect">
            <a:avLst>
              <a:gd name="adj1" fmla="val 50000"/>
              <a:gd name="adj2" fmla="val 0"/>
            </a:avLst>
          </a:prstGeom>
          <a:solidFill xmlns:a="http://schemas.openxmlformats.org/drawingml/2006/main">
            <a:srgbClr val="599EF1"/>
          </a:solidFill>
          <a:ln xmlns:a="http://schemas.openxmlformats.org/drawingml/2006/main" w="9525">
            <a:noFill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spcBef>
                <a:spcPts val="600"/>
              </a:spcBef>
              <a:buNone/>
            </a:pPr>
          </a:p>
        </p:txBody>
      </p:sp>
      <p:sp>
        <p:nvSpPr>
          <p:cNvPr id="51" name="Text Box 91">
            <a:extLst xmlns:a="http://schemas.openxmlformats.org/drawingml/2006/main">
              <a:ext uri="{FF2B5EF4-FFF2-40B4-BE49-F238E27FC236}">
                <a16:creationId xmlns:a16="http://schemas.microsoft.com/office/drawing/2014/main" id="{E644CF9D-A0E6-4E86-BCED-88D7DA789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78522" y="5144781"/>
            <a:ext cx="2765995" cy="2104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9EF1"/>
          </a:solidFill>
          <a:ln xmlns:a="http://schemas.openxmlformats.org/drawingml/2006/main" w="9525">
            <a:noFill/>
          </a:ln>
        </p:spPr>
        <p:txBody>
          <a:bodyPr xmlns:a="http://schemas.openxmlformats.org/drawingml/2006/main" wrap="square" anchor="ctr"/>
          <a:lstStyle xmlns:a="http://schemas.openxmlformats.org/drawingml/2006/main">
            <a:lvl1pPr algn="ctr">
              <a:lnSpc>
                <a:spcPct val="120000"/>
              </a:lnSpc>
              <a:spcBef>
                <a:spcPts val="600"/>
              </a:spcBef>
              <a:buNone/>
              <a:defRPr sz="1100" b="1">
                <a:ln>
                  <a:solidFill>
                    <a:srgbClr val="CCECFF">
                      <a:alpha val="0"/>
                    </a:srgbClr>
                  </a:solidFill>
                </a:ln>
                <a:solidFill>
                  <a:srgbClr val="4D4D4D"/>
                </a:solidFill>
                <a:latin typeface="나눔고딕"/>
                <a:ea typeface="나눔고딕"/>
                <a:cs typeface="나눔고딕"/>
              </a:defRPr>
            </a:lvl1pPr>
          </a:lstStyle>
          <a:p xmlns:a="http://schemas.openxmlformats.org/drawingml/2006/main">
            <a:pPr algn="l">
              <a:buNone/>
            </a:pPr>
            <a:r>
              <a:rPr>
                <a:solidFill>
                  <a:schemeClr val="bg1"/>
                </a:solidFill>
              </a:rPr>
              <a:t>AI·RAG / 근거·대안</a:t>
            </a:r>
          </a:p>
        </p:txBody>
      </p:sp>
      <p:sp>
        <p:nvSpPr>
          <p:cNvPr id="55" name="직사각형 23">
            <a:extLst xmlns:a="http://schemas.openxmlformats.org/drawingml/2006/main">
              <a:ext uri="{FF2B5EF4-FFF2-40B4-BE49-F238E27FC236}">
                <a16:creationId xmlns:a16="http://schemas.microsoft.com/office/drawing/2014/main" id="{6B408486-E4A4-4A97-BB2A-1334A9457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3980" y="3404376"/>
            <a:ext cx="43404" cy="3254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597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spcBef>
                <a:spcPts val="600"/>
              </a:spcBef>
              <a:buNone/>
            </a:pPr>
          </a:p>
        </p:txBody>
      </p:sp>
      <p:sp>
        <p:nvSpPr>
          <p:cNvPr id="57" name="AutoShape 231">
            <a:extLst xmlns:a="http://schemas.openxmlformats.org/drawingml/2006/main">
              <a:ext uri="{FF2B5EF4-FFF2-40B4-BE49-F238E27FC236}">
                <a16:creationId xmlns:a16="http://schemas.microsoft.com/office/drawing/2014/main" id="{3D63EB54-B5AB-4CDC-85B1-4FFD5D8FF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 flipH="1" flipV="0">
            <a:off x="7433868" y="2616367"/>
            <a:ext cx="541503" cy="1901448"/>
          </a:xfrm>
          <a:prstGeom xmlns:a="http://schemas.openxmlformats.org/drawingml/2006/main" prst="round2SameRect">
            <a:avLst>
              <a:gd name="adj1" fmla="val 50000"/>
              <a:gd name="adj2" fmla="val 0"/>
            </a:avLst>
          </a:prstGeom>
          <a:solidFill xmlns:a="http://schemas.openxmlformats.org/drawingml/2006/main">
            <a:srgbClr val="599EF1"/>
          </a:solidFill>
          <a:ln xmlns:a="http://schemas.openxmlformats.org/drawingml/2006/main" w="9525">
            <a:noFill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spcBef>
                <a:spcPts val="600"/>
              </a:spcBef>
              <a:buNone/>
            </a:pPr>
          </a:p>
        </p:txBody>
      </p:sp>
      <p:sp>
        <p:nvSpPr>
          <p:cNvPr id="58" name="Text Box 91">
            <a:extLst xmlns:a="http://schemas.openxmlformats.org/drawingml/2006/main">
              <a:ext uri="{FF2B5EF4-FFF2-40B4-BE49-F238E27FC236}">
                <a16:creationId xmlns:a16="http://schemas.microsoft.com/office/drawing/2014/main" id="{566D6D8D-3AF3-47BF-B681-F545C0E6B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78522" y="3473989"/>
            <a:ext cx="2765995" cy="1862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9EF1"/>
          </a:solidFill>
          <a:ln xmlns:a="http://schemas.openxmlformats.org/drawingml/2006/main" w="9525">
            <a:noFill/>
          </a:ln>
        </p:spPr>
        <p:txBody>
          <a:bodyPr xmlns:a="http://schemas.openxmlformats.org/drawingml/2006/main" wrap="square" anchor="ctr"/>
          <a:lstStyle xmlns:a="http://schemas.openxmlformats.org/drawingml/2006/main">
            <a:lvl1pPr algn="ctr">
              <a:lnSpc>
                <a:spcPct val="120000"/>
              </a:lnSpc>
              <a:spcBef>
                <a:spcPts val="600"/>
              </a:spcBef>
              <a:buNone/>
              <a:defRPr sz="1100" b="1">
                <a:ln>
                  <a:solidFill>
                    <a:srgbClr val="CCECFF">
                      <a:alpha val="0"/>
                    </a:srgbClr>
                  </a:solidFill>
                </a:ln>
                <a:solidFill>
                  <a:srgbClr val="4D4D4D"/>
                </a:solidFill>
                <a:latin typeface="나눔고딕"/>
                <a:ea typeface="나눔고딕"/>
                <a:cs typeface="나눔고딕"/>
              </a:defRPr>
            </a:lvl1pPr>
          </a:lstStyle>
          <a:p xmlns:a="http://schemas.openxmlformats.org/drawingml/2006/main">
            <a:pPr algn="l">
              <a:buNone/>
            </a:pPr>
            <a:r>
              <a:rPr>
                <a:solidFill>
                  <a:schemeClr val="bg1"/>
                </a:solidFill>
              </a:rPr>
              <a:t>주문·결제·정산</a:t>
            </a:r>
          </a:p>
        </p:txBody>
      </p:sp>
      <p:sp>
        <p:nvSpPr>
          <p:cNvPr id="59" name="직사각형 23">
            <a:extLst xmlns:a="http://schemas.openxmlformats.org/drawingml/2006/main">
              <a:ext uri="{FF2B5EF4-FFF2-40B4-BE49-F238E27FC236}">
                <a16:creationId xmlns:a16="http://schemas.microsoft.com/office/drawing/2014/main" id="{9C5D5684-A79D-42B6-B3D5-5ACA92EC9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3980" y="3965340"/>
            <a:ext cx="43404" cy="3254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597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spcBef>
                <a:spcPts val="600"/>
              </a:spcBef>
              <a:buNone/>
            </a:pPr>
          </a:p>
        </p:txBody>
      </p:sp>
      <p:sp>
        <p:nvSpPr>
          <p:cNvPr id="61" name="AutoShape 231">
            <a:extLst xmlns:a="http://schemas.openxmlformats.org/drawingml/2006/main">
              <a:ext uri="{FF2B5EF4-FFF2-40B4-BE49-F238E27FC236}">
                <a16:creationId xmlns:a16="http://schemas.microsoft.com/office/drawing/2014/main" id="{7060A603-7D19-4A7B-A106-EDFBF7922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 flipH="1" flipV="0">
            <a:off x="7433868" y="3177331"/>
            <a:ext cx="541503" cy="1901448"/>
          </a:xfrm>
          <a:prstGeom xmlns:a="http://schemas.openxmlformats.org/drawingml/2006/main" prst="round2SameRect">
            <a:avLst>
              <a:gd name="adj1" fmla="val 50000"/>
              <a:gd name="adj2" fmla="val 0"/>
            </a:avLst>
          </a:prstGeom>
          <a:solidFill xmlns:a="http://schemas.openxmlformats.org/drawingml/2006/main">
            <a:srgbClr val="599EF1"/>
          </a:solidFill>
          <a:ln xmlns:a="http://schemas.openxmlformats.org/drawingml/2006/main" w="9525">
            <a:noFill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spcBef>
                <a:spcPts val="600"/>
              </a:spcBef>
              <a:buNone/>
            </a:pPr>
          </a:p>
        </p:txBody>
      </p:sp>
      <p:sp>
        <p:nvSpPr>
          <p:cNvPr id="62" name="Text Box 91">
            <a:extLst xmlns:a="http://schemas.openxmlformats.org/drawingml/2006/main">
              <a:ext uri="{FF2B5EF4-FFF2-40B4-BE49-F238E27FC236}">
                <a16:creationId xmlns:a16="http://schemas.microsoft.com/office/drawing/2014/main" id="{36EBFE0B-1F90-4874-885F-380A09129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78522" y="4022853"/>
            <a:ext cx="2765995" cy="2104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9EF1"/>
          </a:solidFill>
          <a:ln xmlns:a="http://schemas.openxmlformats.org/drawingml/2006/main" w="9525">
            <a:noFill/>
          </a:ln>
        </p:spPr>
        <p:txBody>
          <a:bodyPr xmlns:a="http://schemas.openxmlformats.org/drawingml/2006/main" wrap="square" anchor="ctr"/>
          <a:lstStyle xmlns:a="http://schemas.openxmlformats.org/drawingml/2006/main">
            <a:lvl1pPr algn="ctr">
              <a:lnSpc>
                <a:spcPct val="120000"/>
              </a:lnSpc>
              <a:spcBef>
                <a:spcPts val="600"/>
              </a:spcBef>
              <a:buNone/>
              <a:defRPr sz="1100" b="1">
                <a:ln>
                  <a:solidFill>
                    <a:srgbClr val="CCECFF">
                      <a:alpha val="0"/>
                    </a:srgbClr>
                  </a:solidFill>
                </a:ln>
                <a:solidFill>
                  <a:srgbClr val="4D4D4D"/>
                </a:solidFill>
                <a:latin typeface="나눔고딕"/>
                <a:ea typeface="나눔고딕"/>
                <a:cs typeface="나눔고딕"/>
              </a:defRPr>
            </a:lvl1pPr>
          </a:lstStyle>
          <a:p xmlns:a="http://schemas.openxmlformats.org/drawingml/2006/main">
            <a:pPr algn="l">
              <a:buNone/>
            </a:pPr>
            <a:r>
              <a:rPr>
                <a:solidFill>
                  <a:schemeClr val="bg1"/>
                </a:solidFill>
              </a:rPr>
              <a:t>알림·고객센터</a:t>
            </a:r>
          </a:p>
        </p:txBody>
      </p:sp>
      <p:sp>
        <p:nvSpPr>
          <p:cNvPr id="63" name="직사각형 23">
            <a:extLst xmlns:a="http://schemas.openxmlformats.org/drawingml/2006/main">
              <a:ext uri="{FF2B5EF4-FFF2-40B4-BE49-F238E27FC236}">
                <a16:creationId xmlns:a16="http://schemas.microsoft.com/office/drawing/2014/main" id="{F9CD9C6B-3EE7-4B4F-882C-E65BEC82E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3980" y="4526304"/>
            <a:ext cx="43404" cy="3254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597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spcBef>
                <a:spcPts val="600"/>
              </a:spcBef>
              <a:buNone/>
            </a:pPr>
          </a:p>
        </p:txBody>
      </p:sp>
      <p:sp>
        <p:nvSpPr>
          <p:cNvPr id="65" name="AutoShape 231">
            <a:extLst xmlns:a="http://schemas.openxmlformats.org/drawingml/2006/main">
              <a:ext uri="{FF2B5EF4-FFF2-40B4-BE49-F238E27FC236}">
                <a16:creationId xmlns:a16="http://schemas.microsoft.com/office/drawing/2014/main" id="{308203C6-D1C1-4AA0-9C9C-3B80B8E92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 flipH="1" flipV="0">
            <a:off x="7433868" y="3738295"/>
            <a:ext cx="541503" cy="1901448"/>
          </a:xfrm>
          <a:prstGeom xmlns:a="http://schemas.openxmlformats.org/drawingml/2006/main" prst="round2SameRect">
            <a:avLst>
              <a:gd name="adj1" fmla="val 50000"/>
              <a:gd name="adj2" fmla="val 0"/>
            </a:avLst>
          </a:prstGeom>
          <a:solidFill xmlns:a="http://schemas.openxmlformats.org/drawingml/2006/main">
            <a:srgbClr val="599EF1"/>
          </a:solidFill>
          <a:ln xmlns:a="http://schemas.openxmlformats.org/drawingml/2006/main" w="9525">
            <a:noFill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spcBef>
                <a:spcPts val="600"/>
              </a:spcBef>
              <a:buNone/>
            </a:pPr>
          </a:p>
        </p:txBody>
      </p:sp>
      <p:sp>
        <p:nvSpPr>
          <p:cNvPr id="66" name="Text Box 91">
            <a:extLst xmlns:a="http://schemas.openxmlformats.org/drawingml/2006/main">
              <a:ext uri="{FF2B5EF4-FFF2-40B4-BE49-F238E27FC236}">
                <a16:creationId xmlns:a16="http://schemas.microsoft.com/office/drawing/2014/main" id="{9F49F306-5090-474A-B6AE-976404456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78522" y="4583817"/>
            <a:ext cx="2765995" cy="2104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9EF1"/>
          </a:solidFill>
          <a:ln xmlns:a="http://schemas.openxmlformats.org/drawingml/2006/main" w="9525">
            <a:noFill/>
          </a:ln>
        </p:spPr>
        <p:txBody>
          <a:bodyPr xmlns:a="http://schemas.openxmlformats.org/drawingml/2006/main" wrap="square" anchor="ctr"/>
          <a:lstStyle xmlns:a="http://schemas.openxmlformats.org/drawingml/2006/main">
            <a:lvl1pPr algn="ctr">
              <a:lnSpc>
                <a:spcPct val="120000"/>
              </a:lnSpc>
              <a:spcBef>
                <a:spcPts val="600"/>
              </a:spcBef>
              <a:buNone/>
              <a:defRPr sz="1100" b="1">
                <a:ln>
                  <a:solidFill>
                    <a:srgbClr val="CCECFF">
                      <a:alpha val="0"/>
                    </a:srgbClr>
                  </a:solidFill>
                </a:ln>
                <a:solidFill>
                  <a:srgbClr val="4D4D4D"/>
                </a:solidFill>
                <a:latin typeface="나눔고딕"/>
                <a:ea typeface="나눔고딕"/>
                <a:cs typeface="나눔고딕"/>
              </a:defRPr>
            </a:lvl1pPr>
          </a:lstStyle>
          <a:p xmlns:a="http://schemas.openxmlformats.org/drawingml/2006/main">
            <a:pPr algn="l">
              <a:buNone/>
            </a:pPr>
            <a:r>
              <a:rPr>
                <a:solidFill>
                  <a:schemeClr val="bg1"/>
                </a:solidFill>
              </a:rPr>
              <a:t>파트너 상품·재고</a:t>
            </a:r>
          </a:p>
        </p:txBody>
      </p:sp>
      <p:sp>
        <p:nvSpPr>
          <p:cNvPr id="67" name="직사각형 23">
            <a:extLst xmlns:a="http://schemas.openxmlformats.org/drawingml/2006/main">
              <a:ext uri="{FF2B5EF4-FFF2-40B4-BE49-F238E27FC236}">
                <a16:creationId xmlns:a16="http://schemas.microsoft.com/office/drawing/2014/main" id="{17D74EBD-519A-4AAF-8D5C-CD07F0ADC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3980" y="5648232"/>
            <a:ext cx="43404" cy="3254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597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spcBef>
                <a:spcPts val="600"/>
              </a:spcBef>
              <a:buNone/>
            </a:pPr>
          </a:p>
        </p:txBody>
      </p:sp>
      <p:sp>
        <p:nvSpPr>
          <p:cNvPr id="69" name="AutoShape 231">
            <a:extLst xmlns:a="http://schemas.openxmlformats.org/drawingml/2006/main">
              <a:ext uri="{FF2B5EF4-FFF2-40B4-BE49-F238E27FC236}">
                <a16:creationId xmlns:a16="http://schemas.microsoft.com/office/drawing/2014/main" id="{1F9666FB-0E3D-4F81-8FC7-E28F7EEC7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 flipH="1" flipV="0">
            <a:off x="7433868" y="4860223"/>
            <a:ext cx="541503" cy="1901448"/>
          </a:xfrm>
          <a:prstGeom xmlns:a="http://schemas.openxmlformats.org/drawingml/2006/main" prst="round2SameRect">
            <a:avLst>
              <a:gd name="adj1" fmla="val 50000"/>
              <a:gd name="adj2" fmla="val 0"/>
            </a:avLst>
          </a:prstGeom>
          <a:solidFill xmlns:a="http://schemas.openxmlformats.org/drawingml/2006/main">
            <a:srgbClr val="599EF1"/>
          </a:solidFill>
          <a:ln xmlns:a="http://schemas.openxmlformats.org/drawingml/2006/main" w="9525">
            <a:noFill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spcBef>
                <a:spcPts val="600"/>
              </a:spcBef>
              <a:buNone/>
            </a:pPr>
          </a:p>
        </p:txBody>
      </p:sp>
      <p:sp>
        <p:nvSpPr>
          <p:cNvPr id="70" name="Text Box 91">
            <a:extLst xmlns:a="http://schemas.openxmlformats.org/drawingml/2006/main">
              <a:ext uri="{FF2B5EF4-FFF2-40B4-BE49-F238E27FC236}">
                <a16:creationId xmlns:a16="http://schemas.microsoft.com/office/drawing/2014/main" id="{C6888E76-199C-4CB0-8662-55489B4EE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78522" y="5717845"/>
            <a:ext cx="2765995" cy="1862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9EF1"/>
          </a:solidFill>
          <a:ln xmlns:a="http://schemas.openxmlformats.org/drawingml/2006/main" w="9525">
            <a:noFill/>
          </a:ln>
        </p:spPr>
        <p:txBody>
          <a:bodyPr xmlns:a="http://schemas.openxmlformats.org/drawingml/2006/main" wrap="square" anchor="ctr"/>
          <a:lstStyle xmlns:a="http://schemas.openxmlformats.org/drawingml/2006/main">
            <a:lvl1pPr algn="ctr">
              <a:lnSpc>
                <a:spcPct val="120000"/>
              </a:lnSpc>
              <a:spcBef>
                <a:spcPts val="600"/>
              </a:spcBef>
              <a:buNone/>
              <a:defRPr sz="1100" b="1">
                <a:ln>
                  <a:solidFill>
                    <a:srgbClr val="CCECFF">
                      <a:alpha val="0"/>
                    </a:srgbClr>
                  </a:solidFill>
                </a:ln>
                <a:solidFill>
                  <a:srgbClr val="4D4D4D"/>
                </a:solidFill>
                <a:latin typeface="나눔고딕"/>
                <a:ea typeface="나눔고딕"/>
                <a:cs typeface="나눔고딕"/>
              </a:defRPr>
            </a:lvl1pPr>
          </a:lstStyle>
          <a:p xmlns:a="http://schemas.openxmlformats.org/drawingml/2006/main">
            <a:pPr algn="l">
              <a:buNone/>
            </a:pPr>
            <a:r>
              <a:rPr>
                <a:solidFill>
                  <a:schemeClr val="bg1"/>
                </a:solidFill>
              </a:rPr>
              <a:t>분석·감사·대사</a:t>
            </a:r>
          </a:p>
        </p:txBody>
      </p:sp>
      <p:sp>
        <p:nvSpPr>
          <p:cNvPr id="13" name="슬라이드 번호 개체 틀 12">
            <a:extLst xmlns:a="http://schemas.openxmlformats.org/drawingml/2006/main">
              <a:ext uri="{FF2B5EF4-FFF2-40B4-BE49-F238E27FC236}">
                <a16:creationId xmlns:a16="http://schemas.microsoft.com/office/drawing/2014/main" id="{8D18BAE4-C2DA-4B17-BBFE-B41A46CF333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DB16885-0D3F-A391-B669-3211DB3B26E8}" type="slidenum">
              <a:rPr>
                <a:latin typeface="나눔고딕"/>
                <a:ea typeface="나눔고딕"/>
                <a:cs typeface="나눔고딕"/>
              </a:rPr>
              <a:t>12</a:t>
            </a:fld>
          </a:p>
        </p:txBody>
      </p:sp>
    </p:spTree>
    <p:extLst>
      <p:ext uri="{BB962C8B-B14F-4D97-AF65-F5344CB8AC3E}">
        <p14:creationId xmlns:p14="http://schemas.microsoft.com/office/powerpoint/2010/main" val="2395796920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제목 71">
            <a:extLst xmlns:a="http://schemas.openxmlformats.org/drawingml/2006/main">
              <a:ext uri="{FF2B5EF4-FFF2-40B4-BE49-F238E27FC236}">
                <a16:creationId xmlns:a16="http://schemas.microsoft.com/office/drawing/2014/main" id="{0A4D92D9-7E69-480C-9827-E9CD4C613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487" y="71414"/>
            <a:ext cx="6768753" cy="57150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6800" rIns="91440" bIns="46800" anchor="b">
            <a:normAutofit fontScale="100000"/>
          </a:bodyPr>
          <a:lstStyle xmlns:a="http://schemas.openxmlformats.org/drawingml/2006/main">
            <a:lvl1pPr algn="l" defTabSz="914400">
              <a:spcBef>
                <a:spcPct val="0"/>
              </a:spcBef>
              <a:buNone/>
              <a:defRPr sz="1800" b="1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rPr>
                <a:solidFill>
                  <a:schemeClr val="bg1"/>
                </a:solidFill>
                <a:latin typeface="나눔고딕"/>
                <a:ea typeface="나눔고딕"/>
                <a:cs typeface="나눔고딕"/>
              </a:rPr>
              <a:t>5. AI 여행의 역할과 검증 가능한 RAG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3F454521-134A-4C19-B324-2C34D0011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512" y="908720"/>
            <a:ext cx="8945580" cy="8475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1300" b="1">
                <a:latin typeface="나눔고딕"/>
                <a:ea typeface="나눔고딕"/>
                <a:cs typeface="나눔고딕"/>
              </a:rPr>
              <a:t>AI는 무작정 여행지를 생성하는 기능이 아니라, 고객 조건과 검증된 공급 데이터를 바탕으로 여러 날짜의 일정을 구성하고 충돌을 설명하며 대안을 제시하는 조정 계층으로 설계합니다.</a:t>
            </a:r>
          </a:p>
        </p:txBody>
      </p:sp>
      <p:sp>
        <p:nvSpPr>
          <p:cNvPr id="10" name="삼각형 8">
            <a:extLst xmlns:a="http://schemas.openxmlformats.org/drawingml/2006/main">
              <a:ext uri="{FF2B5EF4-FFF2-40B4-BE49-F238E27FC236}">
                <a16:creationId xmlns:a16="http://schemas.microsoft.com/office/drawing/2014/main" id="{96744AEB-2A7A-45EC-9328-C78D7D088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520" y="1784011"/>
            <a:ext cx="7818959" cy="1210857"/>
          </a:xfrm>
          <a:prstGeom xmlns:a="http://schemas.openxmlformats.org/drawingml/2006/main" prst="triangle">
            <a:avLst>
              <a:gd name="adj" fmla="val 49887"/>
            </a:avLst>
          </a:prstGeom>
          <a:gradFill xmlns:a="http://schemas.openxmlformats.org/drawingml/2006/main" rotWithShape="1">
            <a:gsLst>
              <a:gs pos="0">
                <a:srgbClr val="D1EFF9">
                  <a:alpha val="30000"/>
                </a:srgb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162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Clr>
                <a:srgbClr val="000000"/>
              </a:buClr>
              <a:buFont typeface="Arial"/>
              <a:buNone/>
            </a:pPr>
          </a:p>
        </p:txBody>
      </p:sp>
      <p:sp>
        <p:nvSpPr>
          <p:cNvPr id="11" name="사각형: 둥근 모서리 10">
            <a:extLst xmlns:a="http://schemas.openxmlformats.org/drawingml/2006/main">
              <a:ext uri="{FF2B5EF4-FFF2-40B4-BE49-F238E27FC236}">
                <a16:creationId xmlns:a16="http://schemas.microsoft.com/office/drawing/2014/main" id="{08657C82-0C4A-4BB5-941E-A1F4CCD8B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474" y="4832033"/>
            <a:ext cx="8644727" cy="122285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9525">
            <a:solidFill>
              <a:schemeClr val="bg1">
                <a:lumMod val="65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 Box 1059">
            <a:extLst xmlns:a="http://schemas.openxmlformats.org/drawingml/2006/main">
              <a:ext uri="{FF2B5EF4-FFF2-40B4-BE49-F238E27FC236}">
                <a16:creationId xmlns:a16="http://schemas.microsoft.com/office/drawing/2014/main" id="{A1C9E121-F826-4C77-AFFB-93257D138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4608" y="5039197"/>
            <a:ext cx="2016224" cy="4308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1pPr>
            <a:lvl2pPr marL="742950" indent="-28575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2pPr>
            <a:lvl3pPr marL="11430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3pPr>
            <a:lvl4pPr marL="16002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4pPr>
            <a:lvl5pPr marL="20574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9pPr>
          </a:lstStyle>
          <a:p xmlns:a="http://schemas.openxmlformats.org/drawingml/2006/main">
            <a:pPr>
              <a:buNone/>
            </a:pPr>
            <a:r>
              <a:rPr sz="1100" b="1">
                <a:latin typeface="나눔고딕"/>
                <a:ea typeface="나눔고딕"/>
                <a:cs typeface="나눔고딕"/>
              </a:rPr>
              <a:t>• 1단계: 규칙 기반 Mock으로 입력·결과 계약 검증</a:t>
            </a:r>
          </a:p>
        </p:txBody>
      </p:sp>
      <p:sp>
        <p:nvSpPr>
          <p:cNvPr id="14" name="사각형: 둥근 모서리 13">
            <a:extLst xmlns:a="http://schemas.openxmlformats.org/drawingml/2006/main">
              <a:ext uri="{FF2B5EF4-FFF2-40B4-BE49-F238E27FC236}">
                <a16:creationId xmlns:a16="http://schemas.microsoft.com/office/drawing/2014/main" id="{6BED4BEC-4414-418C-AD4E-70FE50217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474" y="1926992"/>
            <a:ext cx="8644727" cy="493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54D83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Clr>
                <a:srgbClr val="000000"/>
              </a:buClr>
              <a:buFont typeface="Arial"/>
              <a:buNone/>
            </a:pPr>
            <a:r>
              <a:rPr b="1">
                <a:solidFill>
                  <a:schemeClr val="bg1"/>
                </a:solidFill>
                <a:latin typeface="나눔고딕"/>
                <a:ea typeface="나눔고딕"/>
                <a:cs typeface="나눔고딕"/>
              </a:rPr>
              <a:t>추천을 넘어</a:t>
            </a:r>
          </a:p>
          <a:p xmlns:a="http://schemas.openxmlformats.org/drawingml/2006/main">
            <a:pPr algn="ctr">
              <a:buClr>
                <a:srgbClr val="000000"/>
              </a:buClr>
              <a:buFont typeface="Arial"/>
              <a:buNone/>
            </a:pPr>
            <a:r>
              <a:rPr b="1">
                <a:solidFill>
                  <a:schemeClr val="bg1"/>
                </a:solidFill>
                <a:latin typeface="나눔고딕"/>
                <a:ea typeface="나눔고딕"/>
                <a:cs typeface="나눔고딕"/>
              </a:rPr>
              <a:t>실행 가능한 일정을 만든다</a:t>
            </a:r>
          </a:p>
        </p:txBody>
      </p:sp>
      <p:sp>
        <p:nvSpPr>
          <p:cNvPr id="16" name="AutoShape 1073">
            <a:extLst xmlns:a="http://schemas.openxmlformats.org/drawingml/2006/main">
              <a:ext uri="{FF2B5EF4-FFF2-40B4-BE49-F238E27FC236}">
                <a16:creationId xmlns:a16="http://schemas.microsoft.com/office/drawing/2014/main" id="{C46E2062-1BD1-41E4-BB85-27970B07D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202" y="2432230"/>
            <a:ext cx="8155110" cy="393789"/>
          </a:xfrm>
          <a:prstGeom xmlns:a="http://schemas.openxmlformats.org/drawingml/2006/main" prst="roundRect">
            <a:avLst>
              <a:gd name="adj" fmla="val 12278"/>
            </a:avLst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46800" rIns="0" bIns="46800" anchor="ctr"/>
          <a:lstStyle xmlns:a="http://schemas.openxmlformats.org/drawingml/2006/main">
            <a:lvl1pPr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1pPr>
            <a:lvl2pPr marL="742950" indent="-28575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2pPr>
            <a:lvl3pPr marL="11430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3pPr>
            <a:lvl4pPr marL="16002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4pPr>
            <a:lvl5pPr marL="20574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9pPr>
          </a:lstStyle>
          <a:p xmlns:a="http://schemas.openxmlformats.org/drawingml/2006/main">
            <a:pPr algn="ctr">
              <a:buClr>
                <a:schemeClr val="accent2"/>
              </a:buClr>
              <a:buNone/>
            </a:pPr>
            <a:r>
              <a:rPr sz="1600" b="1">
                <a:latin typeface="나눔고딕"/>
                <a:ea typeface="나눔고딕"/>
                <a:cs typeface="나눔고딕"/>
              </a:rPr>
              <a:t>조건 입력 → 후보 검색 → 일정 조합 → 검증 → 대안 제시</a:t>
            </a:r>
          </a:p>
        </p:txBody>
      </p:sp>
      <p:sp>
        <p:nvSpPr>
          <p:cNvPr id="17" name="사각형: 둥근 모서리 16">
            <a:extLst xmlns:a="http://schemas.openxmlformats.org/drawingml/2006/main">
              <a:ext uri="{FF2B5EF4-FFF2-40B4-BE49-F238E27FC236}">
                <a16:creationId xmlns:a16="http://schemas.microsoft.com/office/drawing/2014/main" id="{9227A528-23D7-430D-82C2-CC04E412A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097" y="4653136"/>
            <a:ext cx="7359190" cy="34588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tIns="0" bIns="0" anchor="ctr"/>
          <a:lstStyle xmlns:a="http://schemas.openxmlformats.org/drawingml/2006/main"/>
          <a:p xmlns:a="http://schemas.openxmlformats.org/drawingml/2006/main">
            <a:pPr algn="ctr">
              <a:buClr>
                <a:srgbClr val="000000"/>
              </a:buClr>
              <a:buFont typeface="Arial"/>
              <a:buNone/>
            </a:pPr>
            <a:r>
              <a:rPr sz="1400" b="1">
                <a:latin typeface="나눔고딕"/>
                <a:ea typeface="나눔고딕"/>
                <a:cs typeface="나눔고딕"/>
              </a:rPr>
              <a:t>AI 단계</a:t>
            </a:r>
          </a:p>
        </p:txBody>
      </p:sp>
      <p:sp>
        <p:nvSpPr>
          <p:cNvPr id="18" name="사각형: 둥근 모서리 17">
            <a:extLst xmlns:a="http://schemas.openxmlformats.org/drawingml/2006/main">
              <a:ext uri="{FF2B5EF4-FFF2-40B4-BE49-F238E27FC236}">
                <a16:creationId xmlns:a16="http://schemas.microsoft.com/office/drawing/2014/main" id="{9B1F9BE3-70A7-4D4D-8EE6-71B6AFED7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6035" y="5281071"/>
            <a:ext cx="1399410" cy="428931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BE3EE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Clr>
                <a:srgbClr val="000000"/>
              </a:buClr>
              <a:buFont typeface="Arial"/>
              <a:buNone/>
            </a:pPr>
          </a:p>
        </p:txBody>
      </p:sp>
      <p:sp>
        <p:nvSpPr>
          <p:cNvPr id="19" name="Text Box 1067">
            <a:extLst xmlns:a="http://schemas.openxmlformats.org/drawingml/2006/main">
              <a:ext uri="{FF2B5EF4-FFF2-40B4-BE49-F238E27FC236}">
                <a16:creationId xmlns:a16="http://schemas.microsoft.com/office/drawing/2014/main" id="{127D301A-BA50-4D6F-8A82-A09973BD4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4760" y="5357037"/>
            <a:ext cx="1821959" cy="2769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spAutoFit/>
          </a:bodyPr>
          <a:lstStyle xmlns:a="http://schemas.openxmlformats.org/drawingml/2006/main">
            <a:lvl1pPr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1pPr>
            <a:lvl2pPr marL="742950" indent="-28575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2pPr>
            <a:lvl3pPr marL="11430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3pPr>
            <a:lvl4pPr marL="16002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4pPr>
            <a:lvl5pPr marL="20574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9pPr>
          </a:lstStyle>
          <a:p xmlns:a="http://schemas.openxmlformats.org/drawingml/2006/main">
            <a:pPr algn="ctr">
              <a:buNone/>
            </a:pPr>
            <a:r>
              <a:rPr b="1">
                <a:latin typeface="나눔고딕"/>
                <a:ea typeface="나눔고딕"/>
                <a:cs typeface="나눔고딕"/>
              </a:rPr>
              <a:t>TRUSTED AI</a:t>
            </a:r>
          </a:p>
        </p:txBody>
      </p:sp>
      <p:cxnSp>
        <p:nvCxnSpPr>
          <p:cNvPr id="65" name="연결선: 꺾임 20"/>
          <p:cNvCxnSpPr/>
          <p:nvPr/>
        </p:nvCxnSpPr>
        <p:spPr>
          <a:xfrm xmlns:a="http://schemas.openxmlformats.org/drawingml/2006/main" rot="0" flipH="0" flipV="1">
            <a:off x="5514397" y="5218539"/>
            <a:ext cx="647542" cy="280326"/>
          </a:xfrm>
          <a:prstGeom xmlns:a="http://schemas.openxmlformats.org/drawingml/2006/main" prst="bentConnector3">
            <a:avLst/>
          </a:prstGeom>
          <a:ln xmlns:a="http://schemas.openxmlformats.org/drawingml/2006/main">
            <a:solidFill>
              <a:srgbClr val="C7B38F"/>
            </a:solidFill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66" name="연결선: 꺾임 21"/>
          <p:cNvCxnSpPr/>
          <p:nvPr/>
        </p:nvCxnSpPr>
        <p:spPr>
          <a:xfrm xmlns:a="http://schemas.openxmlformats.org/drawingml/2006/main" rot="0" flipH="0" flipV="0">
            <a:off x="5514397" y="5498865"/>
            <a:ext cx="647542" cy="346166"/>
          </a:xfrm>
          <a:prstGeom xmlns:a="http://schemas.openxmlformats.org/drawingml/2006/main" prst="bentConnector3">
            <a:avLst/>
          </a:prstGeom>
          <a:ln xmlns:a="http://schemas.openxmlformats.org/drawingml/2006/main">
            <a:solidFill>
              <a:srgbClr val="C7B38F"/>
            </a:solidFill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67" name="연결선: 꺾임 23"/>
          <p:cNvCxnSpPr/>
          <p:nvPr/>
        </p:nvCxnSpPr>
        <p:spPr>
          <a:xfrm xmlns:a="http://schemas.openxmlformats.org/drawingml/2006/main" rot="10800000" flipH="0" flipV="0">
            <a:off x="-8573939" y="5218539"/>
            <a:ext cx="647542" cy="276999"/>
          </a:xfrm>
          <a:prstGeom xmlns:a="http://schemas.openxmlformats.org/drawingml/2006/main" prst="bentConnector3">
            <a:avLst/>
          </a:prstGeom>
          <a:ln xmlns:a="http://schemas.openxmlformats.org/drawingml/2006/main">
            <a:solidFill>
              <a:srgbClr val="C7B38F"/>
            </a:solidFill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68" name="연결선: 꺾임 24"/>
          <p:cNvCxnSpPr/>
          <p:nvPr/>
        </p:nvCxnSpPr>
        <p:spPr>
          <a:xfrm xmlns:a="http://schemas.openxmlformats.org/drawingml/2006/main" rot="0" flipH="1" flipV="0">
            <a:off x="-8573939" y="5495537"/>
            <a:ext cx="647542" cy="346166"/>
          </a:xfrm>
          <a:prstGeom xmlns:a="http://schemas.openxmlformats.org/drawingml/2006/main" prst="bentConnector3">
            <a:avLst/>
          </a:prstGeom>
          <a:ln xmlns:a="http://schemas.openxmlformats.org/drawingml/2006/main">
            <a:solidFill>
              <a:srgbClr val="C7B38F"/>
            </a:solidFill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26" name="Text Box 1059">
            <a:extLst xmlns:a="http://schemas.openxmlformats.org/drawingml/2006/main">
              <a:ext uri="{FF2B5EF4-FFF2-40B4-BE49-F238E27FC236}">
                <a16:creationId xmlns:a16="http://schemas.microsoft.com/office/drawing/2014/main" id="{1ECA50C8-87E4-43BB-8927-5FB42570C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4608" y="5590401"/>
            <a:ext cx="2016224" cy="4308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1pPr>
            <a:lvl2pPr marL="742950" indent="-28575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2pPr>
            <a:lvl3pPr marL="11430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3pPr>
            <a:lvl4pPr marL="16002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4pPr>
            <a:lvl5pPr marL="20574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9pPr>
          </a:lstStyle>
          <a:p xmlns:a="http://schemas.openxmlformats.org/drawingml/2006/main">
            <a:pPr>
              <a:buNone/>
            </a:pPr>
            <a:r>
              <a:rPr sz="1100" b="1">
                <a:latin typeface="나눔고딕"/>
                <a:ea typeface="나눔고딕"/>
                <a:cs typeface="나눔고딕"/>
              </a:rPr>
              <a:t>• 2단계: 벡터 검색과 공급 카탈로그 RAG 연계</a:t>
            </a:r>
          </a:p>
        </p:txBody>
      </p:sp>
      <p:sp>
        <p:nvSpPr>
          <p:cNvPr id="27" name="Text Box 1059">
            <a:extLst xmlns:a="http://schemas.openxmlformats.org/drawingml/2006/main">
              <a:ext uri="{FF2B5EF4-FFF2-40B4-BE49-F238E27FC236}">
                <a16:creationId xmlns:a16="http://schemas.microsoft.com/office/drawing/2014/main" id="{21413528-3D4D-43BA-92A5-64FEE2C9A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9143" y="5039197"/>
            <a:ext cx="2245143" cy="4308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>
              <a:buNone/>
              <a:defRPr sz="1100" b="1">
                <a:latin typeface="+mn-ea"/>
                <a:ea typeface="+mn-ea"/>
                <a:cs typeface="+mn-ea"/>
              </a:defRPr>
            </a:lvl1pPr>
            <a:lvl2pPr marL="742950" indent="-285750">
              <a:buNone/>
              <a:defRPr sz="1200">
                <a:latin typeface="굴림"/>
                <a:ea typeface="굴림"/>
                <a:cs typeface="굴림"/>
              </a:defRPr>
            </a:lvl2pPr>
            <a:lvl3pPr marL="1143000" indent="-228600">
              <a:buNone/>
              <a:defRPr sz="1200">
                <a:latin typeface="굴림"/>
                <a:ea typeface="굴림"/>
                <a:cs typeface="굴림"/>
              </a:defRPr>
            </a:lvl3pPr>
            <a:lvl4pPr marL="1600200" indent="-228600">
              <a:buNone/>
              <a:defRPr sz="1200">
                <a:latin typeface="굴림"/>
                <a:ea typeface="굴림"/>
                <a:cs typeface="굴림"/>
              </a:defRPr>
            </a:lvl4pPr>
            <a:lvl5pPr marL="2057400" indent="-228600">
              <a:buNone/>
              <a:defRPr sz="1200">
                <a:latin typeface="굴림"/>
                <a:ea typeface="굴림"/>
                <a:cs typeface="굴림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 sz="1200">
                <a:latin typeface="굴림"/>
                <a:ea typeface="굴림"/>
                <a:cs typeface="굴림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 sz="1200">
                <a:latin typeface="굴림"/>
                <a:ea typeface="굴림"/>
                <a:cs typeface="굴림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 sz="1200">
                <a:latin typeface="굴림"/>
                <a:ea typeface="굴림"/>
                <a:cs typeface="굴림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 sz="1200">
                <a:latin typeface="굴림"/>
                <a:ea typeface="굴림"/>
                <a:cs typeface="굴림"/>
              </a:defRPr>
            </a:lvl9pPr>
          </a:lstStyle>
          <a:p xmlns:a="http://schemas.openxmlformats.org/drawingml/2006/main">
            <a:r>
              <a:rPr>
                <a:latin typeface="나눔고딕"/>
                <a:ea typeface="나눔고딕"/>
                <a:cs typeface="나눔고딕"/>
              </a:rPr>
              <a:t>• 3단계: 도구 호출로 재고·영업시간·이동시간 검증</a:t>
            </a:r>
          </a:p>
        </p:txBody>
      </p:sp>
      <p:sp>
        <p:nvSpPr>
          <p:cNvPr id="28" name="Text Box 1059">
            <a:extLst xmlns:a="http://schemas.openxmlformats.org/drawingml/2006/main">
              <a:ext uri="{FF2B5EF4-FFF2-40B4-BE49-F238E27FC236}">
                <a16:creationId xmlns:a16="http://schemas.microsoft.com/office/drawing/2014/main" id="{DA221758-3EA0-4588-A66C-A7D2BAD77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9144" y="5590401"/>
            <a:ext cx="2016224" cy="4308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>
              <a:buNone/>
              <a:defRPr sz="1100" b="1">
                <a:latin typeface="+mn-ea"/>
                <a:ea typeface="+mn-ea"/>
                <a:cs typeface="+mn-ea"/>
              </a:defRPr>
            </a:lvl1pPr>
            <a:lvl2pPr marL="742950" indent="-285750">
              <a:buNone/>
              <a:defRPr sz="1200">
                <a:latin typeface="굴림"/>
                <a:ea typeface="굴림"/>
                <a:cs typeface="굴림"/>
              </a:defRPr>
            </a:lvl2pPr>
            <a:lvl3pPr marL="1143000" indent="-228600">
              <a:buNone/>
              <a:defRPr sz="1200">
                <a:latin typeface="굴림"/>
                <a:ea typeface="굴림"/>
                <a:cs typeface="굴림"/>
              </a:defRPr>
            </a:lvl3pPr>
            <a:lvl4pPr marL="1600200" indent="-228600">
              <a:buNone/>
              <a:defRPr sz="1200">
                <a:latin typeface="굴림"/>
                <a:ea typeface="굴림"/>
                <a:cs typeface="굴림"/>
              </a:defRPr>
            </a:lvl4pPr>
            <a:lvl5pPr marL="2057400" indent="-228600">
              <a:buNone/>
              <a:defRPr sz="1200">
                <a:latin typeface="굴림"/>
                <a:ea typeface="굴림"/>
                <a:cs typeface="굴림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 sz="1200">
                <a:latin typeface="굴림"/>
                <a:ea typeface="굴림"/>
                <a:cs typeface="굴림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 sz="1200">
                <a:latin typeface="굴림"/>
                <a:ea typeface="굴림"/>
                <a:cs typeface="굴림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 sz="1200">
                <a:latin typeface="굴림"/>
                <a:ea typeface="굴림"/>
                <a:cs typeface="굴림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 sz="1200">
                <a:latin typeface="굴림"/>
                <a:ea typeface="굴림"/>
                <a:cs typeface="굴림"/>
              </a:defRPr>
            </a:lvl9pPr>
          </a:lstStyle>
          <a:p xmlns:a="http://schemas.openxmlformats.org/drawingml/2006/main">
            <a:r>
              <a:rPr>
                <a:latin typeface="나눔고딕"/>
                <a:ea typeface="나눔고딕"/>
                <a:cs typeface="나눔고딕"/>
              </a:rPr>
              <a:t>• 4단계: 운영자 승인·평가·피드백 루프 구축</a:t>
            </a:r>
          </a:p>
        </p:txBody>
      </p:sp>
      <p:sp>
        <p:nvSpPr>
          <p:cNvPr id="32" name="직사각형 31">
            <a:extLst xmlns:a="http://schemas.openxmlformats.org/drawingml/2006/main">
              <a:ext uri="{FF2B5EF4-FFF2-40B4-BE49-F238E27FC236}">
                <a16:creationId xmlns:a16="http://schemas.microsoft.com/office/drawing/2014/main" id="{08F828A6-21D3-4344-A304-3F25615B6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087" y="3348469"/>
            <a:ext cx="2808697" cy="122285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350">
            <a:solidFill>
              <a:schemeClr val="bg1">
                <a:lumMod val="65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>
                <a:solidFill>
                  <a:schemeClr val="tx1"/>
                </a:solidFill>
                <a:latin typeface="나눔고딕"/>
                <a:ea typeface="나눔고딕"/>
                <a:cs typeface="나눔고딕"/>
              </a:rPr>
              <a:t>  </a:t>
            </a:r>
          </a:p>
        </p:txBody>
      </p:sp>
      <p:sp>
        <p:nvSpPr>
          <p:cNvPr id="33" name="직사각형 32">
            <a:extLst xmlns:a="http://schemas.openxmlformats.org/drawingml/2006/main">
              <a:ext uri="{FF2B5EF4-FFF2-40B4-BE49-F238E27FC236}">
                <a16:creationId xmlns:a16="http://schemas.microsoft.com/office/drawing/2014/main" id="{C56ADAF5-7FFB-4EF1-A92F-865832FA7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6704" y="3348469"/>
            <a:ext cx="2808697" cy="122285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350">
            <a:solidFill>
              <a:schemeClr val="bg1">
                <a:lumMod val="65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>
                <a:solidFill>
                  <a:schemeClr val="tx1"/>
                </a:solidFill>
                <a:latin typeface="나눔고딕"/>
                <a:ea typeface="나눔고딕"/>
                <a:cs typeface="나눔고딕"/>
              </a:rPr>
              <a:t>  </a:t>
            </a:r>
          </a:p>
        </p:txBody>
      </p:sp>
      <p:sp>
        <p:nvSpPr>
          <p:cNvPr id="34" name="직사각형 33">
            <a:extLst xmlns:a="http://schemas.openxmlformats.org/drawingml/2006/main">
              <a:ext uri="{FF2B5EF4-FFF2-40B4-BE49-F238E27FC236}">
                <a16:creationId xmlns:a16="http://schemas.microsoft.com/office/drawing/2014/main" id="{F00FDFFB-2264-49DF-9081-626215A8F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6665" y="3348469"/>
            <a:ext cx="2807497" cy="122285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350">
            <a:solidFill>
              <a:schemeClr val="bg1">
                <a:lumMod val="65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>
                <a:solidFill>
                  <a:schemeClr val="tx1"/>
                </a:solidFill>
                <a:latin typeface="나눔고딕"/>
                <a:ea typeface="나눔고딕"/>
                <a:cs typeface="나눔고딕"/>
              </a:rPr>
              <a:t>  </a:t>
            </a:r>
          </a:p>
        </p:txBody>
      </p:sp>
      <p:sp>
        <p:nvSpPr>
          <p:cNvPr id="35" name="Text Box 1078">
            <a:extLst xmlns:a="http://schemas.openxmlformats.org/drawingml/2006/main">
              <a:ext uri="{FF2B5EF4-FFF2-40B4-BE49-F238E27FC236}">
                <a16:creationId xmlns:a16="http://schemas.microsoft.com/office/drawing/2014/main" id="{702D5D0A-CE8A-41E3-B5FF-9B3172961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036" y="3391772"/>
            <a:ext cx="2779928" cy="11310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1pPr>
            <a:lvl2pPr marL="742950" indent="-28575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2pPr>
            <a:lvl3pPr marL="11430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3pPr>
            <a:lvl4pPr marL="16002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4pPr>
            <a:lvl5pPr marL="20574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9pPr>
          </a:lstStyle>
          <a:p xmlns:a="http://schemas.openxmlformats.org/drawingml/2006/main">
            <a:pPr>
              <a:spcBef>
                <a:spcPts val="600"/>
              </a:spcBef>
              <a:buFont typeface="Wingdings 3"/>
              <a:buChar char="}"/>
            </a:pPr>
            <a:r>
              <a:rPr sz="1050">
                <a:latin typeface="나눔고딕"/>
                <a:ea typeface="나눔고딕"/>
                <a:cs typeface="나눔고딕"/>
              </a:rPr>
              <a:t>목적지·날짜·동행·예산</a:t>
            </a:r>
          </a:p>
          <a:p xmlns:a="http://schemas.openxmlformats.org/drawingml/2006/main">
            <a:pPr>
              <a:spcBef>
                <a:spcPts val="600"/>
              </a:spcBef>
              <a:buFont typeface="Wingdings 3"/>
              <a:buChar char="}"/>
            </a:pPr>
            <a:r>
              <a:rPr sz="1050">
                <a:ln w="11430">
                  <a:noFill/>
                </a:ln>
                <a:latin typeface="나눔고딕"/>
                <a:ea typeface="나눔고딕"/>
                <a:cs typeface="나눔고딕"/>
              </a:rPr>
              <a:t>취향·회원 프로필</a:t>
            </a:r>
          </a:p>
        </p:txBody>
      </p:sp>
      <p:sp>
        <p:nvSpPr>
          <p:cNvPr id="36" name="Text Box 1078">
            <a:extLst xmlns:a="http://schemas.openxmlformats.org/drawingml/2006/main">
              <a:ext uri="{FF2B5EF4-FFF2-40B4-BE49-F238E27FC236}">
                <a16:creationId xmlns:a16="http://schemas.microsoft.com/office/drawing/2014/main" id="{DEAE33C5-46D8-4BD7-BCCF-FA48AB3B0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0226" y="3391772"/>
            <a:ext cx="2892138" cy="11387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spcBef>
                <a:spcPts val="600"/>
              </a:spcBef>
              <a:buFont typeface="Wingdings 3"/>
              <a:buChar char="}"/>
              <a:defRPr sz="1050">
                <a:latin typeface="나눔고딕"/>
                <a:ea typeface="나눔고딕"/>
                <a:cs typeface="나눔고딕"/>
              </a:defRPr>
            </a:lvl1pPr>
            <a:lvl2pPr marL="742950" indent="-285750">
              <a:buNone/>
              <a:defRPr sz="1200">
                <a:latin typeface="굴림"/>
                <a:ea typeface="굴림"/>
                <a:cs typeface="굴림"/>
              </a:defRPr>
            </a:lvl2pPr>
            <a:lvl3pPr marL="1143000" indent="-228600">
              <a:buNone/>
              <a:defRPr sz="1200">
                <a:latin typeface="굴림"/>
                <a:ea typeface="굴림"/>
                <a:cs typeface="굴림"/>
              </a:defRPr>
            </a:lvl3pPr>
            <a:lvl4pPr marL="1600200" indent="-228600">
              <a:buNone/>
              <a:defRPr sz="1200">
                <a:latin typeface="굴림"/>
                <a:ea typeface="굴림"/>
                <a:cs typeface="굴림"/>
              </a:defRPr>
            </a:lvl4pPr>
            <a:lvl5pPr marL="2057400" indent="-228600">
              <a:buNone/>
              <a:defRPr sz="1200">
                <a:latin typeface="굴림"/>
                <a:ea typeface="굴림"/>
                <a:cs typeface="굴림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 sz="1200">
                <a:latin typeface="굴림"/>
                <a:ea typeface="굴림"/>
                <a:cs typeface="굴림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 sz="1200">
                <a:latin typeface="굴림"/>
                <a:ea typeface="굴림"/>
                <a:cs typeface="굴림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 sz="1200">
                <a:latin typeface="굴림"/>
                <a:ea typeface="굴림"/>
                <a:cs typeface="굴림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 sz="1200">
                <a:latin typeface="굴림"/>
                <a:ea typeface="굴림"/>
                <a:cs typeface="굴림"/>
              </a:defRPr>
            </a:lvl9pPr>
          </a:lstStyle>
          <a:p xmlns:a="http://schemas.openxmlformats.org/drawingml/2006/main">
            <a:r>
              <a:t>이동·영업시간·재고·예산</a:t>
            </a:r>
          </a:p>
          <a:p xmlns:a="http://schemas.openxmlformats.org/drawingml/2006/main">
            <a:r>
              <a:t>충돌 검증과 대안</a:t>
            </a:r>
          </a:p>
        </p:txBody>
      </p:sp>
      <p:sp>
        <p:nvSpPr>
          <p:cNvPr id="37" name="Text Box 1078">
            <a:extLst xmlns:a="http://schemas.openxmlformats.org/drawingml/2006/main">
              <a:ext uri="{FF2B5EF4-FFF2-40B4-BE49-F238E27FC236}">
                <a16:creationId xmlns:a16="http://schemas.microsoft.com/office/drawing/2014/main" id="{E49E58D5-12D6-4D3B-83F1-0C24B1DC9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0265" y="3378407"/>
            <a:ext cx="2787943" cy="10926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1pPr>
            <a:lvl2pPr marL="742950" indent="-28575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2pPr>
            <a:lvl3pPr marL="11430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3pPr>
            <a:lvl4pPr marL="16002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4pPr>
            <a:lvl5pPr marL="20574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9pPr>
          </a:lstStyle>
          <a:p xmlns:a="http://schemas.openxmlformats.org/drawingml/2006/main">
            <a:pPr>
              <a:spcBef>
                <a:spcPts val="500"/>
              </a:spcBef>
              <a:buFont typeface="Wingdings 3"/>
              <a:buChar char="}"/>
            </a:pPr>
            <a:r>
              <a:rPr sz="1050">
                <a:latin typeface="나눔고딕"/>
                <a:ea typeface="나눔고딕"/>
                <a:cs typeface="나눔고딕"/>
              </a:rPr>
              <a:t>추천 이유·출처·확인시각</a:t>
            </a:r>
          </a:p>
          <a:p xmlns:a="http://schemas.openxmlformats.org/drawingml/2006/main">
            <a:pPr>
              <a:spcBef>
                <a:spcPts val="500"/>
              </a:spcBef>
              <a:buFont typeface="Wingdings 3"/>
              <a:buChar char="}"/>
            </a:pPr>
            <a:r>
              <a:rPr sz="1050">
                <a:ln w="11430">
                  <a:noFill/>
                </a:ln>
                <a:latin typeface="나눔고딕"/>
                <a:ea typeface="나눔고딕"/>
                <a:cs typeface="나눔고딕"/>
              </a:rPr>
              <a:t>운영자 평가 로그</a:t>
            </a:r>
          </a:p>
        </p:txBody>
      </p:sp>
      <p:sp>
        <p:nvSpPr>
          <p:cNvPr id="38" name="직사각형 37">
            <a:extLst xmlns:a="http://schemas.openxmlformats.org/drawingml/2006/main">
              <a:ext uri="{FF2B5EF4-FFF2-40B4-BE49-F238E27FC236}">
                <a16:creationId xmlns:a16="http://schemas.microsoft.com/office/drawing/2014/main" id="{B1518440-D941-4F63-9C43-FF2511259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087" y="2865869"/>
            <a:ext cx="2811446" cy="48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9EF1"/>
          </a:solidFill>
          <a:ln xmlns:a="http://schemas.openxmlformats.org/drawingml/2006/main" w="9525">
            <a:noFill/>
          </a:ln>
        </p:spPr>
        <p:txBody>
          <a:bodyPr xmlns:a="http://schemas.openxmlformats.org/drawingml/2006/main" wrap="none" lIns="0" rIns="0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spcBef>
                <a:spcPts val="600"/>
              </a:spcBef>
              <a:buNone/>
            </a:pPr>
            <a:r>
              <a:rPr sz="1300" b="1">
                <a:ln>
                  <a:solidFill>
                    <a:srgbClr val="CCECFF">
                      <a:alpha val="0"/>
                    </a:srgbClr>
                  </a:solidFill>
                </a:ln>
                <a:solidFill>
                  <a:schemeClr val="bg1"/>
                </a:solidFill>
                <a:latin typeface="나눔고딕"/>
                <a:ea typeface="나눔고딕"/>
                <a:cs typeface="나눔고딕"/>
              </a:rPr>
              <a:t>입력·기억</a:t>
            </a:r>
          </a:p>
        </p:txBody>
      </p:sp>
      <p:sp>
        <p:nvSpPr>
          <p:cNvPr id="39" name="직사각형 38">
            <a:extLst xmlns:a="http://schemas.openxmlformats.org/drawingml/2006/main">
              <a:ext uri="{FF2B5EF4-FFF2-40B4-BE49-F238E27FC236}">
                <a16:creationId xmlns:a16="http://schemas.microsoft.com/office/drawing/2014/main" id="{1E9B8607-6B74-409B-9702-B4D862CD1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6665" y="2865869"/>
            <a:ext cx="2807497" cy="48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9EF1"/>
          </a:solidFill>
          <a:ln xmlns:a="http://schemas.openxmlformats.org/drawingml/2006/main" w="9525">
            <a:noFill/>
          </a:ln>
        </p:spPr>
        <p:txBody>
          <a:bodyPr xmlns:a="http://schemas.openxmlformats.org/drawingml/2006/main" wrap="none" lIns="0" r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1">
                <a:ln>
                  <a:solidFill>
                    <a:srgbClr val="CCECFF">
                      <a:alpha val="0"/>
                    </a:srgbClr>
                  </a:solidFill>
                </a:ln>
                <a:solidFill>
                  <a:schemeClr val="bg1"/>
                </a:solidFill>
                <a:latin typeface="나눔고딕"/>
                <a:ea typeface="나눔고딕"/>
                <a:cs typeface="나눔고딕"/>
              </a:rPr>
              <a:t>계획·검증</a:t>
            </a:r>
          </a:p>
        </p:txBody>
      </p:sp>
      <p:sp>
        <p:nvSpPr>
          <p:cNvPr id="40" name="직사각형 39">
            <a:extLst xmlns:a="http://schemas.openxmlformats.org/drawingml/2006/main">
              <a:ext uri="{FF2B5EF4-FFF2-40B4-BE49-F238E27FC236}">
                <a16:creationId xmlns:a16="http://schemas.microsoft.com/office/drawing/2014/main" id="{6BDD85B1-23E7-49B9-8DEB-FCF2ACF69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6704" y="2852504"/>
            <a:ext cx="2807497" cy="48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9EF1"/>
          </a:solidFill>
          <a:ln xmlns:a="http://schemas.openxmlformats.org/drawingml/2006/main" w="9525">
            <a:noFill/>
          </a:ln>
        </p:spPr>
        <p:txBody>
          <a:bodyPr xmlns:a="http://schemas.openxmlformats.org/drawingml/2006/main" wrap="none" lIns="0" rIns="0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spcBef>
                <a:spcPts val="600"/>
              </a:spcBef>
              <a:buNone/>
            </a:pPr>
            <a:r>
              <a:rPr sz="1300" b="1">
                <a:ln>
                  <a:solidFill>
                    <a:srgbClr val="CCECFF">
                      <a:alpha val="0"/>
                    </a:srgbClr>
                  </a:solidFill>
                </a:ln>
                <a:solidFill>
                  <a:schemeClr val="bg1"/>
                </a:solidFill>
                <a:latin typeface="나눔고딕"/>
                <a:ea typeface="나눔고딕"/>
                <a:cs typeface="나눔고딕"/>
              </a:rPr>
              <a:t>근거·운영</a:t>
            </a:r>
          </a:p>
        </p:txBody>
      </p:sp>
      <p:sp>
        <p:nvSpPr>
          <p:cNvPr id="30" name="AutoShape 1073">
            <a:extLst xmlns:a="http://schemas.openxmlformats.org/drawingml/2006/main">
              <a:ext uri="{FF2B5EF4-FFF2-40B4-BE49-F238E27FC236}">
                <a16:creationId xmlns:a16="http://schemas.microsoft.com/office/drawing/2014/main" id="{7AE85CCB-A499-464E-8F37-5A3EB5D68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087" y="6102821"/>
            <a:ext cx="8599625" cy="330307"/>
          </a:xfrm>
          <a:prstGeom xmlns:a="http://schemas.openxmlformats.org/drawingml/2006/main" prst="roundRect">
            <a:avLst>
              <a:gd name="adj" fmla="val 12278"/>
            </a:avLst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46800" rIns="0" bIns="46800" anchor="ctr"/>
          <a:lstStyle xmlns:a="http://schemas.openxmlformats.org/drawingml/2006/main">
            <a:lvl1pPr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1pPr>
            <a:lvl2pPr marL="742950" indent="-28575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2pPr>
            <a:lvl3pPr marL="11430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3pPr>
            <a:lvl4pPr marL="16002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4pPr>
            <a:lvl5pPr marL="20574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9pPr>
          </a:lstStyle>
          <a:p xmlns:a="http://schemas.openxmlformats.org/drawingml/2006/main">
            <a:pPr>
              <a:buClr>
                <a:schemeClr val="accent2"/>
              </a:buClr>
              <a:buNone/>
            </a:pPr>
            <a:r>
              <a:rPr sz="1000">
                <a:latin typeface="나눔고딕"/>
                <a:ea typeface="나눔고딕"/>
                <a:cs typeface="나눔고딕"/>
              </a:rPr>
              <a:t>AI는 가격과 예약을 확정하지 않으며 최종 공급자 상태를 다시 조회합니다.</a:t>
            </a:r>
          </a:p>
        </p:txBody>
      </p:sp>
      <p:sp>
        <p:nvSpPr>
          <p:cNvPr id="2" name="슬라이드 번호 개체 틀 1">
            <a:extLst xmlns:a="http://schemas.openxmlformats.org/drawingml/2006/main">
              <a:ext uri="{FF2B5EF4-FFF2-40B4-BE49-F238E27FC236}">
                <a16:creationId xmlns:a16="http://schemas.microsoft.com/office/drawing/2014/main" id="{DDFC9716-A9B0-4549-A5B9-FE0891C55E6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DD23107-4986-8758-3A93-3D74F35908CC}" type="slidenum">
              <a:rPr>
                <a:latin typeface="나눔고딕"/>
                <a:ea typeface="나눔고딕"/>
                <a:cs typeface="나눔고딕"/>
              </a:rPr>
              <a:t>13</a:t>
            </a:fld>
          </a:p>
        </p:txBody>
      </p:sp>
    </p:spTree>
    <p:extLst>
      <p:ext uri="{BB962C8B-B14F-4D97-AF65-F5344CB8AC3E}">
        <p14:creationId xmlns:p14="http://schemas.microsoft.com/office/powerpoint/2010/main" val="2112425122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제목 71">
            <a:extLst xmlns:a="http://schemas.openxmlformats.org/drawingml/2006/main">
              <a:ext uri="{FF2B5EF4-FFF2-40B4-BE49-F238E27FC236}">
                <a16:creationId xmlns:a16="http://schemas.microsoft.com/office/drawing/2014/main" id="{0A4D92D9-7E69-480C-9827-E9CD4C613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487" y="71414"/>
            <a:ext cx="6768753" cy="57150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6800" rIns="91440" bIns="46800" anchor="b">
            <a:normAutofit fontScale="100000"/>
          </a:bodyPr>
          <a:lstStyle xmlns:a="http://schemas.openxmlformats.org/drawingml/2006/main">
            <a:lvl1pPr algn="l" defTabSz="914400">
              <a:spcBef>
                <a:spcPct val="0"/>
              </a:spcBef>
              <a:buNone/>
              <a:defRPr sz="1800" b="1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rPr>
                <a:solidFill>
                  <a:schemeClr val="bg1"/>
                </a:solidFill>
                <a:latin typeface="나눔고딕"/>
                <a:ea typeface="나눔고딕"/>
                <a:cs typeface="나눔고딕"/>
              </a:rPr>
              <a:t>6. 공급 유형별 운영 모델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3F454521-134A-4C19-B324-2C34D0011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512" y="908720"/>
            <a:ext cx="8945580" cy="8475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1300" b="1">
                <a:latin typeface="나눔고딕"/>
                <a:ea typeface="나눔고딕"/>
                <a:cs typeface="나눔고딕"/>
              </a:rPr>
              <a:t>공급 방식은 달라도 고객은 동일한 호텔·장소·상품·옵션·가격·재고 표현을 보도록 HotelSupplyAdapter와 ActivitySupplyAdapter 계약을 중심으로 구성합니다.</a:t>
            </a:r>
          </a:p>
        </p:txBody>
      </p:sp>
      <p:sp>
        <p:nvSpPr>
          <p:cNvPr id="10" name="삼각형 8">
            <a:extLst xmlns:a="http://schemas.openxmlformats.org/drawingml/2006/main">
              <a:ext uri="{FF2B5EF4-FFF2-40B4-BE49-F238E27FC236}">
                <a16:creationId xmlns:a16="http://schemas.microsoft.com/office/drawing/2014/main" id="{96744AEB-2A7A-45EC-9328-C78D7D088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520" y="1784011"/>
            <a:ext cx="7818959" cy="1210857"/>
          </a:xfrm>
          <a:prstGeom xmlns:a="http://schemas.openxmlformats.org/drawingml/2006/main" prst="triangle">
            <a:avLst>
              <a:gd name="adj" fmla="val 49887"/>
            </a:avLst>
          </a:prstGeom>
          <a:gradFill xmlns:a="http://schemas.openxmlformats.org/drawingml/2006/main" rotWithShape="1">
            <a:gsLst>
              <a:gs pos="0">
                <a:srgbClr val="D1EFF9">
                  <a:alpha val="30000"/>
                </a:srgb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162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Clr>
                <a:srgbClr val="000000"/>
              </a:buClr>
              <a:buFont typeface="Arial"/>
              <a:buNone/>
            </a:pPr>
          </a:p>
        </p:txBody>
      </p:sp>
      <p:sp>
        <p:nvSpPr>
          <p:cNvPr id="11" name="사각형: 둥근 모서리 10">
            <a:extLst xmlns:a="http://schemas.openxmlformats.org/drawingml/2006/main">
              <a:ext uri="{FF2B5EF4-FFF2-40B4-BE49-F238E27FC236}">
                <a16:creationId xmlns:a16="http://schemas.microsoft.com/office/drawing/2014/main" id="{08657C82-0C4A-4BB5-941E-A1F4CCD8B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474" y="4832033"/>
            <a:ext cx="8644727" cy="122285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9525">
            <a:solidFill>
              <a:schemeClr val="bg1">
                <a:lumMod val="65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 Box 1059">
            <a:extLst xmlns:a="http://schemas.openxmlformats.org/drawingml/2006/main">
              <a:ext uri="{FF2B5EF4-FFF2-40B4-BE49-F238E27FC236}">
                <a16:creationId xmlns:a16="http://schemas.microsoft.com/office/drawing/2014/main" id="{A1C9E121-F826-4C77-AFFB-93257D138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4608" y="5039197"/>
            <a:ext cx="2016224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1pPr>
            <a:lvl2pPr marL="742950" indent="-28575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2pPr>
            <a:lvl3pPr marL="11430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3pPr>
            <a:lvl4pPr marL="16002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4pPr>
            <a:lvl5pPr marL="20574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9pPr>
          </a:lstStyle>
          <a:p xmlns:a="http://schemas.openxmlformats.org/drawingml/2006/main">
            <a:pPr>
              <a:buNone/>
            </a:pPr>
            <a:r>
              <a:rPr sz="1100" b="1">
                <a:latin typeface="나눔고딕"/>
                <a:ea typeface="나눔고딕"/>
                <a:cs typeface="나눔고딕"/>
              </a:rPr>
              <a:t>• Provider → Place → Product → Offer → Inventory → Booking</a:t>
            </a:r>
          </a:p>
        </p:txBody>
      </p:sp>
      <p:sp>
        <p:nvSpPr>
          <p:cNvPr id="14" name="사각형: 둥근 모서리 13">
            <a:extLst xmlns:a="http://schemas.openxmlformats.org/drawingml/2006/main">
              <a:ext uri="{FF2B5EF4-FFF2-40B4-BE49-F238E27FC236}">
                <a16:creationId xmlns:a16="http://schemas.microsoft.com/office/drawing/2014/main" id="{6BED4BEC-4414-418C-AD4E-70FE50217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474" y="1926992"/>
            <a:ext cx="8644727" cy="493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54D83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Clr>
                <a:srgbClr val="000000"/>
              </a:buClr>
              <a:buFont typeface="Arial"/>
              <a:buNone/>
            </a:pPr>
            <a:r>
              <a:rPr b="1">
                <a:solidFill>
                  <a:schemeClr val="bg1"/>
                </a:solidFill>
                <a:latin typeface="나눔고딕"/>
                <a:ea typeface="나눔고딕"/>
                <a:cs typeface="나눔고딕"/>
              </a:rPr>
              <a:t>공급 방식은 다르게</a:t>
            </a:r>
          </a:p>
          <a:p xmlns:a="http://schemas.openxmlformats.org/drawingml/2006/main">
            <a:pPr algn="ctr">
              <a:buClr>
                <a:srgbClr val="000000"/>
              </a:buClr>
              <a:buFont typeface="Arial"/>
              <a:buNone/>
            </a:pPr>
            <a:r>
              <a:rPr b="1">
                <a:solidFill>
                  <a:schemeClr val="bg1"/>
                </a:solidFill>
                <a:latin typeface="나눔고딕"/>
                <a:ea typeface="나눔고딕"/>
                <a:cs typeface="나눔고딕"/>
              </a:rPr>
              <a:t>고객 경험은 동일하게</a:t>
            </a:r>
          </a:p>
        </p:txBody>
      </p:sp>
      <p:sp>
        <p:nvSpPr>
          <p:cNvPr id="16" name="AutoShape 1073">
            <a:extLst xmlns:a="http://schemas.openxmlformats.org/drawingml/2006/main">
              <a:ext uri="{FF2B5EF4-FFF2-40B4-BE49-F238E27FC236}">
                <a16:creationId xmlns:a16="http://schemas.microsoft.com/office/drawing/2014/main" id="{C46E2062-1BD1-41E4-BB85-27970B07D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202" y="2432230"/>
            <a:ext cx="8155110" cy="393789"/>
          </a:xfrm>
          <a:prstGeom xmlns:a="http://schemas.openxmlformats.org/drawingml/2006/main" prst="roundRect">
            <a:avLst>
              <a:gd name="adj" fmla="val 12278"/>
            </a:avLst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46800" rIns="0" bIns="46800" anchor="ctr"/>
          <a:lstStyle xmlns:a="http://schemas.openxmlformats.org/drawingml/2006/main">
            <a:lvl1pPr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1pPr>
            <a:lvl2pPr marL="742950" indent="-28575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2pPr>
            <a:lvl3pPr marL="11430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3pPr>
            <a:lvl4pPr marL="16002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4pPr>
            <a:lvl5pPr marL="20574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9pPr>
          </a:lstStyle>
          <a:p xmlns:a="http://schemas.openxmlformats.org/drawingml/2006/main">
            <a:pPr algn="ctr">
              <a:buClr>
                <a:schemeClr val="accent2"/>
              </a:buClr>
              <a:buNone/>
            </a:pPr>
            <a:r>
              <a:rPr sz="1600" b="1">
                <a:latin typeface="나눔고딕"/>
                <a:ea typeface="나눔고딕"/>
                <a:cs typeface="나눔고딕"/>
              </a:rPr>
              <a:t>INTERNAL_PMS · PARTNER_MANAGED · EXTERNAL_API · HYBRID</a:t>
            </a:r>
          </a:p>
        </p:txBody>
      </p:sp>
      <p:sp>
        <p:nvSpPr>
          <p:cNvPr id="17" name="사각형: 둥근 모서리 16">
            <a:extLst xmlns:a="http://schemas.openxmlformats.org/drawingml/2006/main">
              <a:ext uri="{FF2B5EF4-FFF2-40B4-BE49-F238E27FC236}">
                <a16:creationId xmlns:a16="http://schemas.microsoft.com/office/drawing/2014/main" id="{9227A528-23D7-430D-82C2-CC04E412A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097" y="4653136"/>
            <a:ext cx="7359190" cy="34588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tIns="0" bIns="0" anchor="ctr"/>
          <a:lstStyle xmlns:a="http://schemas.openxmlformats.org/drawingml/2006/main"/>
          <a:p xmlns:a="http://schemas.openxmlformats.org/drawingml/2006/main">
            <a:pPr algn="ctr">
              <a:buClr>
                <a:srgbClr val="000000"/>
              </a:buClr>
              <a:buFont typeface="Arial"/>
              <a:buNone/>
            </a:pPr>
            <a:r>
              <a:rPr sz="1400" b="1">
                <a:latin typeface="나눔고딕"/>
                <a:ea typeface="나눔고딕"/>
                <a:cs typeface="나눔고딕"/>
              </a:rPr>
              <a:t>공통 계약</a:t>
            </a:r>
          </a:p>
        </p:txBody>
      </p:sp>
      <p:sp>
        <p:nvSpPr>
          <p:cNvPr id="18" name="사각형: 둥근 모서리 17">
            <a:extLst xmlns:a="http://schemas.openxmlformats.org/drawingml/2006/main">
              <a:ext uri="{FF2B5EF4-FFF2-40B4-BE49-F238E27FC236}">
                <a16:creationId xmlns:a16="http://schemas.microsoft.com/office/drawing/2014/main" id="{9B1F9BE3-70A7-4D4D-8EE6-71B6AFED7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6035" y="5281071"/>
            <a:ext cx="1399410" cy="428931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BE3EE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Clr>
                <a:srgbClr val="000000"/>
              </a:buClr>
              <a:buFont typeface="Arial"/>
              <a:buNone/>
            </a:pPr>
          </a:p>
        </p:txBody>
      </p:sp>
      <p:sp>
        <p:nvSpPr>
          <p:cNvPr id="19" name="Text Box 1067">
            <a:extLst xmlns:a="http://schemas.openxmlformats.org/drawingml/2006/main">
              <a:ext uri="{FF2B5EF4-FFF2-40B4-BE49-F238E27FC236}">
                <a16:creationId xmlns:a16="http://schemas.microsoft.com/office/drawing/2014/main" id="{127D301A-BA50-4D6F-8A82-A09973BD4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4760" y="5357037"/>
            <a:ext cx="1821959" cy="2769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spAutoFit/>
          </a:bodyPr>
          <a:lstStyle xmlns:a="http://schemas.openxmlformats.org/drawingml/2006/main">
            <a:lvl1pPr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1pPr>
            <a:lvl2pPr marL="742950" indent="-28575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2pPr>
            <a:lvl3pPr marL="11430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3pPr>
            <a:lvl4pPr marL="16002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4pPr>
            <a:lvl5pPr marL="20574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9pPr>
          </a:lstStyle>
          <a:p xmlns:a="http://schemas.openxmlformats.org/drawingml/2006/main">
            <a:pPr algn="ctr">
              <a:buNone/>
            </a:pPr>
            <a:r>
              <a:rPr b="1">
                <a:latin typeface="나눔고딕"/>
                <a:ea typeface="나눔고딕"/>
                <a:cs typeface="나눔고딕"/>
              </a:rPr>
              <a:t>SUPPLY CORE</a:t>
            </a:r>
          </a:p>
        </p:txBody>
      </p:sp>
      <p:cxnSp>
        <p:nvCxnSpPr>
          <p:cNvPr id="65" name="연결선: 꺾임 20"/>
          <p:cNvCxnSpPr/>
          <p:nvPr/>
        </p:nvCxnSpPr>
        <p:spPr>
          <a:xfrm xmlns:a="http://schemas.openxmlformats.org/drawingml/2006/main" rot="0" flipH="0" flipV="1">
            <a:off x="5514397" y="5218539"/>
            <a:ext cx="647542" cy="280326"/>
          </a:xfrm>
          <a:prstGeom xmlns:a="http://schemas.openxmlformats.org/drawingml/2006/main" prst="bentConnector3">
            <a:avLst/>
          </a:prstGeom>
          <a:ln xmlns:a="http://schemas.openxmlformats.org/drawingml/2006/main">
            <a:solidFill>
              <a:srgbClr val="C7B38F"/>
            </a:solidFill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66" name="연결선: 꺾임 21"/>
          <p:cNvCxnSpPr/>
          <p:nvPr/>
        </p:nvCxnSpPr>
        <p:spPr>
          <a:xfrm xmlns:a="http://schemas.openxmlformats.org/drawingml/2006/main" rot="0" flipH="0" flipV="0">
            <a:off x="5514397" y="5498865"/>
            <a:ext cx="647542" cy="346166"/>
          </a:xfrm>
          <a:prstGeom xmlns:a="http://schemas.openxmlformats.org/drawingml/2006/main" prst="bentConnector3">
            <a:avLst/>
          </a:prstGeom>
          <a:ln xmlns:a="http://schemas.openxmlformats.org/drawingml/2006/main">
            <a:solidFill>
              <a:srgbClr val="C7B38F"/>
            </a:solidFill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67" name="연결선: 꺾임 23"/>
          <p:cNvCxnSpPr/>
          <p:nvPr/>
        </p:nvCxnSpPr>
        <p:spPr>
          <a:xfrm xmlns:a="http://schemas.openxmlformats.org/drawingml/2006/main" rot="10800000" flipH="0" flipV="0">
            <a:off x="-8573939" y="5218539"/>
            <a:ext cx="647542" cy="276999"/>
          </a:xfrm>
          <a:prstGeom xmlns:a="http://schemas.openxmlformats.org/drawingml/2006/main" prst="bentConnector3">
            <a:avLst/>
          </a:prstGeom>
          <a:ln xmlns:a="http://schemas.openxmlformats.org/drawingml/2006/main">
            <a:solidFill>
              <a:srgbClr val="C7B38F"/>
            </a:solidFill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68" name="연결선: 꺾임 24"/>
          <p:cNvCxnSpPr/>
          <p:nvPr/>
        </p:nvCxnSpPr>
        <p:spPr>
          <a:xfrm xmlns:a="http://schemas.openxmlformats.org/drawingml/2006/main" rot="0" flipH="1" flipV="0">
            <a:off x="-8573939" y="5495537"/>
            <a:ext cx="647542" cy="346166"/>
          </a:xfrm>
          <a:prstGeom xmlns:a="http://schemas.openxmlformats.org/drawingml/2006/main" prst="bentConnector3">
            <a:avLst/>
          </a:prstGeom>
          <a:ln xmlns:a="http://schemas.openxmlformats.org/drawingml/2006/main">
            <a:solidFill>
              <a:srgbClr val="C7B38F"/>
            </a:solidFill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26" name="Text Box 1059">
            <a:extLst xmlns:a="http://schemas.openxmlformats.org/drawingml/2006/main">
              <a:ext uri="{FF2B5EF4-FFF2-40B4-BE49-F238E27FC236}">
                <a16:creationId xmlns:a16="http://schemas.microsoft.com/office/drawing/2014/main" id="{1ECA50C8-87E4-43BB-8927-5FB42570C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4608" y="5590401"/>
            <a:ext cx="2016224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1pPr>
            <a:lvl2pPr marL="742950" indent="-28575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2pPr>
            <a:lvl3pPr marL="11430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3pPr>
            <a:lvl4pPr marL="16002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4pPr>
            <a:lvl5pPr marL="20574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9pPr>
          </a:lstStyle>
          <a:p xmlns:a="http://schemas.openxmlformats.org/drawingml/2006/main">
            <a:pPr>
              <a:buNone/>
            </a:pPr>
            <a:r>
              <a:rPr sz="1100" b="1">
                <a:latin typeface="나눔고딕"/>
                <a:ea typeface="나눔고딕"/>
                <a:cs typeface="나눔고딕"/>
              </a:rPr>
              <a:t>• 즉시확정·요청확정·정보제공 상태 구분</a:t>
            </a:r>
          </a:p>
        </p:txBody>
      </p:sp>
      <p:sp>
        <p:nvSpPr>
          <p:cNvPr id="27" name="Text Box 1059">
            <a:extLst xmlns:a="http://schemas.openxmlformats.org/drawingml/2006/main">
              <a:ext uri="{FF2B5EF4-FFF2-40B4-BE49-F238E27FC236}">
                <a16:creationId xmlns:a16="http://schemas.microsoft.com/office/drawing/2014/main" id="{21413528-3D4D-43BA-92A5-64FEE2C9A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9143" y="5039197"/>
            <a:ext cx="2245143" cy="4308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>
              <a:buNone/>
              <a:defRPr sz="1100" b="1">
                <a:latin typeface="+mn-ea"/>
                <a:ea typeface="+mn-ea"/>
                <a:cs typeface="+mn-ea"/>
              </a:defRPr>
            </a:lvl1pPr>
            <a:lvl2pPr marL="742950" indent="-285750">
              <a:buNone/>
              <a:defRPr sz="1200">
                <a:latin typeface="굴림"/>
                <a:ea typeface="굴림"/>
                <a:cs typeface="굴림"/>
              </a:defRPr>
            </a:lvl2pPr>
            <a:lvl3pPr marL="1143000" indent="-228600">
              <a:buNone/>
              <a:defRPr sz="1200">
                <a:latin typeface="굴림"/>
                <a:ea typeface="굴림"/>
                <a:cs typeface="굴림"/>
              </a:defRPr>
            </a:lvl3pPr>
            <a:lvl4pPr marL="1600200" indent="-228600">
              <a:buNone/>
              <a:defRPr sz="1200">
                <a:latin typeface="굴림"/>
                <a:ea typeface="굴림"/>
                <a:cs typeface="굴림"/>
              </a:defRPr>
            </a:lvl4pPr>
            <a:lvl5pPr marL="2057400" indent="-228600">
              <a:buNone/>
              <a:defRPr sz="1200">
                <a:latin typeface="굴림"/>
                <a:ea typeface="굴림"/>
                <a:cs typeface="굴림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 sz="1200">
                <a:latin typeface="굴림"/>
                <a:ea typeface="굴림"/>
                <a:cs typeface="굴림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 sz="1200">
                <a:latin typeface="굴림"/>
                <a:ea typeface="굴림"/>
                <a:cs typeface="굴림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 sz="1200">
                <a:latin typeface="굴림"/>
                <a:ea typeface="굴림"/>
                <a:cs typeface="굴림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 sz="1200">
                <a:latin typeface="굴림"/>
                <a:ea typeface="굴림"/>
                <a:cs typeface="굴림"/>
              </a:defRPr>
            </a:lvl9pPr>
          </a:lstStyle>
          <a:p xmlns:a="http://schemas.openxmlformats.org/drawingml/2006/main">
            <a:r>
              <a:rPr>
                <a:latin typeface="나눔고딕"/>
                <a:ea typeface="나눔고딕"/>
                <a:cs typeface="나눔고딕"/>
              </a:rPr>
              <a:t>• 업종별 옵션: 홀·티타임, 차종, 메뉴, 마사지 코스 등</a:t>
            </a:r>
          </a:p>
        </p:txBody>
      </p:sp>
      <p:sp>
        <p:nvSpPr>
          <p:cNvPr id="28" name="Text Box 1059">
            <a:extLst xmlns:a="http://schemas.openxmlformats.org/drawingml/2006/main">
              <a:ext uri="{FF2B5EF4-FFF2-40B4-BE49-F238E27FC236}">
                <a16:creationId xmlns:a16="http://schemas.microsoft.com/office/drawing/2014/main" id="{DA221758-3EA0-4588-A66C-A7D2BAD77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9144" y="5590401"/>
            <a:ext cx="2016224" cy="4308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>
              <a:buNone/>
              <a:defRPr sz="1100" b="1">
                <a:latin typeface="+mn-ea"/>
                <a:ea typeface="+mn-ea"/>
                <a:cs typeface="+mn-ea"/>
              </a:defRPr>
            </a:lvl1pPr>
            <a:lvl2pPr marL="742950" indent="-285750">
              <a:buNone/>
              <a:defRPr sz="1200">
                <a:latin typeface="굴림"/>
                <a:ea typeface="굴림"/>
                <a:cs typeface="굴림"/>
              </a:defRPr>
            </a:lvl2pPr>
            <a:lvl3pPr marL="1143000" indent="-228600">
              <a:buNone/>
              <a:defRPr sz="1200">
                <a:latin typeface="굴림"/>
                <a:ea typeface="굴림"/>
                <a:cs typeface="굴림"/>
              </a:defRPr>
            </a:lvl3pPr>
            <a:lvl4pPr marL="1600200" indent="-228600">
              <a:buNone/>
              <a:defRPr sz="1200">
                <a:latin typeface="굴림"/>
                <a:ea typeface="굴림"/>
                <a:cs typeface="굴림"/>
              </a:defRPr>
            </a:lvl4pPr>
            <a:lvl5pPr marL="2057400" indent="-228600">
              <a:buNone/>
              <a:defRPr sz="1200">
                <a:latin typeface="굴림"/>
                <a:ea typeface="굴림"/>
                <a:cs typeface="굴림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 sz="1200">
                <a:latin typeface="굴림"/>
                <a:ea typeface="굴림"/>
                <a:cs typeface="굴림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 sz="1200">
                <a:latin typeface="굴림"/>
                <a:ea typeface="굴림"/>
                <a:cs typeface="굴림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 sz="1200">
                <a:latin typeface="굴림"/>
                <a:ea typeface="굴림"/>
                <a:cs typeface="굴림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 sz="1200">
                <a:latin typeface="굴림"/>
                <a:ea typeface="굴림"/>
                <a:cs typeface="굴림"/>
              </a:defRPr>
            </a:lvl9pPr>
          </a:lstStyle>
          <a:p xmlns:a="http://schemas.openxmlformats.org/drawingml/2006/main">
            <a:r>
              <a:rPr>
                <a:latin typeface="나눔고딕"/>
                <a:ea typeface="나눔고딕"/>
                <a:cs typeface="나눔고딕"/>
              </a:rPr>
              <a:t>• 공급자·호텔·상품·예약 단위 감사 로그</a:t>
            </a:r>
          </a:p>
        </p:txBody>
      </p:sp>
      <p:sp>
        <p:nvSpPr>
          <p:cNvPr id="32" name="직사각형 31">
            <a:extLst xmlns:a="http://schemas.openxmlformats.org/drawingml/2006/main">
              <a:ext uri="{FF2B5EF4-FFF2-40B4-BE49-F238E27FC236}">
                <a16:creationId xmlns:a16="http://schemas.microsoft.com/office/drawing/2014/main" id="{08F828A6-21D3-4344-A304-3F25615B6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087" y="3348469"/>
            <a:ext cx="2808697" cy="122285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350">
            <a:solidFill>
              <a:schemeClr val="bg1">
                <a:lumMod val="65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>
                <a:solidFill>
                  <a:schemeClr val="tx1"/>
                </a:solidFill>
                <a:latin typeface="나눔고딕"/>
                <a:ea typeface="나눔고딕"/>
                <a:cs typeface="나눔고딕"/>
              </a:rPr>
              <a:t>  </a:t>
            </a:r>
          </a:p>
        </p:txBody>
      </p:sp>
      <p:sp>
        <p:nvSpPr>
          <p:cNvPr id="33" name="직사각형 32">
            <a:extLst xmlns:a="http://schemas.openxmlformats.org/drawingml/2006/main">
              <a:ext uri="{FF2B5EF4-FFF2-40B4-BE49-F238E27FC236}">
                <a16:creationId xmlns:a16="http://schemas.microsoft.com/office/drawing/2014/main" id="{C56ADAF5-7FFB-4EF1-A92F-865832FA7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6704" y="3348469"/>
            <a:ext cx="2808697" cy="122285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350">
            <a:solidFill>
              <a:schemeClr val="bg1">
                <a:lumMod val="65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>
                <a:solidFill>
                  <a:schemeClr val="tx1"/>
                </a:solidFill>
                <a:latin typeface="나눔고딕"/>
                <a:ea typeface="나눔고딕"/>
                <a:cs typeface="나눔고딕"/>
              </a:rPr>
              <a:t>  </a:t>
            </a:r>
          </a:p>
        </p:txBody>
      </p:sp>
      <p:sp>
        <p:nvSpPr>
          <p:cNvPr id="34" name="직사각형 33">
            <a:extLst xmlns:a="http://schemas.openxmlformats.org/drawingml/2006/main">
              <a:ext uri="{FF2B5EF4-FFF2-40B4-BE49-F238E27FC236}">
                <a16:creationId xmlns:a16="http://schemas.microsoft.com/office/drawing/2014/main" id="{F00FDFFB-2264-49DF-9081-626215A8F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6665" y="3348469"/>
            <a:ext cx="2807497" cy="122285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350">
            <a:solidFill>
              <a:schemeClr val="bg1">
                <a:lumMod val="65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>
                <a:solidFill>
                  <a:schemeClr val="tx1"/>
                </a:solidFill>
                <a:latin typeface="나눔고딕"/>
                <a:ea typeface="나눔고딕"/>
                <a:cs typeface="나눔고딕"/>
              </a:rPr>
              <a:t>  </a:t>
            </a:r>
          </a:p>
        </p:txBody>
      </p:sp>
      <p:sp>
        <p:nvSpPr>
          <p:cNvPr id="35" name="Text Box 1078">
            <a:extLst xmlns:a="http://schemas.openxmlformats.org/drawingml/2006/main">
              <a:ext uri="{FF2B5EF4-FFF2-40B4-BE49-F238E27FC236}">
                <a16:creationId xmlns:a16="http://schemas.microsoft.com/office/drawing/2014/main" id="{702D5D0A-CE8A-41E3-B5FF-9B3172961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036" y="3391772"/>
            <a:ext cx="2779928" cy="11310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1pPr>
            <a:lvl2pPr marL="742950" indent="-28575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2pPr>
            <a:lvl3pPr marL="11430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3pPr>
            <a:lvl4pPr marL="16002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4pPr>
            <a:lvl5pPr marL="20574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9pPr>
          </a:lstStyle>
          <a:p xmlns:a="http://schemas.openxmlformats.org/drawingml/2006/main">
            <a:pPr>
              <a:spcBef>
                <a:spcPts val="600"/>
              </a:spcBef>
              <a:buFont typeface="Wingdings 3"/>
              <a:buChar char="}"/>
            </a:pPr>
            <a:r>
              <a:rPr sz="1050">
                <a:latin typeface="나눔고딕"/>
                <a:ea typeface="나눔고딕"/>
                <a:cs typeface="나눔고딕"/>
              </a:rPr>
              <a:t>Hotel_PMS 데이터를</a:t>
            </a:r>
          </a:p>
          <a:p xmlns:a="http://schemas.openxmlformats.org/drawingml/2006/main">
            <a:pPr>
              <a:spcBef>
                <a:spcPts val="600"/>
              </a:spcBef>
              <a:buFont typeface="Wingdings 3"/>
              <a:buChar char="}"/>
            </a:pPr>
            <a:r>
              <a:rPr sz="1050">
                <a:ln w="11430">
                  <a:noFill/>
                </a:ln>
                <a:latin typeface="나눔고딕"/>
                <a:ea typeface="나눔고딕"/>
                <a:cs typeface="나눔고딕"/>
              </a:rPr>
              <a:t>공개 호텔 모델로 변환</a:t>
            </a:r>
          </a:p>
        </p:txBody>
      </p:sp>
      <p:sp>
        <p:nvSpPr>
          <p:cNvPr id="36" name="Text Box 1078">
            <a:extLst xmlns:a="http://schemas.openxmlformats.org/drawingml/2006/main">
              <a:ext uri="{FF2B5EF4-FFF2-40B4-BE49-F238E27FC236}">
                <a16:creationId xmlns:a16="http://schemas.microsoft.com/office/drawing/2014/main" id="{DEAE33C5-46D8-4BD7-BCCF-FA48AB3B0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0226" y="3391772"/>
            <a:ext cx="2892138" cy="11387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spcBef>
                <a:spcPts val="600"/>
              </a:spcBef>
              <a:buFont typeface="Wingdings 3"/>
              <a:buChar char="}"/>
              <a:defRPr sz="1050">
                <a:latin typeface="나눔고딕"/>
                <a:ea typeface="나눔고딕"/>
                <a:cs typeface="나눔고딕"/>
              </a:defRPr>
            </a:lvl1pPr>
            <a:lvl2pPr marL="742950" indent="-285750">
              <a:buNone/>
              <a:defRPr sz="1200">
                <a:latin typeface="굴림"/>
                <a:ea typeface="굴림"/>
                <a:cs typeface="굴림"/>
              </a:defRPr>
            </a:lvl2pPr>
            <a:lvl3pPr marL="1143000" indent="-228600">
              <a:buNone/>
              <a:defRPr sz="1200">
                <a:latin typeface="굴림"/>
                <a:ea typeface="굴림"/>
                <a:cs typeface="굴림"/>
              </a:defRPr>
            </a:lvl3pPr>
            <a:lvl4pPr marL="1600200" indent="-228600">
              <a:buNone/>
              <a:defRPr sz="1200">
                <a:latin typeface="굴림"/>
                <a:ea typeface="굴림"/>
                <a:cs typeface="굴림"/>
              </a:defRPr>
            </a:lvl4pPr>
            <a:lvl5pPr marL="2057400" indent="-228600">
              <a:buNone/>
              <a:defRPr sz="1200">
                <a:latin typeface="굴림"/>
                <a:ea typeface="굴림"/>
                <a:cs typeface="굴림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 sz="1200">
                <a:latin typeface="굴림"/>
                <a:ea typeface="굴림"/>
                <a:cs typeface="굴림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 sz="1200">
                <a:latin typeface="굴림"/>
                <a:ea typeface="굴림"/>
                <a:cs typeface="굴림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 sz="1200">
                <a:latin typeface="굴림"/>
                <a:ea typeface="굴림"/>
                <a:cs typeface="굴림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 sz="1200">
                <a:latin typeface="굴림"/>
                <a:ea typeface="굴림"/>
                <a:cs typeface="굴림"/>
              </a:defRPr>
            </a:lvl9pPr>
          </a:lstStyle>
          <a:p xmlns:a="http://schemas.openxmlformats.org/drawingml/2006/main">
            <a:r>
              <a:t>업체가 상품·옵션·재고·예약을</a:t>
            </a:r>
          </a:p>
          <a:p xmlns:a="http://schemas.openxmlformats.org/drawingml/2006/main">
            <a:r>
              <a:t>파트너 센터에서 관리</a:t>
            </a:r>
          </a:p>
        </p:txBody>
      </p:sp>
      <p:sp>
        <p:nvSpPr>
          <p:cNvPr id="37" name="Text Box 1078">
            <a:extLst xmlns:a="http://schemas.openxmlformats.org/drawingml/2006/main">
              <a:ext uri="{FF2B5EF4-FFF2-40B4-BE49-F238E27FC236}">
                <a16:creationId xmlns:a16="http://schemas.microsoft.com/office/drawing/2014/main" id="{E49E58D5-12D6-4D3B-83F1-0C24B1DC9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0265" y="3378407"/>
            <a:ext cx="2787943" cy="10926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1pPr>
            <a:lvl2pPr marL="742950" indent="-28575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2pPr>
            <a:lvl3pPr marL="11430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3pPr>
            <a:lvl4pPr marL="16002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4pPr>
            <a:lvl5pPr marL="20574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9pPr>
          </a:lstStyle>
          <a:p xmlns:a="http://schemas.openxmlformats.org/drawingml/2006/main">
            <a:pPr>
              <a:spcBef>
                <a:spcPts val="500"/>
              </a:spcBef>
              <a:buFont typeface="Wingdings 3"/>
              <a:buChar char="}"/>
            </a:pPr>
            <a:r>
              <a:rPr sz="1050">
                <a:latin typeface="나눔고딕"/>
                <a:ea typeface="나눔고딕"/>
                <a:cs typeface="나눔고딕"/>
              </a:rPr>
              <a:t>외부 API·큐레이션도</a:t>
            </a:r>
          </a:p>
          <a:p xmlns:a="http://schemas.openxmlformats.org/drawingml/2006/main">
            <a:pPr>
              <a:spcBef>
                <a:spcPts val="500"/>
              </a:spcBef>
              <a:buFont typeface="Wingdings 3"/>
              <a:buChar char="}"/>
            </a:pPr>
            <a:r>
              <a:rPr sz="1050">
                <a:ln w="11430">
                  <a:noFill/>
                </a:ln>
                <a:latin typeface="나눔고딕"/>
                <a:ea typeface="나눔고딕"/>
                <a:cs typeface="나눔고딕"/>
              </a:rPr>
              <a:t>동일 계약으로 통합</a:t>
            </a:r>
          </a:p>
        </p:txBody>
      </p:sp>
      <p:sp>
        <p:nvSpPr>
          <p:cNvPr id="38" name="직사각형 37">
            <a:extLst xmlns:a="http://schemas.openxmlformats.org/drawingml/2006/main">
              <a:ext uri="{FF2B5EF4-FFF2-40B4-BE49-F238E27FC236}">
                <a16:creationId xmlns:a16="http://schemas.microsoft.com/office/drawing/2014/main" id="{B1518440-D941-4F63-9C43-FF2511259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087" y="2865869"/>
            <a:ext cx="2811446" cy="48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9EF1"/>
          </a:solidFill>
          <a:ln xmlns:a="http://schemas.openxmlformats.org/drawingml/2006/main" w="9525">
            <a:noFill/>
          </a:ln>
        </p:spPr>
        <p:txBody>
          <a:bodyPr xmlns:a="http://schemas.openxmlformats.org/drawingml/2006/main" wrap="none" lIns="0" rIns="0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spcBef>
                <a:spcPts val="600"/>
              </a:spcBef>
              <a:buNone/>
            </a:pPr>
            <a:r>
              <a:rPr sz="1300" b="1">
                <a:ln>
                  <a:solidFill>
                    <a:srgbClr val="CCECFF">
                      <a:alpha val="0"/>
                    </a:srgbClr>
                  </a:solidFill>
                </a:ln>
                <a:solidFill>
                  <a:schemeClr val="bg1"/>
                </a:solidFill>
                <a:latin typeface="나눔고딕"/>
                <a:ea typeface="나눔고딕"/>
                <a:cs typeface="나눔고딕"/>
              </a:rPr>
              <a:t>호텔·PMS</a:t>
            </a:r>
          </a:p>
        </p:txBody>
      </p:sp>
      <p:sp>
        <p:nvSpPr>
          <p:cNvPr id="39" name="직사각형 38">
            <a:extLst xmlns:a="http://schemas.openxmlformats.org/drawingml/2006/main">
              <a:ext uri="{FF2B5EF4-FFF2-40B4-BE49-F238E27FC236}">
                <a16:creationId xmlns:a16="http://schemas.microsoft.com/office/drawing/2014/main" id="{1E9B8607-6B74-409B-9702-B4D862CD1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6665" y="2865869"/>
            <a:ext cx="2807497" cy="48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9EF1"/>
          </a:solidFill>
          <a:ln xmlns:a="http://schemas.openxmlformats.org/drawingml/2006/main" w="9525">
            <a:noFill/>
          </a:ln>
        </p:spPr>
        <p:txBody>
          <a:bodyPr xmlns:a="http://schemas.openxmlformats.org/drawingml/2006/main" wrap="none" lIns="0" r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1">
                <a:ln>
                  <a:solidFill>
                    <a:srgbClr val="CCECFF">
                      <a:alpha val="0"/>
                    </a:srgbClr>
                  </a:solidFill>
                </a:ln>
                <a:solidFill>
                  <a:schemeClr val="bg1"/>
                </a:solidFill>
                <a:latin typeface="나눔고딕"/>
                <a:ea typeface="나눔고딕"/>
                <a:cs typeface="나눔고딕"/>
              </a:rPr>
              <a:t>독립 파트너</a:t>
            </a:r>
          </a:p>
        </p:txBody>
      </p:sp>
      <p:sp>
        <p:nvSpPr>
          <p:cNvPr id="40" name="직사각형 39">
            <a:extLst xmlns:a="http://schemas.openxmlformats.org/drawingml/2006/main">
              <a:ext uri="{FF2B5EF4-FFF2-40B4-BE49-F238E27FC236}">
                <a16:creationId xmlns:a16="http://schemas.microsoft.com/office/drawing/2014/main" id="{6BDD85B1-23E7-49B9-8DEB-FCF2ACF69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6704" y="2852504"/>
            <a:ext cx="2807497" cy="48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9EF1"/>
          </a:solidFill>
          <a:ln xmlns:a="http://schemas.openxmlformats.org/drawingml/2006/main" w="9525">
            <a:noFill/>
          </a:ln>
        </p:spPr>
        <p:txBody>
          <a:bodyPr xmlns:a="http://schemas.openxmlformats.org/drawingml/2006/main" wrap="none" lIns="0" rIns="0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spcBef>
                <a:spcPts val="600"/>
              </a:spcBef>
              <a:buNone/>
            </a:pPr>
            <a:r>
              <a:rPr sz="1300" b="1">
                <a:ln>
                  <a:solidFill>
                    <a:srgbClr val="CCECFF">
                      <a:alpha val="0"/>
                    </a:srgbClr>
                  </a:solidFill>
                </a:ln>
                <a:solidFill>
                  <a:schemeClr val="bg1"/>
                </a:solidFill>
                <a:latin typeface="나눔고딕"/>
                <a:ea typeface="나눔고딕"/>
                <a:cs typeface="나눔고딕"/>
              </a:rPr>
              <a:t>외부·큐레이션</a:t>
            </a:r>
          </a:p>
        </p:txBody>
      </p:sp>
      <p:sp>
        <p:nvSpPr>
          <p:cNvPr id="30" name="AutoShape 1073">
            <a:extLst xmlns:a="http://schemas.openxmlformats.org/drawingml/2006/main">
              <a:ext uri="{FF2B5EF4-FFF2-40B4-BE49-F238E27FC236}">
                <a16:creationId xmlns:a16="http://schemas.microsoft.com/office/drawing/2014/main" id="{7AE85CCB-A499-464E-8F37-5A3EB5D68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087" y="6102821"/>
            <a:ext cx="8599625" cy="330307"/>
          </a:xfrm>
          <a:prstGeom xmlns:a="http://schemas.openxmlformats.org/drawingml/2006/main" prst="roundRect">
            <a:avLst>
              <a:gd name="adj" fmla="val 12278"/>
            </a:avLst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46800" rIns="0" bIns="46800" anchor="ctr"/>
          <a:lstStyle xmlns:a="http://schemas.openxmlformats.org/drawingml/2006/main">
            <a:lvl1pPr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1pPr>
            <a:lvl2pPr marL="742950" indent="-28575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2pPr>
            <a:lvl3pPr marL="11430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3pPr>
            <a:lvl4pPr marL="16002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4pPr>
            <a:lvl5pPr marL="20574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9pPr>
          </a:lstStyle>
          <a:p xmlns:a="http://schemas.openxmlformats.org/drawingml/2006/main">
            <a:pPr>
              <a:buClr>
                <a:schemeClr val="accent2"/>
              </a:buClr>
              <a:buNone/>
            </a:pPr>
            <a:r>
              <a:rPr sz="1000">
                <a:latin typeface="나눔고딕"/>
                <a:ea typeface="나눔고딕"/>
                <a:cs typeface="나눔고딕"/>
              </a:rPr>
              <a:t>물리적 호실, 직원, Folio 등 PMS 내부 정보는 공개 계약에서 제외합니다.</a:t>
            </a:r>
          </a:p>
        </p:txBody>
      </p:sp>
      <p:sp>
        <p:nvSpPr>
          <p:cNvPr id="2" name="슬라이드 번호 개체 틀 1">
            <a:extLst xmlns:a="http://schemas.openxmlformats.org/drawingml/2006/main">
              <a:ext uri="{FF2B5EF4-FFF2-40B4-BE49-F238E27FC236}">
                <a16:creationId xmlns:a16="http://schemas.microsoft.com/office/drawing/2014/main" id="{DDFC9716-A9B0-4549-A5B9-FE0891C55E6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27921A4-25C4-3DB4-06B1-32693CEE2241}" type="slidenum">
              <a:rPr>
                <a:latin typeface="나눔고딕"/>
                <a:ea typeface="나눔고딕"/>
                <a:cs typeface="나눔고딕"/>
              </a:rPr>
              <a:t>14</a:t>
            </a:fld>
          </a:p>
        </p:txBody>
      </p:sp>
    </p:spTree>
    <p:extLst>
      <p:ext uri="{BB962C8B-B14F-4D97-AF65-F5344CB8AC3E}">
        <p14:creationId xmlns:p14="http://schemas.microsoft.com/office/powerpoint/2010/main" val="2112425122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제목 71">
            <a:extLst xmlns:a="http://schemas.openxmlformats.org/drawingml/2006/main">
              <a:ext uri="{FF2B5EF4-FFF2-40B4-BE49-F238E27FC236}">
                <a16:creationId xmlns:a16="http://schemas.microsoft.com/office/drawing/2014/main" id="{0A4D92D9-7E69-480C-9827-E9CD4C613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487" y="71414"/>
            <a:ext cx="6768753" cy="57150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6800" rIns="91440" bIns="46800" anchor="b">
            <a:normAutofit fontScale="100000"/>
          </a:bodyPr>
          <a:lstStyle xmlns:a="http://schemas.openxmlformats.org/drawingml/2006/main">
            <a:lvl1pPr algn="l" defTabSz="914400">
              <a:spcBef>
                <a:spcPct val="0"/>
              </a:spcBef>
              <a:buNone/>
              <a:defRPr sz="1800" b="1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rPr>
                <a:solidFill>
                  <a:schemeClr val="bg1"/>
                </a:solidFill>
                <a:latin typeface="나눔고딕"/>
                <a:ea typeface="나눔고딕"/>
                <a:cs typeface="나눔고딕"/>
              </a:rPr>
              <a:t>7. Hotel_PMS 연동 계획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3F454521-134A-4C19-B324-2C34D0011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512" y="908720"/>
            <a:ext cx="8945580" cy="8475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1300" b="1">
                <a:latin typeface="나눔고딕"/>
                <a:ea typeface="나눔고딕"/>
                <a:cs typeface="나눔고딕"/>
              </a:rPr>
              <a:t>E:\AI_Project\Hotel_PMS를 INTERNAL_PMS 원천 시스템으로 두고, HotelNGo가 파일이나 localStorage를 직접 읽지 않도록 독립적인 채널 API와 어댑터 계약으로 연결합니다.</a:t>
            </a:r>
          </a:p>
        </p:txBody>
      </p:sp>
      <p:sp>
        <p:nvSpPr>
          <p:cNvPr id="10" name="삼각형 8">
            <a:extLst xmlns:a="http://schemas.openxmlformats.org/drawingml/2006/main">
              <a:ext uri="{FF2B5EF4-FFF2-40B4-BE49-F238E27FC236}">
                <a16:creationId xmlns:a16="http://schemas.microsoft.com/office/drawing/2014/main" id="{96744AEB-2A7A-45EC-9328-C78D7D088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520" y="1784011"/>
            <a:ext cx="7818959" cy="1210857"/>
          </a:xfrm>
          <a:prstGeom xmlns:a="http://schemas.openxmlformats.org/drawingml/2006/main" prst="triangle">
            <a:avLst>
              <a:gd name="adj" fmla="val 49887"/>
            </a:avLst>
          </a:prstGeom>
          <a:gradFill xmlns:a="http://schemas.openxmlformats.org/drawingml/2006/main" rotWithShape="1">
            <a:gsLst>
              <a:gs pos="0">
                <a:srgbClr val="D1EFF9">
                  <a:alpha val="30000"/>
                </a:srgb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162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Clr>
                <a:srgbClr val="000000"/>
              </a:buClr>
              <a:buFont typeface="Arial"/>
              <a:buNone/>
            </a:pPr>
          </a:p>
        </p:txBody>
      </p:sp>
      <p:sp>
        <p:nvSpPr>
          <p:cNvPr id="11" name="사각형: 둥근 모서리 10">
            <a:extLst xmlns:a="http://schemas.openxmlformats.org/drawingml/2006/main">
              <a:ext uri="{FF2B5EF4-FFF2-40B4-BE49-F238E27FC236}">
                <a16:creationId xmlns:a16="http://schemas.microsoft.com/office/drawing/2014/main" id="{08657C82-0C4A-4BB5-941E-A1F4CCD8B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474" y="4832033"/>
            <a:ext cx="8644727" cy="122285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9525">
            <a:solidFill>
              <a:schemeClr val="bg1">
                <a:lumMod val="65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 Box 1059">
            <a:extLst xmlns:a="http://schemas.openxmlformats.org/drawingml/2006/main">
              <a:ext uri="{FF2B5EF4-FFF2-40B4-BE49-F238E27FC236}">
                <a16:creationId xmlns:a16="http://schemas.microsoft.com/office/drawing/2014/main" id="{A1C9E121-F826-4C77-AFFB-93257D138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4608" y="5039197"/>
            <a:ext cx="2016224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1pPr>
            <a:lvl2pPr marL="742950" indent="-28575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2pPr>
            <a:lvl3pPr marL="11430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3pPr>
            <a:lvl4pPr marL="16002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4pPr>
            <a:lvl5pPr marL="20574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9pPr>
          </a:lstStyle>
          <a:p xmlns:a="http://schemas.openxmlformats.org/drawingml/2006/main">
            <a:pPr>
              <a:buNone/>
            </a:pPr>
            <a:r>
              <a:rPr sz="1100" b="1">
                <a:latin typeface="나눔고딕"/>
                <a:ea typeface="나눔고딕"/>
                <a:cs typeface="나눔고딕"/>
              </a:rPr>
              <a:t>• PMS 응답을 원천으로 유지하고 마지막 동기화 시각 기록</a:t>
            </a:r>
          </a:p>
        </p:txBody>
      </p:sp>
      <p:sp>
        <p:nvSpPr>
          <p:cNvPr id="14" name="사각형: 둥근 모서리 13">
            <a:extLst xmlns:a="http://schemas.openxmlformats.org/drawingml/2006/main">
              <a:ext uri="{FF2B5EF4-FFF2-40B4-BE49-F238E27FC236}">
                <a16:creationId xmlns:a16="http://schemas.microsoft.com/office/drawing/2014/main" id="{6BED4BEC-4414-418C-AD4E-70FE50217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474" y="1926992"/>
            <a:ext cx="8644727" cy="493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54D83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Clr>
                <a:srgbClr val="000000"/>
              </a:buClr>
              <a:buFont typeface="Arial"/>
              <a:buNone/>
            </a:pPr>
            <a:r>
              <a:rPr b="1">
                <a:solidFill>
                  <a:schemeClr val="bg1"/>
                </a:solidFill>
                <a:latin typeface="나눔고딕"/>
                <a:ea typeface="나눔고딕"/>
                <a:cs typeface="나눔고딕"/>
              </a:rPr>
              <a:t>PMS는 원천 데이터</a:t>
            </a:r>
          </a:p>
          <a:p xmlns:a="http://schemas.openxmlformats.org/drawingml/2006/main">
            <a:pPr algn="ctr">
              <a:buClr>
                <a:srgbClr val="000000"/>
              </a:buClr>
              <a:buFont typeface="Arial"/>
              <a:buNone/>
            </a:pPr>
            <a:r>
              <a:rPr b="1">
                <a:solidFill>
                  <a:schemeClr val="bg1"/>
                </a:solidFill>
                <a:latin typeface="나눔고딕"/>
                <a:ea typeface="나눔고딕"/>
                <a:cs typeface="나눔고딕"/>
              </a:rPr>
              <a:t>HotelNGo는 판매 경험</a:t>
            </a:r>
          </a:p>
        </p:txBody>
      </p:sp>
      <p:sp>
        <p:nvSpPr>
          <p:cNvPr id="16" name="AutoShape 1073">
            <a:extLst xmlns:a="http://schemas.openxmlformats.org/drawingml/2006/main">
              <a:ext uri="{FF2B5EF4-FFF2-40B4-BE49-F238E27FC236}">
                <a16:creationId xmlns:a16="http://schemas.microsoft.com/office/drawing/2014/main" id="{C46E2062-1BD1-41E4-BB85-27970B07D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202" y="2432230"/>
            <a:ext cx="8155110" cy="393789"/>
          </a:xfrm>
          <a:prstGeom xmlns:a="http://schemas.openxmlformats.org/drawingml/2006/main" prst="roundRect">
            <a:avLst>
              <a:gd name="adj" fmla="val 12278"/>
            </a:avLst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46800" rIns="0" bIns="46800" anchor="ctr"/>
          <a:lstStyle xmlns:a="http://schemas.openxmlformats.org/drawingml/2006/main">
            <a:lvl1pPr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1pPr>
            <a:lvl2pPr marL="742950" indent="-28575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2pPr>
            <a:lvl3pPr marL="11430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3pPr>
            <a:lvl4pPr marL="16002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4pPr>
            <a:lvl5pPr marL="20574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9pPr>
          </a:lstStyle>
          <a:p xmlns:a="http://schemas.openxmlformats.org/drawingml/2006/main">
            <a:pPr algn="ctr">
              <a:buClr>
                <a:schemeClr val="accent2"/>
              </a:buClr>
              <a:buNone/>
            </a:pPr>
            <a:r>
              <a:rPr sz="1600" b="1">
                <a:latin typeface="나눔고딕"/>
                <a:ea typeface="나눔고딕"/>
                <a:cs typeface="나눔고딕"/>
              </a:rPr>
              <a:t>조회 Mock 검증 → 채널 조회 → 예약 명령·대사</a:t>
            </a:r>
          </a:p>
        </p:txBody>
      </p:sp>
      <p:sp>
        <p:nvSpPr>
          <p:cNvPr id="17" name="사각형: 둥근 모서리 16">
            <a:extLst xmlns:a="http://schemas.openxmlformats.org/drawingml/2006/main">
              <a:ext uri="{FF2B5EF4-FFF2-40B4-BE49-F238E27FC236}">
                <a16:creationId xmlns:a16="http://schemas.microsoft.com/office/drawing/2014/main" id="{9227A528-23D7-430D-82C2-CC04E412A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097" y="4653136"/>
            <a:ext cx="7359190" cy="34588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tIns="0" bIns="0" anchor="ctr"/>
          <a:lstStyle xmlns:a="http://schemas.openxmlformats.org/drawingml/2006/main"/>
          <a:p xmlns:a="http://schemas.openxmlformats.org/drawingml/2006/main">
            <a:pPr algn="ctr">
              <a:buClr>
                <a:srgbClr val="000000"/>
              </a:buClr>
              <a:buFont typeface="Arial"/>
              <a:buNone/>
            </a:pPr>
            <a:r>
              <a:rPr sz="1400" b="1">
                <a:latin typeface="나눔고딕"/>
                <a:ea typeface="나눔고딕"/>
                <a:cs typeface="나눔고딕"/>
              </a:rPr>
              <a:t>연동 원칙</a:t>
            </a:r>
          </a:p>
        </p:txBody>
      </p:sp>
      <p:sp>
        <p:nvSpPr>
          <p:cNvPr id="18" name="사각형: 둥근 모서리 17">
            <a:extLst xmlns:a="http://schemas.openxmlformats.org/drawingml/2006/main">
              <a:ext uri="{FF2B5EF4-FFF2-40B4-BE49-F238E27FC236}">
                <a16:creationId xmlns:a16="http://schemas.microsoft.com/office/drawing/2014/main" id="{9B1F9BE3-70A7-4D4D-8EE6-71B6AFED7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6035" y="5281071"/>
            <a:ext cx="1399410" cy="428931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BE3EE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Clr>
                <a:srgbClr val="000000"/>
              </a:buClr>
              <a:buFont typeface="Arial"/>
              <a:buNone/>
            </a:pPr>
          </a:p>
        </p:txBody>
      </p:sp>
      <p:sp>
        <p:nvSpPr>
          <p:cNvPr id="19" name="Text Box 1067">
            <a:extLst xmlns:a="http://schemas.openxmlformats.org/drawingml/2006/main">
              <a:ext uri="{FF2B5EF4-FFF2-40B4-BE49-F238E27FC236}">
                <a16:creationId xmlns:a16="http://schemas.microsoft.com/office/drawing/2014/main" id="{127D301A-BA50-4D6F-8A82-A09973BD4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4760" y="5357037"/>
            <a:ext cx="1821959" cy="2769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spAutoFit/>
          </a:bodyPr>
          <a:lstStyle xmlns:a="http://schemas.openxmlformats.org/drawingml/2006/main">
            <a:lvl1pPr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1pPr>
            <a:lvl2pPr marL="742950" indent="-28575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2pPr>
            <a:lvl3pPr marL="11430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3pPr>
            <a:lvl4pPr marL="16002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4pPr>
            <a:lvl5pPr marL="20574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9pPr>
          </a:lstStyle>
          <a:p xmlns:a="http://schemas.openxmlformats.org/drawingml/2006/main">
            <a:pPr algn="ctr">
              <a:buNone/>
            </a:pPr>
            <a:r>
              <a:rPr b="1">
                <a:latin typeface="나눔고딕"/>
                <a:ea typeface="나눔고딕"/>
                <a:cs typeface="나눔고딕"/>
              </a:rPr>
              <a:t>SOURCE OF TRUTH</a:t>
            </a:r>
          </a:p>
        </p:txBody>
      </p:sp>
      <p:cxnSp>
        <p:nvCxnSpPr>
          <p:cNvPr id="65" name="연결선: 꺾임 20"/>
          <p:cNvCxnSpPr/>
          <p:nvPr/>
        </p:nvCxnSpPr>
        <p:spPr>
          <a:xfrm xmlns:a="http://schemas.openxmlformats.org/drawingml/2006/main" rot="0" flipH="0" flipV="1">
            <a:off x="5514397" y="5218539"/>
            <a:ext cx="647542" cy="280326"/>
          </a:xfrm>
          <a:prstGeom xmlns:a="http://schemas.openxmlformats.org/drawingml/2006/main" prst="bentConnector3">
            <a:avLst/>
          </a:prstGeom>
          <a:ln xmlns:a="http://schemas.openxmlformats.org/drawingml/2006/main">
            <a:solidFill>
              <a:srgbClr val="C7B38F"/>
            </a:solidFill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66" name="연결선: 꺾임 21"/>
          <p:cNvCxnSpPr/>
          <p:nvPr/>
        </p:nvCxnSpPr>
        <p:spPr>
          <a:xfrm xmlns:a="http://schemas.openxmlformats.org/drawingml/2006/main" rot="0" flipH="0" flipV="0">
            <a:off x="5514397" y="5498865"/>
            <a:ext cx="647542" cy="346166"/>
          </a:xfrm>
          <a:prstGeom xmlns:a="http://schemas.openxmlformats.org/drawingml/2006/main" prst="bentConnector3">
            <a:avLst/>
          </a:prstGeom>
          <a:ln xmlns:a="http://schemas.openxmlformats.org/drawingml/2006/main">
            <a:solidFill>
              <a:srgbClr val="C7B38F"/>
            </a:solidFill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67" name="연결선: 꺾임 23"/>
          <p:cNvCxnSpPr/>
          <p:nvPr/>
        </p:nvCxnSpPr>
        <p:spPr>
          <a:xfrm xmlns:a="http://schemas.openxmlformats.org/drawingml/2006/main" rot="10800000" flipH="0" flipV="0">
            <a:off x="-8573939" y="5218539"/>
            <a:ext cx="647542" cy="276999"/>
          </a:xfrm>
          <a:prstGeom xmlns:a="http://schemas.openxmlformats.org/drawingml/2006/main" prst="bentConnector3">
            <a:avLst/>
          </a:prstGeom>
          <a:ln xmlns:a="http://schemas.openxmlformats.org/drawingml/2006/main">
            <a:solidFill>
              <a:srgbClr val="C7B38F"/>
            </a:solidFill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68" name="연결선: 꺾임 24"/>
          <p:cNvCxnSpPr/>
          <p:nvPr/>
        </p:nvCxnSpPr>
        <p:spPr>
          <a:xfrm xmlns:a="http://schemas.openxmlformats.org/drawingml/2006/main" rot="0" flipH="1" flipV="0">
            <a:off x="-8573939" y="5495537"/>
            <a:ext cx="647542" cy="346166"/>
          </a:xfrm>
          <a:prstGeom xmlns:a="http://schemas.openxmlformats.org/drawingml/2006/main" prst="bentConnector3">
            <a:avLst/>
          </a:prstGeom>
          <a:ln xmlns:a="http://schemas.openxmlformats.org/drawingml/2006/main">
            <a:solidFill>
              <a:srgbClr val="C7B38F"/>
            </a:solidFill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26" name="Text Box 1059">
            <a:extLst xmlns:a="http://schemas.openxmlformats.org/drawingml/2006/main">
              <a:ext uri="{FF2B5EF4-FFF2-40B4-BE49-F238E27FC236}">
                <a16:creationId xmlns:a16="http://schemas.microsoft.com/office/drawing/2014/main" id="{1ECA50C8-87E4-43BB-8927-5FB42570C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4608" y="5590401"/>
            <a:ext cx="2016224" cy="4308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1pPr>
            <a:lvl2pPr marL="742950" indent="-28575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2pPr>
            <a:lvl3pPr marL="11430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3pPr>
            <a:lvl4pPr marL="16002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4pPr>
            <a:lvl5pPr marL="20574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9pPr>
          </a:lstStyle>
          <a:p xmlns:a="http://schemas.openxmlformats.org/drawingml/2006/main">
            <a:pPr>
              <a:buNone/>
            </a:pPr>
            <a:r>
              <a:rPr sz="1100" b="1">
                <a:latin typeface="나눔고딕"/>
                <a:ea typeface="나눔고딕"/>
                <a:cs typeface="나눔고딕"/>
              </a:rPr>
              <a:t>• B2C에는 객실유형별 가용수량만 공개</a:t>
            </a:r>
          </a:p>
        </p:txBody>
      </p:sp>
      <p:sp>
        <p:nvSpPr>
          <p:cNvPr id="27" name="Text Box 1059">
            <a:extLst xmlns:a="http://schemas.openxmlformats.org/drawingml/2006/main">
              <a:ext uri="{FF2B5EF4-FFF2-40B4-BE49-F238E27FC236}">
                <a16:creationId xmlns:a16="http://schemas.microsoft.com/office/drawing/2014/main" id="{21413528-3D4D-43BA-92A5-64FEE2C9A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9143" y="5039197"/>
            <a:ext cx="2245143" cy="4308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>
              <a:buNone/>
              <a:defRPr sz="1100" b="1">
                <a:latin typeface="+mn-ea"/>
                <a:ea typeface="+mn-ea"/>
                <a:cs typeface="+mn-ea"/>
              </a:defRPr>
            </a:lvl1pPr>
            <a:lvl2pPr marL="742950" indent="-285750">
              <a:buNone/>
              <a:defRPr sz="1200">
                <a:latin typeface="굴림"/>
                <a:ea typeface="굴림"/>
                <a:cs typeface="굴림"/>
              </a:defRPr>
            </a:lvl2pPr>
            <a:lvl3pPr marL="1143000" indent="-228600">
              <a:buNone/>
              <a:defRPr sz="1200">
                <a:latin typeface="굴림"/>
                <a:ea typeface="굴림"/>
                <a:cs typeface="굴림"/>
              </a:defRPr>
            </a:lvl3pPr>
            <a:lvl4pPr marL="1600200" indent="-228600">
              <a:buNone/>
              <a:defRPr sz="1200">
                <a:latin typeface="굴림"/>
                <a:ea typeface="굴림"/>
                <a:cs typeface="굴림"/>
              </a:defRPr>
            </a:lvl4pPr>
            <a:lvl5pPr marL="2057400" indent="-228600">
              <a:buNone/>
              <a:defRPr sz="1200">
                <a:latin typeface="굴림"/>
                <a:ea typeface="굴림"/>
                <a:cs typeface="굴림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 sz="1200">
                <a:latin typeface="굴림"/>
                <a:ea typeface="굴림"/>
                <a:cs typeface="굴림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 sz="1200">
                <a:latin typeface="굴림"/>
                <a:ea typeface="굴림"/>
                <a:cs typeface="굴림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 sz="1200">
                <a:latin typeface="굴림"/>
                <a:ea typeface="굴림"/>
                <a:cs typeface="굴림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 sz="1200">
                <a:latin typeface="굴림"/>
                <a:ea typeface="굴림"/>
                <a:cs typeface="굴림"/>
              </a:defRPr>
            </a:lvl9pPr>
          </a:lstStyle>
          <a:p xmlns:a="http://schemas.openxmlformats.org/drawingml/2006/main">
            <a:r>
              <a:rPr>
                <a:latin typeface="나눔고딕"/>
                <a:ea typeface="나눔고딕"/>
                <a:cs typeface="나눔고딕"/>
              </a:rPr>
              <a:t>• 실패 시 PENDING_SUPPLIER 또는 REQUIRES_RECONCILIATION</a:t>
            </a:r>
          </a:p>
        </p:txBody>
      </p:sp>
      <p:sp>
        <p:nvSpPr>
          <p:cNvPr id="28" name="Text Box 1059">
            <a:extLst xmlns:a="http://schemas.openxmlformats.org/drawingml/2006/main">
              <a:ext uri="{FF2B5EF4-FFF2-40B4-BE49-F238E27FC236}">
                <a16:creationId xmlns:a16="http://schemas.microsoft.com/office/drawing/2014/main" id="{DA221758-3EA0-4588-A66C-A7D2BAD77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9144" y="5590401"/>
            <a:ext cx="2016224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>
              <a:buNone/>
              <a:defRPr sz="1100" b="1">
                <a:latin typeface="+mn-ea"/>
                <a:ea typeface="+mn-ea"/>
                <a:cs typeface="+mn-ea"/>
              </a:defRPr>
            </a:lvl1pPr>
            <a:lvl2pPr marL="742950" indent="-285750">
              <a:buNone/>
              <a:defRPr sz="1200">
                <a:latin typeface="굴림"/>
                <a:ea typeface="굴림"/>
                <a:cs typeface="굴림"/>
              </a:defRPr>
            </a:lvl2pPr>
            <a:lvl3pPr marL="1143000" indent="-228600">
              <a:buNone/>
              <a:defRPr sz="1200">
                <a:latin typeface="굴림"/>
                <a:ea typeface="굴림"/>
                <a:cs typeface="굴림"/>
              </a:defRPr>
            </a:lvl3pPr>
            <a:lvl4pPr marL="1600200" indent="-228600">
              <a:buNone/>
              <a:defRPr sz="1200">
                <a:latin typeface="굴림"/>
                <a:ea typeface="굴림"/>
                <a:cs typeface="굴림"/>
              </a:defRPr>
            </a:lvl4pPr>
            <a:lvl5pPr marL="2057400" indent="-228600">
              <a:buNone/>
              <a:defRPr sz="1200">
                <a:latin typeface="굴림"/>
                <a:ea typeface="굴림"/>
                <a:cs typeface="굴림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 sz="1200">
                <a:latin typeface="굴림"/>
                <a:ea typeface="굴림"/>
                <a:cs typeface="굴림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 sz="1200">
                <a:latin typeface="굴림"/>
                <a:ea typeface="굴림"/>
                <a:cs typeface="굴림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 sz="1200">
                <a:latin typeface="굴림"/>
                <a:ea typeface="굴림"/>
                <a:cs typeface="굴림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 sz="1200">
                <a:latin typeface="굴림"/>
                <a:ea typeface="굴림"/>
                <a:cs typeface="굴림"/>
              </a:defRPr>
            </a:lvl9pPr>
          </a:lstStyle>
          <a:p xmlns:a="http://schemas.openxmlformats.org/drawingml/2006/main">
            <a:r>
              <a:rPr>
                <a:latin typeface="나눔고딕"/>
                <a:ea typeface="나눔고딕"/>
                <a:cs typeface="나눔고딕"/>
              </a:rPr>
              <a:t>• PMS 예약 UI·기존 localStorage 로직은 1차에서 변경하지 않음</a:t>
            </a:r>
          </a:p>
        </p:txBody>
      </p:sp>
      <p:sp>
        <p:nvSpPr>
          <p:cNvPr id="32" name="직사각형 31">
            <a:extLst xmlns:a="http://schemas.openxmlformats.org/drawingml/2006/main">
              <a:ext uri="{FF2B5EF4-FFF2-40B4-BE49-F238E27FC236}">
                <a16:creationId xmlns:a16="http://schemas.microsoft.com/office/drawing/2014/main" id="{08F828A6-21D3-4344-A304-3F25615B6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087" y="3348469"/>
            <a:ext cx="2808697" cy="122285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350">
            <a:solidFill>
              <a:schemeClr val="bg1">
                <a:lumMod val="65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>
                <a:solidFill>
                  <a:schemeClr val="tx1"/>
                </a:solidFill>
                <a:latin typeface="나눔고딕"/>
                <a:ea typeface="나눔고딕"/>
                <a:cs typeface="나눔고딕"/>
              </a:rPr>
              <a:t>  </a:t>
            </a:r>
          </a:p>
        </p:txBody>
      </p:sp>
      <p:sp>
        <p:nvSpPr>
          <p:cNvPr id="33" name="직사각형 32">
            <a:extLst xmlns:a="http://schemas.openxmlformats.org/drawingml/2006/main">
              <a:ext uri="{FF2B5EF4-FFF2-40B4-BE49-F238E27FC236}">
                <a16:creationId xmlns:a16="http://schemas.microsoft.com/office/drawing/2014/main" id="{C56ADAF5-7FFB-4EF1-A92F-865832FA7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6704" y="3348469"/>
            <a:ext cx="2808697" cy="122285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350">
            <a:solidFill>
              <a:schemeClr val="bg1">
                <a:lumMod val="65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>
                <a:solidFill>
                  <a:schemeClr val="tx1"/>
                </a:solidFill>
                <a:latin typeface="나눔고딕"/>
                <a:ea typeface="나눔고딕"/>
                <a:cs typeface="나눔고딕"/>
              </a:rPr>
              <a:t>  </a:t>
            </a:r>
          </a:p>
        </p:txBody>
      </p:sp>
      <p:sp>
        <p:nvSpPr>
          <p:cNvPr id="34" name="직사각형 33">
            <a:extLst xmlns:a="http://schemas.openxmlformats.org/drawingml/2006/main">
              <a:ext uri="{FF2B5EF4-FFF2-40B4-BE49-F238E27FC236}">
                <a16:creationId xmlns:a16="http://schemas.microsoft.com/office/drawing/2014/main" id="{F00FDFFB-2264-49DF-9081-626215A8F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6665" y="3348469"/>
            <a:ext cx="2807497" cy="122285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350">
            <a:solidFill>
              <a:schemeClr val="bg1">
                <a:lumMod val="65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>
                <a:solidFill>
                  <a:schemeClr val="tx1"/>
                </a:solidFill>
                <a:latin typeface="나눔고딕"/>
                <a:ea typeface="나눔고딕"/>
                <a:cs typeface="나눔고딕"/>
              </a:rPr>
              <a:t>  </a:t>
            </a:r>
          </a:p>
        </p:txBody>
      </p:sp>
      <p:sp>
        <p:nvSpPr>
          <p:cNvPr id="35" name="Text Box 1078">
            <a:extLst xmlns:a="http://schemas.openxmlformats.org/drawingml/2006/main">
              <a:ext uri="{FF2B5EF4-FFF2-40B4-BE49-F238E27FC236}">
                <a16:creationId xmlns:a16="http://schemas.microsoft.com/office/drawing/2014/main" id="{702D5D0A-CE8A-41E3-B5FF-9B3172961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036" y="3391772"/>
            <a:ext cx="2779928" cy="11310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1pPr>
            <a:lvl2pPr marL="742950" indent="-28575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2pPr>
            <a:lvl3pPr marL="11430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3pPr>
            <a:lvl4pPr marL="16002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4pPr>
            <a:lvl5pPr marL="20574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9pPr>
          </a:lstStyle>
          <a:p xmlns:a="http://schemas.openxmlformats.org/drawingml/2006/main">
            <a:pPr>
              <a:spcBef>
                <a:spcPts val="600"/>
              </a:spcBef>
              <a:buFont typeface="Wingdings 3"/>
              <a:buChar char="}"/>
            </a:pPr>
            <a:r>
              <a:rPr sz="1050">
                <a:latin typeface="나눔고딕"/>
                <a:ea typeface="나눔고딕"/>
                <a:cs typeface="나눔고딕"/>
              </a:rPr>
              <a:t>Tenant→호텔 / RoomType→상품</a:t>
            </a:r>
          </a:p>
          <a:p xmlns:a="http://schemas.openxmlformats.org/drawingml/2006/main">
            <a:pPr>
              <a:spcBef>
                <a:spcPts val="600"/>
              </a:spcBef>
              <a:buFont typeface="Wingdings 3"/>
              <a:buChar char="}"/>
            </a:pPr>
            <a:r>
              <a:rPr sz="1050">
                <a:ln w="11430">
                  <a:noFill/>
                </a:ln>
                <a:latin typeface="나눔고딕"/>
                <a:ea typeface="나눔고딕"/>
                <a:cs typeface="나눔고딕"/>
              </a:rPr>
              <a:t>Rate→요금 / 예약→가용수량</a:t>
            </a:r>
          </a:p>
        </p:txBody>
      </p:sp>
      <p:sp>
        <p:nvSpPr>
          <p:cNvPr id="36" name="Text Box 1078">
            <a:extLst xmlns:a="http://schemas.openxmlformats.org/drawingml/2006/main">
              <a:ext uri="{FF2B5EF4-FFF2-40B4-BE49-F238E27FC236}">
                <a16:creationId xmlns:a16="http://schemas.microsoft.com/office/drawing/2014/main" id="{DEAE33C5-46D8-4BD7-BCCF-FA48AB3B0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0226" y="3391772"/>
            <a:ext cx="2892138" cy="11387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spcBef>
                <a:spcPts val="600"/>
              </a:spcBef>
              <a:buFont typeface="Wingdings 3"/>
              <a:buChar char="}"/>
              <a:defRPr sz="1050">
                <a:latin typeface="나눔고딕"/>
                <a:ea typeface="나눔고딕"/>
                <a:cs typeface="나눔고딕"/>
              </a:defRPr>
            </a:lvl1pPr>
            <a:lvl2pPr marL="742950" indent="-285750">
              <a:buNone/>
              <a:defRPr sz="1200">
                <a:latin typeface="굴림"/>
                <a:ea typeface="굴림"/>
                <a:cs typeface="굴림"/>
              </a:defRPr>
            </a:lvl2pPr>
            <a:lvl3pPr marL="1143000" indent="-228600">
              <a:buNone/>
              <a:defRPr sz="1200">
                <a:latin typeface="굴림"/>
                <a:ea typeface="굴림"/>
                <a:cs typeface="굴림"/>
              </a:defRPr>
            </a:lvl3pPr>
            <a:lvl4pPr marL="1600200" indent="-228600">
              <a:buNone/>
              <a:defRPr sz="1200">
                <a:latin typeface="굴림"/>
                <a:ea typeface="굴림"/>
                <a:cs typeface="굴림"/>
              </a:defRPr>
            </a:lvl4pPr>
            <a:lvl5pPr marL="2057400" indent="-228600">
              <a:buNone/>
              <a:defRPr sz="1200">
                <a:latin typeface="굴림"/>
                <a:ea typeface="굴림"/>
                <a:cs typeface="굴림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 sz="1200">
                <a:latin typeface="굴림"/>
                <a:ea typeface="굴림"/>
                <a:cs typeface="굴림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 sz="1200">
                <a:latin typeface="굴림"/>
                <a:ea typeface="굴림"/>
                <a:cs typeface="굴림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 sz="1200">
                <a:latin typeface="굴림"/>
                <a:ea typeface="굴림"/>
                <a:cs typeface="굴림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 sz="1200">
                <a:latin typeface="굴림"/>
                <a:ea typeface="굴림"/>
                <a:cs typeface="굴림"/>
              </a:defRPr>
            </a:lvl9pPr>
          </a:lstStyle>
          <a:p xmlns:a="http://schemas.openxmlformats.org/drawingml/2006/main">
            <a:r>
              <a:t>채널 인증·tenant·추적 ID</a:t>
            </a:r>
          </a:p>
          <a:p xmlns:a="http://schemas.openxmlformats.org/drawingml/2006/main">
            <a:r>
              <a:t>Shadow 조회 비교</a:t>
            </a:r>
          </a:p>
        </p:txBody>
      </p:sp>
      <p:sp>
        <p:nvSpPr>
          <p:cNvPr id="37" name="Text Box 1078">
            <a:extLst xmlns:a="http://schemas.openxmlformats.org/drawingml/2006/main">
              <a:ext uri="{FF2B5EF4-FFF2-40B4-BE49-F238E27FC236}">
                <a16:creationId xmlns:a16="http://schemas.microsoft.com/office/drawing/2014/main" id="{E49E58D5-12D6-4D3B-83F1-0C24B1DC9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0265" y="3378407"/>
            <a:ext cx="2787943" cy="10926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1pPr>
            <a:lvl2pPr marL="742950" indent="-28575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2pPr>
            <a:lvl3pPr marL="11430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3pPr>
            <a:lvl4pPr marL="16002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4pPr>
            <a:lvl5pPr marL="20574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9pPr>
          </a:lstStyle>
          <a:p xmlns:a="http://schemas.openxmlformats.org/drawingml/2006/main">
            <a:pPr>
              <a:spcBef>
                <a:spcPts val="500"/>
              </a:spcBef>
              <a:buFont typeface="Wingdings 3"/>
              <a:buChar char="}"/>
            </a:pPr>
            <a:r>
              <a:rPr sz="1050">
                <a:latin typeface="나눔고딕"/>
                <a:ea typeface="나눔고딕"/>
                <a:cs typeface="나눔고딕"/>
              </a:rPr>
              <a:t>hold→예약→연결번호→확정</a:t>
            </a:r>
          </a:p>
          <a:p xmlns:a="http://schemas.openxmlformats.org/drawingml/2006/main">
            <a:pPr>
              <a:spcBef>
                <a:spcPts val="500"/>
              </a:spcBef>
              <a:buFont typeface="Wingdings 3"/>
              <a:buChar char="}"/>
            </a:pPr>
            <a:r>
              <a:rPr sz="1050">
                <a:ln w="11430">
                  <a:noFill/>
                </a:ln>
                <a:latin typeface="나눔고딕"/>
                <a:ea typeface="나눔고딕"/>
                <a:cs typeface="나눔고딕"/>
              </a:rPr>
              <a:t>실패 대사·멱등 처리</a:t>
            </a:r>
          </a:p>
        </p:txBody>
      </p:sp>
      <p:sp>
        <p:nvSpPr>
          <p:cNvPr id="38" name="직사각형 37">
            <a:extLst xmlns:a="http://schemas.openxmlformats.org/drawingml/2006/main">
              <a:ext uri="{FF2B5EF4-FFF2-40B4-BE49-F238E27FC236}">
                <a16:creationId xmlns:a16="http://schemas.microsoft.com/office/drawing/2014/main" id="{B1518440-D941-4F63-9C43-FF2511259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087" y="2865869"/>
            <a:ext cx="2811446" cy="48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9EF1"/>
          </a:solidFill>
          <a:ln xmlns:a="http://schemas.openxmlformats.org/drawingml/2006/main" w="9525">
            <a:noFill/>
          </a:ln>
        </p:spPr>
        <p:txBody>
          <a:bodyPr xmlns:a="http://schemas.openxmlformats.org/drawingml/2006/main" wrap="none" lIns="0" rIns="0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spcBef>
                <a:spcPts val="600"/>
              </a:spcBef>
              <a:buNone/>
            </a:pPr>
            <a:r>
              <a:rPr sz="1300" b="1">
                <a:ln>
                  <a:solidFill>
                    <a:srgbClr val="CCECFF">
                      <a:alpha val="0"/>
                    </a:srgbClr>
                  </a:solidFill>
                </a:ln>
                <a:solidFill>
                  <a:schemeClr val="bg1"/>
                </a:solidFill>
                <a:latin typeface="나눔고딕"/>
                <a:ea typeface="나눔고딕"/>
                <a:cs typeface="나눔고딕"/>
              </a:rPr>
              <a:t>1단계 조회</a:t>
            </a:r>
          </a:p>
        </p:txBody>
      </p:sp>
      <p:sp>
        <p:nvSpPr>
          <p:cNvPr id="39" name="직사각형 38">
            <a:extLst xmlns:a="http://schemas.openxmlformats.org/drawingml/2006/main">
              <a:ext uri="{FF2B5EF4-FFF2-40B4-BE49-F238E27FC236}">
                <a16:creationId xmlns:a16="http://schemas.microsoft.com/office/drawing/2014/main" id="{1E9B8607-6B74-409B-9702-B4D862CD1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6665" y="2865869"/>
            <a:ext cx="2807497" cy="48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9EF1"/>
          </a:solidFill>
          <a:ln xmlns:a="http://schemas.openxmlformats.org/drawingml/2006/main" w="9525">
            <a:noFill/>
          </a:ln>
        </p:spPr>
        <p:txBody>
          <a:bodyPr xmlns:a="http://schemas.openxmlformats.org/drawingml/2006/main" wrap="none" lIns="0" r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1">
                <a:ln>
                  <a:solidFill>
                    <a:srgbClr val="CCECFF">
                      <a:alpha val="0"/>
                    </a:srgbClr>
                  </a:solidFill>
                </a:ln>
                <a:solidFill>
                  <a:schemeClr val="bg1"/>
                </a:solidFill>
                <a:latin typeface="나눔고딕"/>
                <a:ea typeface="나눔고딕"/>
                <a:cs typeface="나눔고딕"/>
              </a:rPr>
              <a:t>2단계 채널 게이트웨이</a:t>
            </a:r>
          </a:p>
        </p:txBody>
      </p:sp>
      <p:sp>
        <p:nvSpPr>
          <p:cNvPr id="40" name="직사각형 39">
            <a:extLst xmlns:a="http://schemas.openxmlformats.org/drawingml/2006/main">
              <a:ext uri="{FF2B5EF4-FFF2-40B4-BE49-F238E27FC236}">
                <a16:creationId xmlns:a16="http://schemas.microsoft.com/office/drawing/2014/main" id="{6BDD85B1-23E7-49B9-8DEB-FCF2ACF69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6704" y="2852504"/>
            <a:ext cx="2807497" cy="48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9EF1"/>
          </a:solidFill>
          <a:ln xmlns:a="http://schemas.openxmlformats.org/drawingml/2006/main" w="9525">
            <a:noFill/>
          </a:ln>
        </p:spPr>
        <p:txBody>
          <a:bodyPr xmlns:a="http://schemas.openxmlformats.org/drawingml/2006/main" wrap="none" lIns="0" rIns="0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spcBef>
                <a:spcPts val="600"/>
              </a:spcBef>
              <a:buNone/>
            </a:pPr>
            <a:r>
              <a:rPr sz="1300" b="1">
                <a:ln>
                  <a:solidFill>
                    <a:srgbClr val="CCECFF">
                      <a:alpha val="0"/>
                    </a:srgbClr>
                  </a:solidFill>
                </a:ln>
                <a:solidFill>
                  <a:schemeClr val="bg1"/>
                </a:solidFill>
                <a:latin typeface="나눔고딕"/>
                <a:ea typeface="나눔고딕"/>
                <a:cs typeface="나눔고딕"/>
              </a:rPr>
              <a:t>3단계 예약 연계</a:t>
            </a:r>
          </a:p>
        </p:txBody>
      </p:sp>
      <p:sp>
        <p:nvSpPr>
          <p:cNvPr id="30" name="AutoShape 1073">
            <a:extLst xmlns:a="http://schemas.openxmlformats.org/drawingml/2006/main">
              <a:ext uri="{FF2B5EF4-FFF2-40B4-BE49-F238E27FC236}">
                <a16:creationId xmlns:a16="http://schemas.microsoft.com/office/drawing/2014/main" id="{7AE85CCB-A499-464E-8F37-5A3EB5D68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087" y="6102821"/>
            <a:ext cx="8599625" cy="330307"/>
          </a:xfrm>
          <a:prstGeom xmlns:a="http://schemas.openxmlformats.org/drawingml/2006/main" prst="roundRect">
            <a:avLst>
              <a:gd name="adj" fmla="val 12278"/>
            </a:avLst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46800" rIns="0" bIns="46800" anchor="ctr"/>
          <a:lstStyle xmlns:a="http://schemas.openxmlformats.org/drawingml/2006/main">
            <a:lvl1pPr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1pPr>
            <a:lvl2pPr marL="742950" indent="-28575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2pPr>
            <a:lvl3pPr marL="11430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3pPr>
            <a:lvl4pPr marL="16002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4pPr>
            <a:lvl5pPr marL="20574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9pPr>
          </a:lstStyle>
          <a:p xmlns:a="http://schemas.openxmlformats.org/drawingml/2006/main">
            <a:pPr>
              <a:buClr>
                <a:schemeClr val="accent2"/>
              </a:buClr>
              <a:buNone/>
            </a:pPr>
            <a:r>
              <a:rPr sz="1000">
                <a:latin typeface="나눔고딕"/>
                <a:ea typeface="나눔고딕"/>
                <a:cs typeface="나눔고딕"/>
              </a:rPr>
              <a:t>Mock 연동은 실연동 완료가 아니라 계약과 화면의 선행 검증 단계입니다.</a:t>
            </a:r>
          </a:p>
        </p:txBody>
      </p:sp>
      <p:sp>
        <p:nvSpPr>
          <p:cNvPr id="2" name="슬라이드 번호 개체 틀 1">
            <a:extLst xmlns:a="http://schemas.openxmlformats.org/drawingml/2006/main">
              <a:ext uri="{FF2B5EF4-FFF2-40B4-BE49-F238E27FC236}">
                <a16:creationId xmlns:a16="http://schemas.microsoft.com/office/drawing/2014/main" id="{DDFC9716-A9B0-4549-A5B9-FE0891C55E6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A83FA91-883A-0168-8075-96CEB9DCA3C2}" type="slidenum">
              <a:rPr>
                <a:latin typeface="나눔고딕"/>
                <a:ea typeface="나눔고딕"/>
                <a:cs typeface="나눔고딕"/>
              </a:rPr>
              <a:t>15</a:t>
            </a:fld>
          </a:p>
        </p:txBody>
      </p:sp>
    </p:spTree>
    <p:extLst>
      <p:ext uri="{BB962C8B-B14F-4D97-AF65-F5344CB8AC3E}">
        <p14:creationId xmlns:p14="http://schemas.microsoft.com/office/powerpoint/2010/main" val="2112425122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제목 71">
            <a:extLst xmlns:a="http://schemas.openxmlformats.org/drawingml/2006/main">
              <a:ext uri="{FF2B5EF4-FFF2-40B4-BE49-F238E27FC236}">
                <a16:creationId xmlns:a16="http://schemas.microsoft.com/office/drawing/2014/main" id="{0A4D92D9-7E69-480C-9827-E9CD4C613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487" y="71414"/>
            <a:ext cx="6768753" cy="57150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6800" rIns="91440" bIns="46800" anchor="b">
            <a:normAutofit fontScale="100000"/>
          </a:bodyPr>
          <a:lstStyle xmlns:a="http://schemas.openxmlformats.org/drawingml/2006/main">
            <a:lvl1pPr algn="l" defTabSz="914400">
              <a:spcBef>
                <a:spcPct val="0"/>
              </a:spcBef>
              <a:buNone/>
              <a:defRPr sz="1800" b="1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rPr>
                <a:solidFill>
                  <a:schemeClr val="bg1"/>
                </a:solidFill>
                <a:latin typeface="나눔고딕"/>
                <a:ea typeface="나눔고딕"/>
                <a:cs typeface="나눔고딕"/>
              </a:rPr>
              <a:t>8. 예약·결제·정산의 거래 구조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3F454521-134A-4C19-B324-2C34D0011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512" y="908720"/>
            <a:ext cx="8945580" cy="8475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1300" b="1">
                <a:latin typeface="나눔고딕"/>
                <a:ea typeface="나눔고딕"/>
                <a:cs typeface="나눔고딕"/>
              </a:rPr>
              <a:t>여러 공급자의 상품을 하나의 여행 카트에 담되, 주문·결제·예약·공급자 확인·정산 상태를 분리해 부분 실패와 취소를 안전하게 관리합니다.</a:t>
            </a:r>
          </a:p>
        </p:txBody>
      </p:sp>
      <p:sp>
        <p:nvSpPr>
          <p:cNvPr id="10" name="삼각형 8">
            <a:extLst xmlns:a="http://schemas.openxmlformats.org/drawingml/2006/main">
              <a:ext uri="{FF2B5EF4-FFF2-40B4-BE49-F238E27FC236}">
                <a16:creationId xmlns:a16="http://schemas.microsoft.com/office/drawing/2014/main" id="{96744AEB-2A7A-45EC-9328-C78D7D088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520" y="1784011"/>
            <a:ext cx="7818959" cy="1210857"/>
          </a:xfrm>
          <a:prstGeom xmlns:a="http://schemas.openxmlformats.org/drawingml/2006/main" prst="triangle">
            <a:avLst>
              <a:gd name="adj" fmla="val 49887"/>
            </a:avLst>
          </a:prstGeom>
          <a:gradFill xmlns:a="http://schemas.openxmlformats.org/drawingml/2006/main" rotWithShape="1">
            <a:gsLst>
              <a:gs pos="0">
                <a:srgbClr val="D1EFF9">
                  <a:alpha val="30000"/>
                </a:srgb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162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Clr>
                <a:srgbClr val="000000"/>
              </a:buClr>
              <a:buFont typeface="Arial"/>
              <a:buNone/>
            </a:pPr>
          </a:p>
        </p:txBody>
      </p:sp>
      <p:sp>
        <p:nvSpPr>
          <p:cNvPr id="11" name="사각형: 둥근 모서리 10">
            <a:extLst xmlns:a="http://schemas.openxmlformats.org/drawingml/2006/main">
              <a:ext uri="{FF2B5EF4-FFF2-40B4-BE49-F238E27FC236}">
                <a16:creationId xmlns:a16="http://schemas.microsoft.com/office/drawing/2014/main" id="{08657C82-0C4A-4BB5-941E-A1F4CCD8B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474" y="4832033"/>
            <a:ext cx="8644727" cy="122285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9525">
            <a:solidFill>
              <a:schemeClr val="bg1">
                <a:lumMod val="65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 Box 1059">
            <a:extLst xmlns:a="http://schemas.openxmlformats.org/drawingml/2006/main">
              <a:ext uri="{FF2B5EF4-FFF2-40B4-BE49-F238E27FC236}">
                <a16:creationId xmlns:a16="http://schemas.microsoft.com/office/drawing/2014/main" id="{A1C9E121-F826-4C77-AFFB-93257D138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4608" y="5039197"/>
            <a:ext cx="2016224" cy="4308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1pPr>
            <a:lvl2pPr marL="742950" indent="-28575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2pPr>
            <a:lvl3pPr marL="11430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3pPr>
            <a:lvl4pPr marL="16002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4pPr>
            <a:lvl5pPr marL="20574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9pPr>
          </a:lstStyle>
          <a:p xmlns:a="http://schemas.openxmlformats.org/drawingml/2006/main">
            <a:pPr>
              <a:buNone/>
            </a:pPr>
            <a:r>
              <a:rPr sz="1100" b="1">
                <a:latin typeface="나눔고딕"/>
                <a:ea typeface="나눔고딕"/>
                <a:cs typeface="나눔고딕"/>
              </a:rPr>
              <a:t>• 가격·재고를 결제 직전 재검증</a:t>
            </a:r>
          </a:p>
        </p:txBody>
      </p:sp>
      <p:sp>
        <p:nvSpPr>
          <p:cNvPr id="14" name="사각형: 둥근 모서리 13">
            <a:extLst xmlns:a="http://schemas.openxmlformats.org/drawingml/2006/main">
              <a:ext uri="{FF2B5EF4-FFF2-40B4-BE49-F238E27FC236}">
                <a16:creationId xmlns:a16="http://schemas.microsoft.com/office/drawing/2014/main" id="{6BED4BEC-4414-418C-AD4E-70FE50217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474" y="1926992"/>
            <a:ext cx="8644727" cy="493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54D83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Clr>
                <a:srgbClr val="000000"/>
              </a:buClr>
              <a:buFont typeface="Arial"/>
              <a:buNone/>
            </a:pPr>
            <a:r>
              <a:rPr b="1">
                <a:solidFill>
                  <a:schemeClr val="bg1"/>
                </a:solidFill>
                <a:latin typeface="나눔고딕"/>
                <a:ea typeface="나눔고딕"/>
                <a:cs typeface="나눔고딕"/>
              </a:rPr>
              <a:t>하나의 여행 카트</a:t>
            </a:r>
          </a:p>
          <a:p xmlns:a="http://schemas.openxmlformats.org/drawingml/2006/main">
            <a:pPr algn="ctr">
              <a:buClr>
                <a:srgbClr val="000000"/>
              </a:buClr>
              <a:buFont typeface="Arial"/>
              <a:buNone/>
            </a:pPr>
            <a:r>
              <a:rPr b="1">
                <a:solidFill>
                  <a:schemeClr val="bg1"/>
                </a:solidFill>
                <a:latin typeface="나눔고딕"/>
                <a:ea typeface="나눔고딕"/>
                <a:cs typeface="나눔고딕"/>
              </a:rPr>
              <a:t>분리된 거래 상태</a:t>
            </a:r>
          </a:p>
        </p:txBody>
      </p:sp>
      <p:sp>
        <p:nvSpPr>
          <p:cNvPr id="16" name="AutoShape 1073">
            <a:extLst xmlns:a="http://schemas.openxmlformats.org/drawingml/2006/main">
              <a:ext uri="{FF2B5EF4-FFF2-40B4-BE49-F238E27FC236}">
                <a16:creationId xmlns:a16="http://schemas.microsoft.com/office/drawing/2014/main" id="{C46E2062-1BD1-41E4-BB85-27970B07D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202" y="2432230"/>
            <a:ext cx="8155110" cy="393789"/>
          </a:xfrm>
          <a:prstGeom xmlns:a="http://schemas.openxmlformats.org/drawingml/2006/main" prst="roundRect">
            <a:avLst>
              <a:gd name="adj" fmla="val 12278"/>
            </a:avLst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46800" rIns="0" bIns="46800" anchor="ctr"/>
          <a:lstStyle xmlns:a="http://schemas.openxmlformats.org/drawingml/2006/main">
            <a:lvl1pPr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1pPr>
            <a:lvl2pPr marL="742950" indent="-28575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2pPr>
            <a:lvl3pPr marL="11430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3pPr>
            <a:lvl4pPr marL="16002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4pPr>
            <a:lvl5pPr marL="20574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9pPr>
          </a:lstStyle>
          <a:p xmlns:a="http://schemas.openxmlformats.org/drawingml/2006/main">
            <a:pPr algn="ctr">
              <a:buClr>
                <a:schemeClr val="accent2"/>
              </a:buClr>
              <a:buNone/>
            </a:pPr>
            <a:r>
              <a:rPr sz="1600" b="1">
                <a:latin typeface="나눔고딕"/>
                <a:ea typeface="나눔고딕"/>
                <a:cs typeface="나눔고딕"/>
              </a:rPr>
              <a:t>Cart → Order → Payment → Booking → Settlement → Reconciliation</a:t>
            </a:r>
          </a:p>
        </p:txBody>
      </p:sp>
      <p:sp>
        <p:nvSpPr>
          <p:cNvPr id="17" name="사각형: 둥근 모서리 16">
            <a:extLst xmlns:a="http://schemas.openxmlformats.org/drawingml/2006/main">
              <a:ext uri="{FF2B5EF4-FFF2-40B4-BE49-F238E27FC236}">
                <a16:creationId xmlns:a16="http://schemas.microsoft.com/office/drawing/2014/main" id="{9227A528-23D7-430D-82C2-CC04E412A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097" y="4653136"/>
            <a:ext cx="7359190" cy="34588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tIns="0" bIns="0" anchor="ctr"/>
          <a:lstStyle xmlns:a="http://schemas.openxmlformats.org/drawingml/2006/main"/>
          <a:p xmlns:a="http://schemas.openxmlformats.org/drawingml/2006/main">
            <a:pPr algn="ctr">
              <a:buClr>
                <a:srgbClr val="000000"/>
              </a:buClr>
              <a:buFont typeface="Arial"/>
              <a:buNone/>
            </a:pPr>
            <a:r>
              <a:rPr sz="1400" b="1">
                <a:latin typeface="나눔고딕"/>
                <a:ea typeface="나눔고딕"/>
                <a:cs typeface="나눔고딕"/>
              </a:rPr>
              <a:t>실패 처리</a:t>
            </a:r>
          </a:p>
        </p:txBody>
      </p:sp>
      <p:sp>
        <p:nvSpPr>
          <p:cNvPr id="18" name="사각형: 둥근 모서리 17">
            <a:extLst xmlns:a="http://schemas.openxmlformats.org/drawingml/2006/main">
              <a:ext uri="{FF2B5EF4-FFF2-40B4-BE49-F238E27FC236}">
                <a16:creationId xmlns:a16="http://schemas.microsoft.com/office/drawing/2014/main" id="{9B1F9BE3-70A7-4D4D-8EE6-71B6AFED7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6035" y="5281071"/>
            <a:ext cx="1399410" cy="428931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BE3EE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Clr>
                <a:srgbClr val="000000"/>
              </a:buClr>
              <a:buFont typeface="Arial"/>
              <a:buNone/>
            </a:pPr>
          </a:p>
        </p:txBody>
      </p:sp>
      <p:sp>
        <p:nvSpPr>
          <p:cNvPr id="19" name="Text Box 1067">
            <a:extLst xmlns:a="http://schemas.openxmlformats.org/drawingml/2006/main">
              <a:ext uri="{FF2B5EF4-FFF2-40B4-BE49-F238E27FC236}">
                <a16:creationId xmlns:a16="http://schemas.microsoft.com/office/drawing/2014/main" id="{127D301A-BA50-4D6F-8A82-A09973BD4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4760" y="5357037"/>
            <a:ext cx="1821959" cy="2769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spAutoFit/>
          </a:bodyPr>
          <a:lstStyle xmlns:a="http://schemas.openxmlformats.org/drawingml/2006/main">
            <a:lvl1pPr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1pPr>
            <a:lvl2pPr marL="742950" indent="-28575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2pPr>
            <a:lvl3pPr marL="11430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3pPr>
            <a:lvl4pPr marL="16002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4pPr>
            <a:lvl5pPr marL="20574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9pPr>
          </a:lstStyle>
          <a:p xmlns:a="http://schemas.openxmlformats.org/drawingml/2006/main">
            <a:pPr algn="ctr">
              <a:buNone/>
            </a:pPr>
            <a:r>
              <a:rPr b="1">
                <a:latin typeface="나눔고딕"/>
                <a:ea typeface="나눔고딕"/>
                <a:cs typeface="나눔고딕"/>
              </a:rPr>
              <a:t>NO FALSE CONFIRM</a:t>
            </a:r>
          </a:p>
        </p:txBody>
      </p:sp>
      <p:cxnSp>
        <p:nvCxnSpPr>
          <p:cNvPr id="65" name="연결선: 꺾임 20"/>
          <p:cNvCxnSpPr/>
          <p:nvPr/>
        </p:nvCxnSpPr>
        <p:spPr>
          <a:xfrm xmlns:a="http://schemas.openxmlformats.org/drawingml/2006/main" rot="0" flipH="0" flipV="1">
            <a:off x="5514397" y="5218539"/>
            <a:ext cx="647542" cy="280326"/>
          </a:xfrm>
          <a:prstGeom xmlns:a="http://schemas.openxmlformats.org/drawingml/2006/main" prst="bentConnector3">
            <a:avLst/>
          </a:prstGeom>
          <a:ln xmlns:a="http://schemas.openxmlformats.org/drawingml/2006/main">
            <a:solidFill>
              <a:srgbClr val="C7B38F"/>
            </a:solidFill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66" name="연결선: 꺾임 21"/>
          <p:cNvCxnSpPr/>
          <p:nvPr/>
        </p:nvCxnSpPr>
        <p:spPr>
          <a:xfrm xmlns:a="http://schemas.openxmlformats.org/drawingml/2006/main" rot="0" flipH="0" flipV="0">
            <a:off x="5514397" y="5498865"/>
            <a:ext cx="647542" cy="346166"/>
          </a:xfrm>
          <a:prstGeom xmlns:a="http://schemas.openxmlformats.org/drawingml/2006/main" prst="bentConnector3">
            <a:avLst/>
          </a:prstGeom>
          <a:ln xmlns:a="http://schemas.openxmlformats.org/drawingml/2006/main">
            <a:solidFill>
              <a:srgbClr val="C7B38F"/>
            </a:solidFill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67" name="연결선: 꺾임 23"/>
          <p:cNvCxnSpPr/>
          <p:nvPr/>
        </p:nvCxnSpPr>
        <p:spPr>
          <a:xfrm xmlns:a="http://schemas.openxmlformats.org/drawingml/2006/main" rot="10800000" flipH="0" flipV="0">
            <a:off x="-8573939" y="5218539"/>
            <a:ext cx="647542" cy="276999"/>
          </a:xfrm>
          <a:prstGeom xmlns:a="http://schemas.openxmlformats.org/drawingml/2006/main" prst="bentConnector3">
            <a:avLst/>
          </a:prstGeom>
          <a:ln xmlns:a="http://schemas.openxmlformats.org/drawingml/2006/main">
            <a:solidFill>
              <a:srgbClr val="C7B38F"/>
            </a:solidFill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68" name="연결선: 꺾임 24"/>
          <p:cNvCxnSpPr/>
          <p:nvPr/>
        </p:nvCxnSpPr>
        <p:spPr>
          <a:xfrm xmlns:a="http://schemas.openxmlformats.org/drawingml/2006/main" rot="0" flipH="1" flipV="0">
            <a:off x="-8573939" y="5495537"/>
            <a:ext cx="647542" cy="346166"/>
          </a:xfrm>
          <a:prstGeom xmlns:a="http://schemas.openxmlformats.org/drawingml/2006/main" prst="bentConnector3">
            <a:avLst/>
          </a:prstGeom>
          <a:ln xmlns:a="http://schemas.openxmlformats.org/drawingml/2006/main">
            <a:solidFill>
              <a:srgbClr val="C7B38F"/>
            </a:solidFill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26" name="Text Box 1059">
            <a:extLst xmlns:a="http://schemas.openxmlformats.org/drawingml/2006/main">
              <a:ext uri="{FF2B5EF4-FFF2-40B4-BE49-F238E27FC236}">
                <a16:creationId xmlns:a16="http://schemas.microsoft.com/office/drawing/2014/main" id="{1ECA50C8-87E4-43BB-8927-5FB42570C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4608" y="5590401"/>
            <a:ext cx="2016224" cy="4308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1pPr>
            <a:lvl2pPr marL="742950" indent="-28575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2pPr>
            <a:lvl3pPr marL="11430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3pPr>
            <a:lvl4pPr marL="16002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4pPr>
            <a:lvl5pPr marL="20574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9pPr>
          </a:lstStyle>
          <a:p xmlns:a="http://schemas.openxmlformats.org/drawingml/2006/main">
            <a:pPr>
              <a:buNone/>
            </a:pPr>
            <a:r>
              <a:rPr sz="1100" b="1">
                <a:latin typeface="나눔고딕"/>
                <a:ea typeface="나눔고딕"/>
                <a:cs typeface="나눔고딕"/>
              </a:rPr>
              <a:t>• hold 만료와 멱등 요청으로 중복 거래 방지</a:t>
            </a:r>
          </a:p>
        </p:txBody>
      </p:sp>
      <p:sp>
        <p:nvSpPr>
          <p:cNvPr id="27" name="Text Box 1059">
            <a:extLst xmlns:a="http://schemas.openxmlformats.org/drawingml/2006/main">
              <a:ext uri="{FF2B5EF4-FFF2-40B4-BE49-F238E27FC236}">
                <a16:creationId xmlns:a16="http://schemas.microsoft.com/office/drawing/2014/main" id="{21413528-3D4D-43BA-92A5-64FEE2C9A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9143" y="5039197"/>
            <a:ext cx="2245143" cy="4308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>
              <a:buNone/>
              <a:defRPr sz="1100" b="1">
                <a:latin typeface="+mn-ea"/>
                <a:ea typeface="+mn-ea"/>
                <a:cs typeface="+mn-ea"/>
              </a:defRPr>
            </a:lvl1pPr>
            <a:lvl2pPr marL="742950" indent="-285750">
              <a:buNone/>
              <a:defRPr sz="1200">
                <a:latin typeface="굴림"/>
                <a:ea typeface="굴림"/>
                <a:cs typeface="굴림"/>
              </a:defRPr>
            </a:lvl2pPr>
            <a:lvl3pPr marL="1143000" indent="-228600">
              <a:buNone/>
              <a:defRPr sz="1200">
                <a:latin typeface="굴림"/>
                <a:ea typeface="굴림"/>
                <a:cs typeface="굴림"/>
              </a:defRPr>
            </a:lvl3pPr>
            <a:lvl4pPr marL="1600200" indent="-228600">
              <a:buNone/>
              <a:defRPr sz="1200">
                <a:latin typeface="굴림"/>
                <a:ea typeface="굴림"/>
                <a:cs typeface="굴림"/>
              </a:defRPr>
            </a:lvl4pPr>
            <a:lvl5pPr marL="2057400" indent="-228600">
              <a:buNone/>
              <a:defRPr sz="1200">
                <a:latin typeface="굴림"/>
                <a:ea typeface="굴림"/>
                <a:cs typeface="굴림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 sz="1200">
                <a:latin typeface="굴림"/>
                <a:ea typeface="굴림"/>
                <a:cs typeface="굴림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 sz="1200">
                <a:latin typeface="굴림"/>
                <a:ea typeface="굴림"/>
                <a:cs typeface="굴림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 sz="1200">
                <a:latin typeface="굴림"/>
                <a:ea typeface="굴림"/>
                <a:cs typeface="굴림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 sz="1200">
                <a:latin typeface="굴림"/>
                <a:ea typeface="굴림"/>
                <a:cs typeface="굴림"/>
              </a:defRPr>
            </a:lvl9pPr>
          </a:lstStyle>
          <a:p xmlns:a="http://schemas.openxmlformats.org/drawingml/2006/main">
            <a:r>
              <a:rPr>
                <a:latin typeface="나눔고딕"/>
                <a:ea typeface="나눔고딕"/>
                <a:cs typeface="나눔고딕"/>
              </a:rPr>
              <a:t>• 부분 실패 시 주문과 예약 항목 상태를 분리</a:t>
            </a:r>
          </a:p>
        </p:txBody>
      </p:sp>
      <p:sp>
        <p:nvSpPr>
          <p:cNvPr id="28" name="Text Box 1059">
            <a:extLst xmlns:a="http://schemas.openxmlformats.org/drawingml/2006/main">
              <a:ext uri="{FF2B5EF4-FFF2-40B4-BE49-F238E27FC236}">
                <a16:creationId xmlns:a16="http://schemas.microsoft.com/office/drawing/2014/main" id="{DA221758-3EA0-4588-A66C-A7D2BAD77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9144" y="5590401"/>
            <a:ext cx="2016224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>
              <a:buNone/>
              <a:defRPr sz="1100" b="1">
                <a:latin typeface="+mn-ea"/>
                <a:ea typeface="+mn-ea"/>
                <a:cs typeface="+mn-ea"/>
              </a:defRPr>
            </a:lvl1pPr>
            <a:lvl2pPr marL="742950" indent="-285750">
              <a:buNone/>
              <a:defRPr sz="1200">
                <a:latin typeface="굴림"/>
                <a:ea typeface="굴림"/>
                <a:cs typeface="굴림"/>
              </a:defRPr>
            </a:lvl2pPr>
            <a:lvl3pPr marL="1143000" indent="-228600">
              <a:buNone/>
              <a:defRPr sz="1200">
                <a:latin typeface="굴림"/>
                <a:ea typeface="굴림"/>
                <a:cs typeface="굴림"/>
              </a:defRPr>
            </a:lvl3pPr>
            <a:lvl4pPr marL="1600200" indent="-228600">
              <a:buNone/>
              <a:defRPr sz="1200">
                <a:latin typeface="굴림"/>
                <a:ea typeface="굴림"/>
                <a:cs typeface="굴림"/>
              </a:defRPr>
            </a:lvl4pPr>
            <a:lvl5pPr marL="2057400" indent="-228600">
              <a:buNone/>
              <a:defRPr sz="1200">
                <a:latin typeface="굴림"/>
                <a:ea typeface="굴림"/>
                <a:cs typeface="굴림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 sz="1200">
                <a:latin typeface="굴림"/>
                <a:ea typeface="굴림"/>
                <a:cs typeface="굴림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 sz="1200">
                <a:latin typeface="굴림"/>
                <a:ea typeface="굴림"/>
                <a:cs typeface="굴림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 sz="1200">
                <a:latin typeface="굴림"/>
                <a:ea typeface="굴림"/>
                <a:cs typeface="굴림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 sz="1200">
                <a:latin typeface="굴림"/>
                <a:ea typeface="굴림"/>
                <a:cs typeface="굴림"/>
              </a:defRPr>
            </a:lvl9pPr>
          </a:lstStyle>
          <a:p xmlns:a="http://schemas.openxmlformats.org/drawingml/2006/main">
            <a:r>
              <a:rPr>
                <a:latin typeface="나눔고딕"/>
                <a:ea typeface="나눔고딕"/>
                <a:cs typeface="나눔고딕"/>
              </a:rPr>
              <a:t>• 고객센터가 주문·예약·결제·공급자 이력을 한 화면에서 조회</a:t>
            </a:r>
          </a:p>
        </p:txBody>
      </p:sp>
      <p:sp>
        <p:nvSpPr>
          <p:cNvPr id="32" name="직사각형 31">
            <a:extLst xmlns:a="http://schemas.openxmlformats.org/drawingml/2006/main">
              <a:ext uri="{FF2B5EF4-FFF2-40B4-BE49-F238E27FC236}">
                <a16:creationId xmlns:a16="http://schemas.microsoft.com/office/drawing/2014/main" id="{08F828A6-21D3-4344-A304-3F25615B6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087" y="3348469"/>
            <a:ext cx="2808697" cy="122285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350">
            <a:solidFill>
              <a:schemeClr val="bg1">
                <a:lumMod val="65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>
                <a:solidFill>
                  <a:schemeClr val="tx1"/>
                </a:solidFill>
                <a:latin typeface="나눔고딕"/>
                <a:ea typeface="나눔고딕"/>
                <a:cs typeface="나눔고딕"/>
              </a:rPr>
              <a:t>  </a:t>
            </a:r>
          </a:p>
        </p:txBody>
      </p:sp>
      <p:sp>
        <p:nvSpPr>
          <p:cNvPr id="33" name="직사각형 32">
            <a:extLst xmlns:a="http://schemas.openxmlformats.org/drawingml/2006/main">
              <a:ext uri="{FF2B5EF4-FFF2-40B4-BE49-F238E27FC236}">
                <a16:creationId xmlns:a16="http://schemas.microsoft.com/office/drawing/2014/main" id="{C56ADAF5-7FFB-4EF1-A92F-865832FA7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6704" y="3348469"/>
            <a:ext cx="2808697" cy="122285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350">
            <a:solidFill>
              <a:schemeClr val="bg1">
                <a:lumMod val="65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>
                <a:solidFill>
                  <a:schemeClr val="tx1"/>
                </a:solidFill>
                <a:latin typeface="나눔고딕"/>
                <a:ea typeface="나눔고딕"/>
                <a:cs typeface="나눔고딕"/>
              </a:rPr>
              <a:t>  </a:t>
            </a:r>
          </a:p>
        </p:txBody>
      </p:sp>
      <p:sp>
        <p:nvSpPr>
          <p:cNvPr id="34" name="직사각형 33">
            <a:extLst xmlns:a="http://schemas.openxmlformats.org/drawingml/2006/main">
              <a:ext uri="{FF2B5EF4-FFF2-40B4-BE49-F238E27FC236}">
                <a16:creationId xmlns:a16="http://schemas.microsoft.com/office/drawing/2014/main" id="{F00FDFFB-2264-49DF-9081-626215A8F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6665" y="3348469"/>
            <a:ext cx="2807497" cy="122285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350">
            <a:solidFill>
              <a:schemeClr val="bg1">
                <a:lumMod val="65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>
                <a:solidFill>
                  <a:schemeClr val="tx1"/>
                </a:solidFill>
                <a:latin typeface="나눔고딕"/>
                <a:ea typeface="나눔고딕"/>
                <a:cs typeface="나눔고딕"/>
              </a:rPr>
              <a:t>  </a:t>
            </a:r>
          </a:p>
        </p:txBody>
      </p:sp>
      <p:sp>
        <p:nvSpPr>
          <p:cNvPr id="35" name="Text Box 1078">
            <a:extLst xmlns:a="http://schemas.openxmlformats.org/drawingml/2006/main">
              <a:ext uri="{FF2B5EF4-FFF2-40B4-BE49-F238E27FC236}">
                <a16:creationId xmlns:a16="http://schemas.microsoft.com/office/drawing/2014/main" id="{702D5D0A-CE8A-41E3-B5FF-9B3172961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036" y="3391772"/>
            <a:ext cx="2779928" cy="11310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1pPr>
            <a:lvl2pPr marL="742950" indent="-28575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2pPr>
            <a:lvl3pPr marL="11430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3pPr>
            <a:lvl4pPr marL="16002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4pPr>
            <a:lvl5pPr marL="20574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9pPr>
          </a:lstStyle>
          <a:p xmlns:a="http://schemas.openxmlformats.org/drawingml/2006/main">
            <a:pPr>
              <a:spcBef>
                <a:spcPts val="600"/>
              </a:spcBef>
              <a:buFont typeface="Wingdings 3"/>
              <a:buChar char="}"/>
            </a:pPr>
            <a:r>
              <a:rPr sz="1050">
                <a:latin typeface="나눔고딕"/>
                <a:ea typeface="나눔고딕"/>
                <a:cs typeface="나눔고딕"/>
              </a:rPr>
              <a:t>일정 선택을 가격 스냅샷과</a:t>
            </a:r>
          </a:p>
          <a:p xmlns:a="http://schemas.openxmlformats.org/drawingml/2006/main">
            <a:pPr>
              <a:spcBef>
                <a:spcPts val="600"/>
              </a:spcBef>
              <a:buFont typeface="Wingdings 3"/>
              <a:buChar char="}"/>
            </a:pPr>
            <a:r>
              <a:rPr sz="1050">
                <a:ln w="11430">
                  <a:noFill/>
                </a:ln>
                <a:latin typeface="나눔고딕"/>
                <a:ea typeface="나눔고딕"/>
                <a:cs typeface="나눔고딕"/>
              </a:rPr>
              <a:t>여행 카트에 저장</a:t>
            </a:r>
          </a:p>
        </p:txBody>
      </p:sp>
      <p:sp>
        <p:nvSpPr>
          <p:cNvPr id="36" name="Text Box 1078">
            <a:extLst xmlns:a="http://schemas.openxmlformats.org/drawingml/2006/main">
              <a:ext uri="{FF2B5EF4-FFF2-40B4-BE49-F238E27FC236}">
                <a16:creationId xmlns:a16="http://schemas.microsoft.com/office/drawing/2014/main" id="{DEAE33C5-46D8-4BD7-BCCF-FA48AB3B0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0226" y="3391772"/>
            <a:ext cx="2892138" cy="11387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spcBef>
                <a:spcPts val="600"/>
              </a:spcBef>
              <a:buFont typeface="Wingdings 3"/>
              <a:buChar char="}"/>
              <a:defRPr sz="1050">
                <a:latin typeface="나눔고딕"/>
                <a:ea typeface="나눔고딕"/>
                <a:cs typeface="나눔고딕"/>
              </a:defRPr>
            </a:lvl1pPr>
            <a:lvl2pPr marL="742950" indent="-285750">
              <a:buNone/>
              <a:defRPr sz="1200">
                <a:latin typeface="굴림"/>
                <a:ea typeface="굴림"/>
                <a:cs typeface="굴림"/>
              </a:defRPr>
            </a:lvl2pPr>
            <a:lvl3pPr marL="1143000" indent="-228600">
              <a:buNone/>
              <a:defRPr sz="1200">
                <a:latin typeface="굴림"/>
                <a:ea typeface="굴림"/>
                <a:cs typeface="굴림"/>
              </a:defRPr>
            </a:lvl3pPr>
            <a:lvl4pPr marL="1600200" indent="-228600">
              <a:buNone/>
              <a:defRPr sz="1200">
                <a:latin typeface="굴림"/>
                <a:ea typeface="굴림"/>
                <a:cs typeface="굴림"/>
              </a:defRPr>
            </a:lvl4pPr>
            <a:lvl5pPr marL="2057400" indent="-228600">
              <a:buNone/>
              <a:defRPr sz="1200">
                <a:latin typeface="굴림"/>
                <a:ea typeface="굴림"/>
                <a:cs typeface="굴림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 sz="1200">
                <a:latin typeface="굴림"/>
                <a:ea typeface="굴림"/>
                <a:cs typeface="굴림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 sz="1200">
                <a:latin typeface="굴림"/>
                <a:ea typeface="굴림"/>
                <a:cs typeface="굴림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 sz="1200">
                <a:latin typeface="굴림"/>
                <a:ea typeface="굴림"/>
                <a:cs typeface="굴림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 sz="1200">
                <a:latin typeface="굴림"/>
                <a:ea typeface="굴림"/>
                <a:cs typeface="굴림"/>
              </a:defRPr>
            </a:lvl9pPr>
          </a:lstStyle>
          <a:p xmlns:a="http://schemas.openxmlformats.org/drawingml/2006/main">
            <a:r>
              <a:t>즉시·요청·정보형을 구분해</a:t>
            </a:r>
          </a:p>
          <a:p xmlns:a="http://schemas.openxmlformats.org/drawingml/2006/main">
            <a:r>
              <a:t>공급자 최종 상태 반영</a:t>
            </a:r>
          </a:p>
        </p:txBody>
      </p:sp>
      <p:sp>
        <p:nvSpPr>
          <p:cNvPr id="37" name="Text Box 1078">
            <a:extLst xmlns:a="http://schemas.openxmlformats.org/drawingml/2006/main">
              <a:ext uri="{FF2B5EF4-FFF2-40B4-BE49-F238E27FC236}">
                <a16:creationId xmlns:a16="http://schemas.microsoft.com/office/drawing/2014/main" id="{E49E58D5-12D6-4D3B-83F1-0C24B1DC9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0265" y="3378407"/>
            <a:ext cx="2787943" cy="10926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1pPr>
            <a:lvl2pPr marL="742950" indent="-28575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2pPr>
            <a:lvl3pPr marL="11430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3pPr>
            <a:lvl4pPr marL="16002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4pPr>
            <a:lvl5pPr marL="20574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9pPr>
          </a:lstStyle>
          <a:p xmlns:a="http://schemas.openxmlformats.org/drawingml/2006/main">
            <a:pPr>
              <a:spcBef>
                <a:spcPts val="500"/>
              </a:spcBef>
              <a:buFont typeface="Wingdings 3"/>
              <a:buChar char="}"/>
            </a:pPr>
            <a:r>
              <a:rPr sz="1050">
                <a:latin typeface="나눔고딕"/>
                <a:ea typeface="나눔고딕"/>
                <a:cs typeface="나눔고딕"/>
              </a:rPr>
              <a:t>수수료·환불·파트너 지급을</a:t>
            </a:r>
          </a:p>
          <a:p xmlns:a="http://schemas.openxmlformats.org/drawingml/2006/main">
            <a:pPr>
              <a:spcBef>
                <a:spcPts val="500"/>
              </a:spcBef>
              <a:buFont typeface="Wingdings 3"/>
              <a:buChar char="}"/>
            </a:pPr>
            <a:r>
              <a:rPr sz="1050">
                <a:ln w="11430">
                  <a:noFill/>
                </a:ln>
                <a:latin typeface="나눔고딕"/>
                <a:ea typeface="나눔고딕"/>
                <a:cs typeface="나눔고딕"/>
              </a:rPr>
              <a:t>원장과 감사 로그로 추적</a:t>
            </a:r>
          </a:p>
        </p:txBody>
      </p:sp>
      <p:sp>
        <p:nvSpPr>
          <p:cNvPr id="38" name="직사각형 37">
            <a:extLst xmlns:a="http://schemas.openxmlformats.org/drawingml/2006/main">
              <a:ext uri="{FF2B5EF4-FFF2-40B4-BE49-F238E27FC236}">
                <a16:creationId xmlns:a16="http://schemas.microsoft.com/office/drawing/2014/main" id="{B1518440-D941-4F63-9C43-FF2511259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087" y="2865869"/>
            <a:ext cx="2811446" cy="48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9EF1"/>
          </a:solidFill>
          <a:ln xmlns:a="http://schemas.openxmlformats.org/drawingml/2006/main" w="9525">
            <a:noFill/>
          </a:ln>
        </p:spPr>
        <p:txBody>
          <a:bodyPr xmlns:a="http://schemas.openxmlformats.org/drawingml/2006/main" wrap="none" lIns="0" rIns="0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spcBef>
                <a:spcPts val="600"/>
              </a:spcBef>
              <a:buNone/>
            </a:pPr>
            <a:r>
              <a:rPr sz="1300" b="1">
                <a:ln>
                  <a:solidFill>
                    <a:srgbClr val="CCECFF">
                      <a:alpha val="0"/>
                    </a:srgbClr>
                  </a:solidFill>
                </a:ln>
                <a:solidFill>
                  <a:schemeClr val="bg1"/>
                </a:solidFill>
                <a:latin typeface="나눔고딕"/>
                <a:ea typeface="나눔고딕"/>
                <a:cs typeface="나눔고딕"/>
              </a:rPr>
              <a:t>고객 거래</a:t>
            </a:r>
          </a:p>
        </p:txBody>
      </p:sp>
      <p:sp>
        <p:nvSpPr>
          <p:cNvPr id="39" name="직사각형 38">
            <a:extLst xmlns:a="http://schemas.openxmlformats.org/drawingml/2006/main">
              <a:ext uri="{FF2B5EF4-FFF2-40B4-BE49-F238E27FC236}">
                <a16:creationId xmlns:a16="http://schemas.microsoft.com/office/drawing/2014/main" id="{1E9B8607-6B74-409B-9702-B4D862CD1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6665" y="2865869"/>
            <a:ext cx="2807497" cy="48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9EF1"/>
          </a:solidFill>
          <a:ln xmlns:a="http://schemas.openxmlformats.org/drawingml/2006/main" w="9525">
            <a:noFill/>
          </a:ln>
        </p:spPr>
        <p:txBody>
          <a:bodyPr xmlns:a="http://schemas.openxmlformats.org/drawingml/2006/main" wrap="none" lIns="0" r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1">
                <a:ln>
                  <a:solidFill>
                    <a:srgbClr val="CCECFF">
                      <a:alpha val="0"/>
                    </a:srgbClr>
                  </a:solidFill>
                </a:ln>
                <a:solidFill>
                  <a:schemeClr val="bg1"/>
                </a:solidFill>
                <a:latin typeface="나눔고딕"/>
                <a:ea typeface="나눔고딕"/>
                <a:cs typeface="나눔고딕"/>
              </a:rPr>
              <a:t>공급자 이행</a:t>
            </a:r>
          </a:p>
        </p:txBody>
      </p:sp>
      <p:sp>
        <p:nvSpPr>
          <p:cNvPr id="40" name="직사각형 39">
            <a:extLst xmlns:a="http://schemas.openxmlformats.org/drawingml/2006/main">
              <a:ext uri="{FF2B5EF4-FFF2-40B4-BE49-F238E27FC236}">
                <a16:creationId xmlns:a16="http://schemas.microsoft.com/office/drawing/2014/main" id="{6BDD85B1-23E7-49B9-8DEB-FCF2ACF69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6704" y="2852504"/>
            <a:ext cx="2807497" cy="48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9EF1"/>
          </a:solidFill>
          <a:ln xmlns:a="http://schemas.openxmlformats.org/drawingml/2006/main" w="9525">
            <a:noFill/>
          </a:ln>
        </p:spPr>
        <p:txBody>
          <a:bodyPr xmlns:a="http://schemas.openxmlformats.org/drawingml/2006/main" wrap="none" lIns="0" rIns="0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spcBef>
                <a:spcPts val="600"/>
              </a:spcBef>
              <a:buNone/>
            </a:pPr>
            <a:r>
              <a:rPr sz="1300" b="1">
                <a:ln>
                  <a:solidFill>
                    <a:srgbClr val="CCECFF">
                      <a:alpha val="0"/>
                    </a:srgbClr>
                  </a:solidFill>
                </a:ln>
                <a:solidFill>
                  <a:schemeClr val="bg1"/>
                </a:solidFill>
                <a:latin typeface="나눔고딕"/>
                <a:ea typeface="나눔고딕"/>
                <a:cs typeface="나눔고딕"/>
              </a:rPr>
              <a:t>플랫폼 통제</a:t>
            </a:r>
          </a:p>
        </p:txBody>
      </p:sp>
      <p:sp>
        <p:nvSpPr>
          <p:cNvPr id="30" name="AutoShape 1073">
            <a:extLst xmlns:a="http://schemas.openxmlformats.org/drawingml/2006/main">
              <a:ext uri="{FF2B5EF4-FFF2-40B4-BE49-F238E27FC236}">
                <a16:creationId xmlns:a16="http://schemas.microsoft.com/office/drawing/2014/main" id="{7AE85CCB-A499-464E-8F37-5A3EB5D68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087" y="6102821"/>
            <a:ext cx="8599625" cy="330307"/>
          </a:xfrm>
          <a:prstGeom xmlns:a="http://schemas.openxmlformats.org/drawingml/2006/main" prst="roundRect">
            <a:avLst>
              <a:gd name="adj" fmla="val 12278"/>
            </a:avLst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46800" rIns="0" bIns="46800" anchor="ctr"/>
          <a:lstStyle xmlns:a="http://schemas.openxmlformats.org/drawingml/2006/main">
            <a:lvl1pPr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1pPr>
            <a:lvl2pPr marL="742950" indent="-28575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2pPr>
            <a:lvl3pPr marL="11430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3pPr>
            <a:lvl4pPr marL="16002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4pPr>
            <a:lvl5pPr marL="20574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9pPr>
          </a:lstStyle>
          <a:p xmlns:a="http://schemas.openxmlformats.org/drawingml/2006/main">
            <a:pPr>
              <a:buClr>
                <a:schemeClr val="accent2"/>
              </a:buClr>
              <a:buNone/>
            </a:pPr>
            <a:r>
              <a:rPr sz="1000">
                <a:latin typeface="나눔고딕"/>
                <a:ea typeface="나눔고딕"/>
                <a:cs typeface="나눔고딕"/>
              </a:rPr>
              <a:t>결제 완료와 공급 확정은 동일 상태가 아니며, 고객에게 최종 확인 기준을 명확히 알립니다.</a:t>
            </a:r>
          </a:p>
        </p:txBody>
      </p:sp>
      <p:sp>
        <p:nvSpPr>
          <p:cNvPr id="2" name="슬라이드 번호 개체 틀 1">
            <a:extLst xmlns:a="http://schemas.openxmlformats.org/drawingml/2006/main">
              <a:ext uri="{FF2B5EF4-FFF2-40B4-BE49-F238E27FC236}">
                <a16:creationId xmlns:a16="http://schemas.microsoft.com/office/drawing/2014/main" id="{DDFC9716-A9B0-4549-A5B9-FE0891C55E6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9C7607-4BA3-B4DC-A00F-2E67A9FCFF7E}" type="slidenum">
              <a:rPr>
                <a:latin typeface="나눔고딕"/>
                <a:ea typeface="나눔고딕"/>
                <a:cs typeface="나눔고딕"/>
              </a:rPr>
              <a:t>16</a:t>
            </a:fld>
          </a:p>
        </p:txBody>
      </p:sp>
    </p:spTree>
    <p:extLst>
      <p:ext uri="{BB962C8B-B14F-4D97-AF65-F5344CB8AC3E}">
        <p14:creationId xmlns:p14="http://schemas.microsoft.com/office/powerpoint/2010/main" val="2112425122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제목 71">
            <a:extLst xmlns:a="http://schemas.openxmlformats.org/drawingml/2006/main">
              <a:ext uri="{FF2B5EF4-FFF2-40B4-BE49-F238E27FC236}">
                <a16:creationId xmlns:a16="http://schemas.microsoft.com/office/drawing/2014/main" id="{5C5C48E4-9E8B-4541-B156-A1A3C6CE6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487" y="71414"/>
            <a:ext cx="6768753" cy="57150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6800" rIns="91440" bIns="46800" anchor="b">
            <a:normAutofit/>
          </a:bodyPr>
          <a:lstStyle xmlns:a="http://schemas.openxmlformats.org/drawingml/2006/main">
            <a:lvl1pPr algn="l" defTabSz="914400">
              <a:spcBef>
                <a:spcPct val="0"/>
              </a:spcBef>
              <a:buNone/>
              <a:defRPr sz="1800" b="1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rPr>
                <a:solidFill>
                  <a:schemeClr val="bg1"/>
                </a:solidFill>
                <a:latin typeface="나눔고딕"/>
                <a:ea typeface="나눔고딕"/>
                <a:cs typeface="나눔고딕"/>
              </a:rPr>
              <a:t/>
            </a:r>
          </a:p>
        </p:txBody>
      </p:sp>
      <p:sp>
        <p:nvSpPr>
          <p:cNvPr id="3" name="직사각형 2">
            <a:extLst xmlns:a="http://schemas.openxmlformats.org/drawingml/2006/main">
              <a:ext uri="{FF2B5EF4-FFF2-40B4-BE49-F238E27FC236}">
                <a16:creationId xmlns:a16="http://schemas.microsoft.com/office/drawing/2014/main" id="{C3A22707-4EDC-470B-B202-338882A74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1414"/>
            <a:ext cx="9906000" cy="67865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3B8"/>
          </a:solidFill>
          <a:ln xmlns:a="http://schemas.openxmlformats.org/drawingml/2006/main" w="9525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93A4DC4F-623E-4C98-9BEF-0A8BA1E9D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31" y="787352"/>
            <a:ext cx="4971893" cy="68920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bg1"/>
                </a:solidFill>
                <a:latin typeface="원신한 Medium"/>
                <a:ea typeface="원신한 Medium"/>
                <a:cs typeface="원신한 Medium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ts val="1800"/>
              </a:lnSpc>
              <a:spcBef>
                <a:spcPts val="0"/>
              </a:spcBef>
              <a:buClrTx/>
              <a:buNone/>
            </a:pPr>
            <a:r>
              <a:rPr sz="1400" b="1">
                <a:latin typeface="맑은 고딕"/>
                <a:ea typeface="맑은 고딕"/>
                <a:cs typeface="맑은 고딕"/>
              </a:rPr>
              <a:t>OPERATIONS EXPERIENCE</a:t>
            </a:r>
          </a:p>
          <a:p xmlns:a="http://schemas.openxmlformats.org/drawingml/2006/main">
            <a:pPr>
              <a:lnSpc>
                <a:spcPts val="2200"/>
              </a:lnSpc>
              <a:spcBef>
                <a:spcPts val="0"/>
              </a:spcBef>
              <a:buClrTx/>
              <a:buNone/>
            </a:pPr>
            <a:r>
              <a:rPr sz="1400" b="1">
                <a:solidFill>
                  <a:srgbClr val="CCFFFF"/>
                </a:solidFill>
                <a:latin typeface="맑은 고딕"/>
                <a:ea typeface="맑은 고딕"/>
                <a:cs typeface="맑은 고딕"/>
              </a:rPr>
              <a:t>공급·예약·정산·채널 상태를 역할별로 관리</a:t>
            </a:r>
          </a:p>
          <a:p xmlns:a="http://schemas.openxmlformats.org/drawingml/2006/main">
            <a:pPr>
              <a:lnSpc>
                <a:spcPts val="2200"/>
              </a:lnSpc>
              <a:spcBef>
                <a:spcPts val="0"/>
              </a:spcBef>
              <a:buClrTx/>
              <a:buNone/>
            </a:pPr>
            <a:r>
              <a:rPr sz="1400" b="1">
                <a:solidFill>
                  <a:srgbClr val="CCFFFF"/>
                </a:solidFill>
                <a:latin typeface="맑은 고딕"/>
                <a:ea typeface="맑은 고딕"/>
                <a:cs typeface="맑은 고딕"/>
              </a:rPr>
              <a:t/>
            </a:r>
          </a:p>
          <a:p xmlns:a="http://schemas.openxmlformats.org/drawingml/2006/main">
            <a:pPr>
              <a:lnSpc>
                <a:spcPts val="2200"/>
              </a:lnSpc>
              <a:spcBef>
                <a:spcPts val="0"/>
              </a:spcBef>
              <a:buClrTx/>
              <a:buNone/>
            </a:pPr>
            <a:r>
              <a:rPr sz="1400" b="1">
                <a:solidFill>
                  <a:srgbClr val="CCFFFF"/>
                </a:solidFill>
                <a:latin typeface="맑은 고딕"/>
                <a:ea typeface="맑은 고딕"/>
                <a:cs typeface="맑은 고딕"/>
              </a:rPr>
              <a:t>#HOTEL #PARTNER #ADMIN #CHANNEL</a:t>
            </a:r>
          </a:p>
        </p:txBody>
      </p:sp>
      <p:sp>
        <p:nvSpPr>
          <p:cNvPr id="2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976FDD89-A820-4374-BB7C-9768027EA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472" y="290342"/>
            <a:ext cx="4464496" cy="520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bg1"/>
                </a:solidFill>
                <a:latin typeface="원신한 Medium"/>
                <a:ea typeface="원신한 Medium"/>
                <a:cs typeface="원신한 Medium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buClrTx/>
              <a:buNone/>
            </a:pPr>
            <a:r>
              <a:rPr sz="1600" b="1">
                <a:latin typeface="맑은 고딕"/>
                <a:ea typeface="맑은 고딕"/>
                <a:cs typeface="맑은 고딕"/>
              </a:rPr>
              <a:t>HotelNGo Operations Experience · PC</a:t>
            </a:r>
          </a:p>
        </p:txBody>
      </p:sp>
      <p:pic>
        <p:nvPicPr>
          <p:cNvPr id="44" name="그림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504f0bbc54413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71584" y="2999410"/>
            <a:ext cx="4757665" cy="3568248"/>
          </a:xfrm>
          <a:prstGeom xmlns:a="http://schemas.openxmlformats.org/drawingml/2006/main" prst="rect">
            <a:avLst/>
          </a:prstGeom>
        </p:spPr>
      </p:pic>
      <p:pic>
        <p:nvPicPr>
          <p:cNvPr id="45" name="그림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18f0e47bd5447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990871" y="4821103"/>
            <a:ext cx="2328738" cy="1746554"/>
          </a:xfrm>
          <a:prstGeom xmlns:a="http://schemas.openxmlformats.org/drawingml/2006/main" prst="rect">
            <a:avLst/>
          </a:prstGeom>
        </p:spPr>
      </p:pic>
      <p:pic>
        <p:nvPicPr>
          <p:cNvPr id="46" name="그림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691f4bdd4c4c9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7396925" y="2999408"/>
            <a:ext cx="2328738" cy="1746554"/>
          </a:xfrm>
          <a:prstGeom xmlns:a="http://schemas.openxmlformats.org/drawingml/2006/main" prst="rect">
            <a:avLst/>
          </a:prstGeom>
        </p:spPr>
      </p:pic>
      <p:pic>
        <p:nvPicPr>
          <p:cNvPr id="47" name="그림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24793715f9459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7396924" y="4821102"/>
            <a:ext cx="2328738" cy="1746554"/>
          </a:xfrm>
          <a:prstGeom xmlns:a="http://schemas.openxmlformats.org/drawingml/2006/main" prst="rect">
            <a:avLst/>
          </a:prstGeom>
        </p:spPr>
      </p:pic>
      <p:pic>
        <p:nvPicPr>
          <p:cNvPr id="48" name="그림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e7b98ab65f41d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990871" y="2999409"/>
            <a:ext cx="2328738" cy="1746554"/>
          </a:xfrm>
          <a:prstGeom xmlns:a="http://schemas.openxmlformats.org/drawingml/2006/main" prst="rect">
            <a:avLst/>
          </a:prstGeom>
        </p:spPr>
      </p:pic>
      <p:sp>
        <p:nvSpPr>
          <p:cNvPr id="2" name="슬라이드 번호 개체 틀 1">
            <a:extLst xmlns:a="http://schemas.openxmlformats.org/drawingml/2006/main">
              <a:ext uri="{FF2B5EF4-FFF2-40B4-BE49-F238E27FC236}">
                <a16:creationId xmlns:a16="http://schemas.microsoft.com/office/drawing/2014/main" id="{C6255D2C-F3EF-43F2-8249-EAE80E85574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0F7333B-44AC-F7E9-D49D-FE92F45E0477}" type="slidenum">
              <a:rPr>
                <a:latin typeface="나눔고딕"/>
                <a:ea typeface="나눔고딕"/>
                <a:cs typeface="나눔고딕"/>
              </a:rPr>
              <a:t>17</a:t>
            </a:fld>
          </a:p>
        </p:txBody>
      </p:sp>
    </p:spTree>
    <p:extLst>
      <p:ext uri="{BB962C8B-B14F-4D97-AF65-F5344CB8AC3E}">
        <p14:creationId xmlns:p14="http://schemas.microsoft.com/office/powerpoint/2010/main" val="2348648050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제목 71">
            <a:extLst xmlns:a="http://schemas.openxmlformats.org/drawingml/2006/main">
              <a:ext uri="{FF2B5EF4-FFF2-40B4-BE49-F238E27FC236}">
                <a16:creationId xmlns:a16="http://schemas.microsoft.com/office/drawing/2014/main" id="{5C5C48E4-9E8B-4541-B156-A1A3C6CE6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487" y="71414"/>
            <a:ext cx="6768753" cy="57150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6800" rIns="91440" bIns="46800" anchor="b">
            <a:normAutofit/>
          </a:bodyPr>
          <a:lstStyle xmlns:a="http://schemas.openxmlformats.org/drawingml/2006/main">
            <a:lvl1pPr algn="l" defTabSz="914400">
              <a:spcBef>
                <a:spcPct val="0"/>
              </a:spcBef>
              <a:buNone/>
              <a:defRPr sz="1800" b="1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rPr>
                <a:solidFill>
                  <a:schemeClr val="bg1"/>
                </a:solidFill>
                <a:latin typeface="나눔고딕"/>
                <a:ea typeface="나눔고딕"/>
                <a:cs typeface="나눔고딕"/>
              </a:rPr>
              <a:t/>
            </a:r>
          </a:p>
        </p:txBody>
      </p:sp>
      <p:sp>
        <p:nvSpPr>
          <p:cNvPr id="3" name="직사각형 2">
            <a:extLst xmlns:a="http://schemas.openxmlformats.org/drawingml/2006/main">
              <a:ext uri="{FF2B5EF4-FFF2-40B4-BE49-F238E27FC236}">
                <a16:creationId xmlns:a16="http://schemas.microsoft.com/office/drawing/2014/main" id="{C3A22707-4EDC-470B-B202-338882A74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906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3B8"/>
          </a:solidFill>
          <a:ln xmlns:a="http://schemas.openxmlformats.org/drawingml/2006/main" w="9525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014AC9A-12C1-4CA9-841E-889339001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108" y="2614779"/>
            <a:ext cx="8157141" cy="1634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3B8"/>
          </a:solidFill>
        </p:spPr>
        <p:txBody>
          <a:bodyPr xmlns:a="http://schemas.openxmlformats.org/drawingml/2006/main" anchor="ctr"/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bg1"/>
                </a:solidFill>
                <a:latin typeface="원신한 Medium"/>
                <a:ea typeface="원신한 Medium"/>
                <a:cs typeface="원신한 Medium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buClrTx/>
              <a:buNone/>
            </a:pPr>
            <a:r>
              <a:rPr sz="2800" b="1">
                <a:latin typeface="맑은 고딕"/>
                <a:ea typeface="맑은 고딕"/>
                <a:cs typeface="맑은 고딕"/>
              </a:rPr>
              <a:t>III. 사업성과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buClrTx/>
              <a:buNone/>
            </a:pPr>
            <a:r>
              <a:rPr sz="2800" b="1">
                <a:latin typeface="맑은 고딕"/>
                <a:ea typeface="맑은 고딕"/>
                <a:cs typeface="맑은 고딕"/>
              </a:rPr>
              <a:t>실행 로드맵</a:t>
            </a:r>
          </a:p>
        </p:txBody>
      </p:sp>
      <p:sp>
        <p:nvSpPr>
          <p:cNvPr id="7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E0B470ED-DCC4-436D-9285-360D32741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01" y="6404661"/>
            <a:ext cx="3990876" cy="29515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3B8"/>
          </a:solidFill>
        </p:spPr>
        <p:txBody>
          <a:bodyPr xmlns:a="http://schemas.openxmlformats.org/drawingml/2006/main" anchor="ctr"/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bg1"/>
                </a:solidFill>
                <a:latin typeface="원신한 Medium"/>
                <a:ea typeface="원신한 Medium"/>
                <a:cs typeface="원신한 Medium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buClrTx/>
              <a:buNone/>
            </a:pPr>
            <a:r>
              <a:rPr sz="800">
                <a:latin typeface="맑은 고딕"/>
                <a:ea typeface="맑은 고딕"/>
                <a:cs typeface="맑은 고딕"/>
              </a:rPr>
              <a:t>HotelNGo Project Plan</a:t>
            </a:r>
          </a:p>
        </p:txBody>
      </p:sp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0423B1E-8A1A-43D2-8FBF-431CD4D7C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7025" y="6404661"/>
            <a:ext cx="3990876" cy="29515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3B8"/>
          </a:solidFill>
        </p:spPr>
        <p:txBody>
          <a:bodyPr xmlns:a="http://schemas.openxmlformats.org/drawingml/2006/main" anchor="ctr"/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bg1"/>
                </a:solidFill>
                <a:latin typeface="원신한 Medium"/>
                <a:ea typeface="원신한 Medium"/>
                <a:cs typeface="원신한 Medium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lnSpc>
                <a:spcPct val="100000"/>
              </a:lnSpc>
              <a:spcBef>
                <a:spcPts val="0"/>
              </a:spcBef>
              <a:buClrTx/>
              <a:buNone/>
            </a:pPr>
            <a:r>
              <a:rPr sz="800">
                <a:latin typeface="맑은 고딕"/>
                <a:ea typeface="맑은 고딕"/>
                <a:cs typeface="맑은 고딕"/>
              </a:rPr>
              <a:t>Revenue · GTM · KPI · Gate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C3A70BE-32E2-4AB5-BDE8-46BFE65D4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108" y="158185"/>
            <a:ext cx="1719247" cy="520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bg1"/>
                </a:solidFill>
                <a:latin typeface="원신한 Medium"/>
                <a:ea typeface="원신한 Medium"/>
                <a:cs typeface="원신한 Medium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ts val="1800"/>
              </a:lnSpc>
              <a:spcBef>
                <a:spcPts val="0"/>
              </a:spcBef>
              <a:buClrTx/>
              <a:buNone/>
            </a:pPr>
            <a:r>
              <a:rPr sz="1800" b="1">
                <a:latin typeface="맑은 고딕"/>
                <a:ea typeface="맑은 고딕"/>
                <a:cs typeface="맑은 고딕"/>
              </a:rPr>
              <a:t>SECTION 03</a:t>
            </a:r>
          </a:p>
        </p:txBody>
      </p:sp>
      <p:sp>
        <p:nvSpPr>
          <p:cNvPr id="2" name="슬라이드 번호 개체 틀 1">
            <a:extLst xmlns:a="http://schemas.openxmlformats.org/drawingml/2006/main">
              <a:ext uri="{FF2B5EF4-FFF2-40B4-BE49-F238E27FC236}">
                <a16:creationId xmlns:a16="http://schemas.microsoft.com/office/drawing/2014/main" id="{D95FF13F-E7B3-420E-8597-71DF3CF5E45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1C6C81E-38B9-7560-621D-5A151A79DF9B}" type="slidenum">
              <a:rPr>
                <a:latin typeface="나눔고딕"/>
                <a:ea typeface="나눔고딕"/>
                <a:cs typeface="나눔고딕"/>
              </a:rPr>
              <a:t>18</a:t>
            </a:fld>
          </a:p>
        </p:txBody>
      </p:sp>
    </p:spTree>
    <p:extLst>
      <p:ext uri="{BB962C8B-B14F-4D97-AF65-F5344CB8AC3E}">
        <p14:creationId xmlns:p14="http://schemas.microsoft.com/office/powerpoint/2010/main" val="798098132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제목 71">
            <a:extLst xmlns:a="http://schemas.openxmlformats.org/drawingml/2006/main">
              <a:ext uri="{FF2B5EF4-FFF2-40B4-BE49-F238E27FC236}">
                <a16:creationId xmlns:a16="http://schemas.microsoft.com/office/drawing/2014/main" id="{0A4D92D9-7E69-480C-9827-E9CD4C613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487" y="71414"/>
            <a:ext cx="6768753" cy="57150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6800" rIns="91440" bIns="46800" anchor="b">
            <a:normAutofit fontScale="100000"/>
          </a:bodyPr>
          <a:lstStyle xmlns:a="http://schemas.openxmlformats.org/drawingml/2006/main">
            <a:lvl1pPr algn="l" defTabSz="914400">
              <a:spcBef>
                <a:spcPct val="0"/>
              </a:spcBef>
              <a:buNone/>
              <a:defRPr sz="1800" b="1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rPr>
                <a:solidFill>
                  <a:schemeClr val="bg1"/>
                </a:solidFill>
                <a:latin typeface="나눔고딕"/>
                <a:ea typeface="나눔고딕"/>
                <a:cs typeface="나눔고딕"/>
              </a:rPr>
              <a:t>9. 수익 모델과 단위 경제성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3F454521-134A-4C19-B324-2C34D0011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512" y="908720"/>
            <a:ext cx="8945580" cy="8475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1300" b="1">
                <a:latin typeface="나눔고딕"/>
                <a:ea typeface="나눔고딕"/>
                <a:cs typeface="나눔고딕"/>
              </a:rPr>
              <a:t>초기에는 거래 수수료와 파트너 판매 지원을 중심으로 수익을 만들고, 데이터와 운영 신뢰가 축적되면 구독·광고·B2B 연계로 확장합니다.</a:t>
            </a:r>
          </a:p>
        </p:txBody>
      </p:sp>
      <p:sp>
        <p:nvSpPr>
          <p:cNvPr id="10" name="삼각형 8">
            <a:extLst xmlns:a="http://schemas.openxmlformats.org/drawingml/2006/main">
              <a:ext uri="{FF2B5EF4-FFF2-40B4-BE49-F238E27FC236}">
                <a16:creationId xmlns:a16="http://schemas.microsoft.com/office/drawing/2014/main" id="{96744AEB-2A7A-45EC-9328-C78D7D088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520" y="1784011"/>
            <a:ext cx="7818959" cy="1210857"/>
          </a:xfrm>
          <a:prstGeom xmlns:a="http://schemas.openxmlformats.org/drawingml/2006/main" prst="triangle">
            <a:avLst>
              <a:gd name="adj" fmla="val 49887"/>
            </a:avLst>
          </a:prstGeom>
          <a:gradFill xmlns:a="http://schemas.openxmlformats.org/drawingml/2006/main" rotWithShape="1">
            <a:gsLst>
              <a:gs pos="0">
                <a:srgbClr val="D1EFF9">
                  <a:alpha val="30000"/>
                </a:srgb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162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Clr>
                <a:srgbClr val="000000"/>
              </a:buClr>
              <a:buFont typeface="Arial"/>
              <a:buNone/>
            </a:pPr>
          </a:p>
        </p:txBody>
      </p:sp>
      <p:sp>
        <p:nvSpPr>
          <p:cNvPr id="11" name="사각형: 둥근 모서리 10">
            <a:extLst xmlns:a="http://schemas.openxmlformats.org/drawingml/2006/main">
              <a:ext uri="{FF2B5EF4-FFF2-40B4-BE49-F238E27FC236}">
                <a16:creationId xmlns:a16="http://schemas.microsoft.com/office/drawing/2014/main" id="{08657C82-0C4A-4BB5-941E-A1F4CCD8B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474" y="4832033"/>
            <a:ext cx="8644727" cy="122285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9525">
            <a:solidFill>
              <a:schemeClr val="bg1">
                <a:lumMod val="65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 Box 1059">
            <a:extLst xmlns:a="http://schemas.openxmlformats.org/drawingml/2006/main">
              <a:ext uri="{FF2B5EF4-FFF2-40B4-BE49-F238E27FC236}">
                <a16:creationId xmlns:a16="http://schemas.microsoft.com/office/drawing/2014/main" id="{A1C9E121-F826-4C77-AFFB-93257D138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4608" y="5039197"/>
            <a:ext cx="2016224" cy="4308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1pPr>
            <a:lvl2pPr marL="742950" indent="-28575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2pPr>
            <a:lvl3pPr marL="11430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3pPr>
            <a:lvl4pPr marL="16002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4pPr>
            <a:lvl5pPr marL="20574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9pPr>
          </a:lstStyle>
          <a:p xmlns:a="http://schemas.openxmlformats.org/drawingml/2006/main">
            <a:pPr>
              <a:buNone/>
            </a:pPr>
            <a:r>
              <a:rPr sz="1100" b="1">
                <a:latin typeface="나눔고딕"/>
                <a:ea typeface="나눔고딕"/>
                <a:cs typeface="나눔고딕"/>
              </a:rPr>
              <a:t>• GMV × 실수수료율 = 거래 매출</a:t>
            </a:r>
          </a:p>
        </p:txBody>
      </p:sp>
      <p:sp>
        <p:nvSpPr>
          <p:cNvPr id="14" name="사각형: 둥근 모서리 13">
            <a:extLst xmlns:a="http://schemas.openxmlformats.org/drawingml/2006/main">
              <a:ext uri="{FF2B5EF4-FFF2-40B4-BE49-F238E27FC236}">
                <a16:creationId xmlns:a16="http://schemas.microsoft.com/office/drawing/2014/main" id="{6BED4BEC-4414-418C-AD4E-70FE50217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474" y="1926992"/>
            <a:ext cx="8644727" cy="493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54D83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Clr>
                <a:srgbClr val="000000"/>
              </a:buClr>
              <a:buFont typeface="Arial"/>
              <a:buNone/>
            </a:pPr>
            <a:r>
              <a:rPr b="1">
                <a:solidFill>
                  <a:schemeClr val="bg1"/>
                </a:solidFill>
                <a:latin typeface="나눔고딕"/>
                <a:ea typeface="나눔고딕"/>
                <a:cs typeface="나눔고딕"/>
              </a:rPr>
              <a:t>거래 수익을 기반으로</a:t>
            </a:r>
          </a:p>
          <a:p xmlns:a="http://schemas.openxmlformats.org/drawingml/2006/main">
            <a:pPr algn="ctr">
              <a:buClr>
                <a:srgbClr val="000000"/>
              </a:buClr>
              <a:buFont typeface="Arial"/>
              <a:buNone/>
            </a:pPr>
            <a:r>
              <a:rPr b="1">
                <a:solidFill>
                  <a:schemeClr val="bg1"/>
                </a:solidFill>
                <a:latin typeface="나눔고딕"/>
                <a:ea typeface="나눔고딕"/>
                <a:cs typeface="나눔고딕"/>
              </a:rPr>
              <a:t>운영·데이터 수익을 확장</a:t>
            </a:r>
          </a:p>
        </p:txBody>
      </p:sp>
      <p:sp>
        <p:nvSpPr>
          <p:cNvPr id="16" name="AutoShape 1073">
            <a:extLst xmlns:a="http://schemas.openxmlformats.org/drawingml/2006/main">
              <a:ext uri="{FF2B5EF4-FFF2-40B4-BE49-F238E27FC236}">
                <a16:creationId xmlns:a16="http://schemas.microsoft.com/office/drawing/2014/main" id="{C46E2062-1BD1-41E4-BB85-27970B07D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202" y="2432230"/>
            <a:ext cx="8155110" cy="393789"/>
          </a:xfrm>
          <a:prstGeom xmlns:a="http://schemas.openxmlformats.org/drawingml/2006/main" prst="roundRect">
            <a:avLst>
              <a:gd name="adj" fmla="val 12278"/>
            </a:avLst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46800" rIns="0" bIns="46800" anchor="ctr"/>
          <a:lstStyle xmlns:a="http://schemas.openxmlformats.org/drawingml/2006/main">
            <a:lvl1pPr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1pPr>
            <a:lvl2pPr marL="742950" indent="-28575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2pPr>
            <a:lvl3pPr marL="11430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3pPr>
            <a:lvl4pPr marL="16002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4pPr>
            <a:lvl5pPr marL="20574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9pPr>
          </a:lstStyle>
          <a:p xmlns:a="http://schemas.openxmlformats.org/drawingml/2006/main">
            <a:pPr algn="ctr">
              <a:buClr>
                <a:schemeClr val="accent2"/>
              </a:buClr>
              <a:buNone/>
            </a:pPr>
            <a:r>
              <a:rPr sz="1600" b="1">
                <a:latin typeface="나눔고딕"/>
                <a:ea typeface="나눔고딕"/>
                <a:cs typeface="나눔고딕"/>
              </a:rPr>
              <a:t>Commission First, Platform Expansion</a:t>
            </a:r>
          </a:p>
        </p:txBody>
      </p:sp>
      <p:sp>
        <p:nvSpPr>
          <p:cNvPr id="17" name="사각형: 둥근 모서리 16">
            <a:extLst xmlns:a="http://schemas.openxmlformats.org/drawingml/2006/main">
              <a:ext uri="{FF2B5EF4-FFF2-40B4-BE49-F238E27FC236}">
                <a16:creationId xmlns:a16="http://schemas.microsoft.com/office/drawing/2014/main" id="{9227A528-23D7-430D-82C2-CC04E412A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097" y="4653136"/>
            <a:ext cx="7359190" cy="34588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tIns="0" bIns="0" anchor="ctr"/>
          <a:lstStyle xmlns:a="http://schemas.openxmlformats.org/drawingml/2006/main"/>
          <a:p xmlns:a="http://schemas.openxmlformats.org/drawingml/2006/main">
            <a:pPr algn="ctr">
              <a:buClr>
                <a:srgbClr val="000000"/>
              </a:buClr>
              <a:buFont typeface="Arial"/>
              <a:buNone/>
            </a:pPr>
            <a:r>
              <a:rPr sz="1400" b="1">
                <a:latin typeface="나눔고딕"/>
                <a:ea typeface="나눔고딕"/>
                <a:cs typeface="나눔고딕"/>
              </a:rPr>
              <a:t>단위 경제성</a:t>
            </a:r>
          </a:p>
        </p:txBody>
      </p:sp>
      <p:sp>
        <p:nvSpPr>
          <p:cNvPr id="18" name="사각형: 둥근 모서리 17">
            <a:extLst xmlns:a="http://schemas.openxmlformats.org/drawingml/2006/main">
              <a:ext uri="{FF2B5EF4-FFF2-40B4-BE49-F238E27FC236}">
                <a16:creationId xmlns:a16="http://schemas.microsoft.com/office/drawing/2014/main" id="{9B1F9BE3-70A7-4D4D-8EE6-71B6AFED7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6035" y="5281071"/>
            <a:ext cx="1399410" cy="428931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BE3EE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Clr>
                <a:srgbClr val="000000"/>
              </a:buClr>
              <a:buFont typeface="Arial"/>
              <a:buNone/>
            </a:pPr>
          </a:p>
        </p:txBody>
      </p:sp>
      <p:sp>
        <p:nvSpPr>
          <p:cNvPr id="19" name="Text Box 1067">
            <a:extLst xmlns:a="http://schemas.openxmlformats.org/drawingml/2006/main">
              <a:ext uri="{FF2B5EF4-FFF2-40B4-BE49-F238E27FC236}">
                <a16:creationId xmlns:a16="http://schemas.microsoft.com/office/drawing/2014/main" id="{127D301A-BA50-4D6F-8A82-A09973BD4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4760" y="5357037"/>
            <a:ext cx="1821959" cy="2769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spAutoFit/>
          </a:bodyPr>
          <a:lstStyle xmlns:a="http://schemas.openxmlformats.org/drawingml/2006/main">
            <a:lvl1pPr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1pPr>
            <a:lvl2pPr marL="742950" indent="-28575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2pPr>
            <a:lvl3pPr marL="11430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3pPr>
            <a:lvl4pPr marL="16002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4pPr>
            <a:lvl5pPr marL="20574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9pPr>
          </a:lstStyle>
          <a:p xmlns:a="http://schemas.openxmlformats.org/drawingml/2006/main">
            <a:pPr algn="ctr">
              <a:buNone/>
            </a:pPr>
            <a:r>
              <a:rPr b="1">
                <a:latin typeface="나눔고딕"/>
                <a:ea typeface="나눔고딕"/>
                <a:cs typeface="나눔고딕"/>
              </a:rPr>
              <a:t>UNIT ECONOMICS</a:t>
            </a:r>
          </a:p>
        </p:txBody>
      </p:sp>
      <p:cxnSp>
        <p:nvCxnSpPr>
          <p:cNvPr id="65" name="연결선: 꺾임 20"/>
          <p:cNvCxnSpPr/>
          <p:nvPr/>
        </p:nvCxnSpPr>
        <p:spPr>
          <a:xfrm xmlns:a="http://schemas.openxmlformats.org/drawingml/2006/main" rot="0" flipH="0" flipV="1">
            <a:off x="5514397" y="5218539"/>
            <a:ext cx="647542" cy="280326"/>
          </a:xfrm>
          <a:prstGeom xmlns:a="http://schemas.openxmlformats.org/drawingml/2006/main" prst="bentConnector3">
            <a:avLst/>
          </a:prstGeom>
          <a:ln xmlns:a="http://schemas.openxmlformats.org/drawingml/2006/main">
            <a:solidFill>
              <a:srgbClr val="C7B38F"/>
            </a:solidFill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66" name="연결선: 꺾임 21"/>
          <p:cNvCxnSpPr/>
          <p:nvPr/>
        </p:nvCxnSpPr>
        <p:spPr>
          <a:xfrm xmlns:a="http://schemas.openxmlformats.org/drawingml/2006/main" rot="0" flipH="0" flipV="0">
            <a:off x="5514397" y="5498865"/>
            <a:ext cx="647542" cy="346166"/>
          </a:xfrm>
          <a:prstGeom xmlns:a="http://schemas.openxmlformats.org/drawingml/2006/main" prst="bentConnector3">
            <a:avLst/>
          </a:prstGeom>
          <a:ln xmlns:a="http://schemas.openxmlformats.org/drawingml/2006/main">
            <a:solidFill>
              <a:srgbClr val="C7B38F"/>
            </a:solidFill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67" name="연결선: 꺾임 23"/>
          <p:cNvCxnSpPr/>
          <p:nvPr/>
        </p:nvCxnSpPr>
        <p:spPr>
          <a:xfrm xmlns:a="http://schemas.openxmlformats.org/drawingml/2006/main" rot="10800000" flipH="0" flipV="0">
            <a:off x="-8573939" y="5218539"/>
            <a:ext cx="647542" cy="276999"/>
          </a:xfrm>
          <a:prstGeom xmlns:a="http://schemas.openxmlformats.org/drawingml/2006/main" prst="bentConnector3">
            <a:avLst/>
          </a:prstGeom>
          <a:ln xmlns:a="http://schemas.openxmlformats.org/drawingml/2006/main">
            <a:solidFill>
              <a:srgbClr val="C7B38F"/>
            </a:solidFill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68" name="연결선: 꺾임 24"/>
          <p:cNvCxnSpPr/>
          <p:nvPr/>
        </p:nvCxnSpPr>
        <p:spPr>
          <a:xfrm xmlns:a="http://schemas.openxmlformats.org/drawingml/2006/main" rot="0" flipH="1" flipV="0">
            <a:off x="-8573939" y="5495537"/>
            <a:ext cx="647542" cy="346166"/>
          </a:xfrm>
          <a:prstGeom xmlns:a="http://schemas.openxmlformats.org/drawingml/2006/main" prst="bentConnector3">
            <a:avLst/>
          </a:prstGeom>
          <a:ln xmlns:a="http://schemas.openxmlformats.org/drawingml/2006/main">
            <a:solidFill>
              <a:srgbClr val="C7B38F"/>
            </a:solidFill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26" name="Text Box 1059">
            <a:extLst xmlns:a="http://schemas.openxmlformats.org/drawingml/2006/main">
              <a:ext uri="{FF2B5EF4-FFF2-40B4-BE49-F238E27FC236}">
                <a16:creationId xmlns:a16="http://schemas.microsoft.com/office/drawing/2014/main" id="{1ECA50C8-87E4-43BB-8927-5FB42570C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4608" y="5590401"/>
            <a:ext cx="2016224" cy="4308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1pPr>
            <a:lvl2pPr marL="742950" indent="-28575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2pPr>
            <a:lvl3pPr marL="11430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3pPr>
            <a:lvl4pPr marL="16002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4pPr>
            <a:lvl5pPr marL="20574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9pPr>
          </a:lstStyle>
          <a:p xmlns:a="http://schemas.openxmlformats.org/drawingml/2006/main">
            <a:pPr>
              <a:buNone/>
            </a:pPr>
            <a:r>
              <a:rPr sz="1100" b="1">
                <a:latin typeface="나눔고딕"/>
                <a:ea typeface="나눔고딕"/>
                <a:cs typeface="나눔고딕"/>
              </a:rPr>
              <a:t>• 매출 - PG·환불·CS·인센티브 = 공헌이익</a:t>
            </a:r>
          </a:p>
        </p:txBody>
      </p:sp>
      <p:sp>
        <p:nvSpPr>
          <p:cNvPr id="27" name="Text Box 1059">
            <a:extLst xmlns:a="http://schemas.openxmlformats.org/drawingml/2006/main">
              <a:ext uri="{FF2B5EF4-FFF2-40B4-BE49-F238E27FC236}">
                <a16:creationId xmlns:a16="http://schemas.microsoft.com/office/drawing/2014/main" id="{21413528-3D4D-43BA-92A5-64FEE2C9A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9143" y="5039197"/>
            <a:ext cx="2245143" cy="4308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>
              <a:buNone/>
              <a:defRPr sz="1100" b="1">
                <a:latin typeface="+mn-ea"/>
                <a:ea typeface="+mn-ea"/>
                <a:cs typeface="+mn-ea"/>
              </a:defRPr>
            </a:lvl1pPr>
            <a:lvl2pPr marL="742950" indent="-285750">
              <a:buNone/>
              <a:defRPr sz="1200">
                <a:latin typeface="굴림"/>
                <a:ea typeface="굴림"/>
                <a:cs typeface="굴림"/>
              </a:defRPr>
            </a:lvl2pPr>
            <a:lvl3pPr marL="1143000" indent="-228600">
              <a:buNone/>
              <a:defRPr sz="1200">
                <a:latin typeface="굴림"/>
                <a:ea typeface="굴림"/>
                <a:cs typeface="굴림"/>
              </a:defRPr>
            </a:lvl3pPr>
            <a:lvl4pPr marL="1600200" indent="-228600">
              <a:buNone/>
              <a:defRPr sz="1200">
                <a:latin typeface="굴림"/>
                <a:ea typeface="굴림"/>
                <a:cs typeface="굴림"/>
              </a:defRPr>
            </a:lvl4pPr>
            <a:lvl5pPr marL="2057400" indent="-228600">
              <a:buNone/>
              <a:defRPr sz="1200">
                <a:latin typeface="굴림"/>
                <a:ea typeface="굴림"/>
                <a:cs typeface="굴림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 sz="1200">
                <a:latin typeface="굴림"/>
                <a:ea typeface="굴림"/>
                <a:cs typeface="굴림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 sz="1200">
                <a:latin typeface="굴림"/>
                <a:ea typeface="굴림"/>
                <a:cs typeface="굴림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 sz="1200">
                <a:latin typeface="굴림"/>
                <a:ea typeface="굴림"/>
                <a:cs typeface="굴림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 sz="1200">
                <a:latin typeface="굴림"/>
                <a:ea typeface="굴림"/>
                <a:cs typeface="굴림"/>
              </a:defRPr>
            </a:lvl9pPr>
          </a:lstStyle>
          <a:p xmlns:a="http://schemas.openxmlformats.org/drawingml/2006/main">
            <a:r>
              <a:rPr>
                <a:latin typeface="나눔고딕"/>
                <a:ea typeface="나눔고딕"/>
                <a:cs typeface="나눔고딕"/>
              </a:rPr>
              <a:t>• CAC 회수기간과 반복 여행 LTV를 도시별 측정</a:t>
            </a:r>
          </a:p>
        </p:txBody>
      </p:sp>
      <p:sp>
        <p:nvSpPr>
          <p:cNvPr id="28" name="Text Box 1059">
            <a:extLst xmlns:a="http://schemas.openxmlformats.org/drawingml/2006/main">
              <a:ext uri="{FF2B5EF4-FFF2-40B4-BE49-F238E27FC236}">
                <a16:creationId xmlns:a16="http://schemas.microsoft.com/office/drawing/2014/main" id="{DA221758-3EA0-4588-A66C-A7D2BAD77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9144" y="5590401"/>
            <a:ext cx="2016224" cy="4308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>
              <a:buNone/>
              <a:defRPr sz="1100" b="1">
                <a:latin typeface="+mn-ea"/>
                <a:ea typeface="+mn-ea"/>
                <a:cs typeface="+mn-ea"/>
              </a:defRPr>
            </a:lvl1pPr>
            <a:lvl2pPr marL="742950" indent="-285750">
              <a:buNone/>
              <a:defRPr sz="1200">
                <a:latin typeface="굴림"/>
                <a:ea typeface="굴림"/>
                <a:cs typeface="굴림"/>
              </a:defRPr>
            </a:lvl2pPr>
            <a:lvl3pPr marL="1143000" indent="-228600">
              <a:buNone/>
              <a:defRPr sz="1200">
                <a:latin typeface="굴림"/>
                <a:ea typeface="굴림"/>
                <a:cs typeface="굴림"/>
              </a:defRPr>
            </a:lvl3pPr>
            <a:lvl4pPr marL="1600200" indent="-228600">
              <a:buNone/>
              <a:defRPr sz="1200">
                <a:latin typeface="굴림"/>
                <a:ea typeface="굴림"/>
                <a:cs typeface="굴림"/>
              </a:defRPr>
            </a:lvl4pPr>
            <a:lvl5pPr marL="2057400" indent="-228600">
              <a:buNone/>
              <a:defRPr sz="1200">
                <a:latin typeface="굴림"/>
                <a:ea typeface="굴림"/>
                <a:cs typeface="굴림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 sz="1200">
                <a:latin typeface="굴림"/>
                <a:ea typeface="굴림"/>
                <a:cs typeface="굴림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 sz="1200">
                <a:latin typeface="굴림"/>
                <a:ea typeface="굴림"/>
                <a:cs typeface="굴림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 sz="1200">
                <a:latin typeface="굴림"/>
                <a:ea typeface="굴림"/>
                <a:cs typeface="굴림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 sz="1200">
                <a:latin typeface="굴림"/>
                <a:ea typeface="굴림"/>
                <a:cs typeface="굴림"/>
              </a:defRPr>
            </a:lvl9pPr>
          </a:lstStyle>
          <a:p xmlns:a="http://schemas.openxmlformats.org/drawingml/2006/main">
            <a:r>
              <a:rPr>
                <a:latin typeface="나눔고딕"/>
                <a:ea typeface="나눔고딕"/>
                <a:cs typeface="나눔고딕"/>
              </a:rPr>
              <a:t>• 공급 활성화 비용 대비 거래 파트너 비율 관리</a:t>
            </a:r>
          </a:p>
        </p:txBody>
      </p:sp>
      <p:sp>
        <p:nvSpPr>
          <p:cNvPr id="32" name="직사각형 31">
            <a:extLst xmlns:a="http://schemas.openxmlformats.org/drawingml/2006/main">
              <a:ext uri="{FF2B5EF4-FFF2-40B4-BE49-F238E27FC236}">
                <a16:creationId xmlns:a16="http://schemas.microsoft.com/office/drawing/2014/main" id="{08F828A6-21D3-4344-A304-3F25615B6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087" y="3348469"/>
            <a:ext cx="2808697" cy="122285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350">
            <a:solidFill>
              <a:schemeClr val="bg1">
                <a:lumMod val="65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>
                <a:solidFill>
                  <a:schemeClr val="tx1"/>
                </a:solidFill>
                <a:latin typeface="나눔고딕"/>
                <a:ea typeface="나눔고딕"/>
                <a:cs typeface="나눔고딕"/>
              </a:rPr>
              <a:t>  </a:t>
            </a:r>
          </a:p>
        </p:txBody>
      </p:sp>
      <p:sp>
        <p:nvSpPr>
          <p:cNvPr id="33" name="직사각형 32">
            <a:extLst xmlns:a="http://schemas.openxmlformats.org/drawingml/2006/main">
              <a:ext uri="{FF2B5EF4-FFF2-40B4-BE49-F238E27FC236}">
                <a16:creationId xmlns:a16="http://schemas.microsoft.com/office/drawing/2014/main" id="{C56ADAF5-7FFB-4EF1-A92F-865832FA7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6704" y="3348469"/>
            <a:ext cx="2808697" cy="122285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350">
            <a:solidFill>
              <a:schemeClr val="bg1">
                <a:lumMod val="65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>
                <a:solidFill>
                  <a:schemeClr val="tx1"/>
                </a:solidFill>
                <a:latin typeface="나눔고딕"/>
                <a:ea typeface="나눔고딕"/>
                <a:cs typeface="나눔고딕"/>
              </a:rPr>
              <a:t>  </a:t>
            </a:r>
          </a:p>
        </p:txBody>
      </p:sp>
      <p:sp>
        <p:nvSpPr>
          <p:cNvPr id="34" name="직사각형 33">
            <a:extLst xmlns:a="http://schemas.openxmlformats.org/drawingml/2006/main">
              <a:ext uri="{FF2B5EF4-FFF2-40B4-BE49-F238E27FC236}">
                <a16:creationId xmlns:a16="http://schemas.microsoft.com/office/drawing/2014/main" id="{F00FDFFB-2264-49DF-9081-626215A8F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6665" y="3348469"/>
            <a:ext cx="2807497" cy="122285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350">
            <a:solidFill>
              <a:schemeClr val="bg1">
                <a:lumMod val="65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>
                <a:solidFill>
                  <a:schemeClr val="tx1"/>
                </a:solidFill>
                <a:latin typeface="나눔고딕"/>
                <a:ea typeface="나눔고딕"/>
                <a:cs typeface="나눔고딕"/>
              </a:rPr>
              <a:t>  </a:t>
            </a:r>
          </a:p>
        </p:txBody>
      </p:sp>
      <p:sp>
        <p:nvSpPr>
          <p:cNvPr id="35" name="Text Box 1078">
            <a:extLst xmlns:a="http://schemas.openxmlformats.org/drawingml/2006/main">
              <a:ext uri="{FF2B5EF4-FFF2-40B4-BE49-F238E27FC236}">
                <a16:creationId xmlns:a16="http://schemas.microsoft.com/office/drawing/2014/main" id="{702D5D0A-CE8A-41E3-B5FF-9B3172961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036" y="3391772"/>
            <a:ext cx="2779928" cy="11310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1pPr>
            <a:lvl2pPr marL="742950" indent="-28575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2pPr>
            <a:lvl3pPr marL="11430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3pPr>
            <a:lvl4pPr marL="16002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4pPr>
            <a:lvl5pPr marL="20574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9pPr>
          </a:lstStyle>
          <a:p xmlns:a="http://schemas.openxmlformats.org/drawingml/2006/main">
            <a:pPr>
              <a:spcBef>
                <a:spcPts val="600"/>
              </a:spcBef>
              <a:buFont typeface="Wingdings 3"/>
              <a:buChar char="}"/>
            </a:pPr>
            <a:r>
              <a:rPr sz="1050">
                <a:latin typeface="나눔고딕"/>
                <a:ea typeface="나눔고딕"/>
                <a:cs typeface="나눔고딕"/>
              </a:rPr>
              <a:t>예약·패키지 거래 수수료</a:t>
            </a:r>
          </a:p>
          <a:p xmlns:a="http://schemas.openxmlformats.org/drawingml/2006/main">
            <a:pPr>
              <a:spcBef>
                <a:spcPts val="600"/>
              </a:spcBef>
              <a:buFont typeface="Wingdings 3"/>
              <a:buChar char="}"/>
            </a:pPr>
            <a:r>
              <a:rPr sz="1050">
                <a:ln w="11430">
                  <a:noFill/>
                </a:ln>
                <a:latin typeface="나눔고딕"/>
                <a:ea typeface="나눔고딕"/>
                <a:cs typeface="나눔고딕"/>
              </a:rPr>
              <a:t>변경·취소 서비스 수익</a:t>
            </a:r>
          </a:p>
        </p:txBody>
      </p:sp>
      <p:sp>
        <p:nvSpPr>
          <p:cNvPr id="36" name="Text Box 1078">
            <a:extLst xmlns:a="http://schemas.openxmlformats.org/drawingml/2006/main">
              <a:ext uri="{FF2B5EF4-FFF2-40B4-BE49-F238E27FC236}">
                <a16:creationId xmlns:a16="http://schemas.microsoft.com/office/drawing/2014/main" id="{DEAE33C5-46D8-4BD7-BCCF-FA48AB3B0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0226" y="3391772"/>
            <a:ext cx="2892138" cy="11387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spcBef>
                <a:spcPts val="600"/>
              </a:spcBef>
              <a:buFont typeface="Wingdings 3"/>
              <a:buChar char="}"/>
              <a:defRPr sz="1050">
                <a:latin typeface="나눔고딕"/>
                <a:ea typeface="나눔고딕"/>
                <a:cs typeface="나눔고딕"/>
              </a:defRPr>
            </a:lvl1pPr>
            <a:lvl2pPr marL="742950" indent="-285750">
              <a:buNone/>
              <a:defRPr sz="1200">
                <a:latin typeface="굴림"/>
                <a:ea typeface="굴림"/>
                <a:cs typeface="굴림"/>
              </a:defRPr>
            </a:lvl2pPr>
            <a:lvl3pPr marL="1143000" indent="-228600">
              <a:buNone/>
              <a:defRPr sz="1200">
                <a:latin typeface="굴림"/>
                <a:ea typeface="굴림"/>
                <a:cs typeface="굴림"/>
              </a:defRPr>
            </a:lvl3pPr>
            <a:lvl4pPr marL="1600200" indent="-228600">
              <a:buNone/>
              <a:defRPr sz="1200">
                <a:latin typeface="굴림"/>
                <a:ea typeface="굴림"/>
                <a:cs typeface="굴림"/>
              </a:defRPr>
            </a:lvl4pPr>
            <a:lvl5pPr marL="2057400" indent="-228600">
              <a:buNone/>
              <a:defRPr sz="1200">
                <a:latin typeface="굴림"/>
                <a:ea typeface="굴림"/>
                <a:cs typeface="굴림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 sz="1200">
                <a:latin typeface="굴림"/>
                <a:ea typeface="굴림"/>
                <a:cs typeface="굴림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 sz="1200">
                <a:latin typeface="굴림"/>
                <a:ea typeface="굴림"/>
                <a:cs typeface="굴림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 sz="1200">
                <a:latin typeface="굴림"/>
                <a:ea typeface="굴림"/>
                <a:cs typeface="굴림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 sz="1200">
                <a:latin typeface="굴림"/>
                <a:ea typeface="굴림"/>
                <a:cs typeface="굴림"/>
              </a:defRPr>
            </a:lvl9pPr>
          </a:lstStyle>
          <a:p xmlns:a="http://schemas.openxmlformats.org/drawingml/2006/main">
            <a:r>
              <a:t>분석·우선 노출·콘텐츠</a:t>
            </a:r>
          </a:p>
          <a:p xmlns:a="http://schemas.openxmlformats.org/drawingml/2006/main">
            <a:r>
              <a:t>채널·정산 운영 도구</a:t>
            </a:r>
          </a:p>
        </p:txBody>
      </p:sp>
      <p:sp>
        <p:nvSpPr>
          <p:cNvPr id="37" name="Text Box 1078">
            <a:extLst xmlns:a="http://schemas.openxmlformats.org/drawingml/2006/main">
              <a:ext uri="{FF2B5EF4-FFF2-40B4-BE49-F238E27FC236}">
                <a16:creationId xmlns:a16="http://schemas.microsoft.com/office/drawing/2014/main" id="{E49E58D5-12D6-4D3B-83F1-0C24B1DC9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0265" y="3378407"/>
            <a:ext cx="2787943" cy="10926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1pPr>
            <a:lvl2pPr marL="742950" indent="-28575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2pPr>
            <a:lvl3pPr marL="11430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3pPr>
            <a:lvl4pPr marL="16002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4pPr>
            <a:lvl5pPr marL="20574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9pPr>
          </a:lstStyle>
          <a:p xmlns:a="http://schemas.openxmlformats.org/drawingml/2006/main">
            <a:pPr>
              <a:spcBef>
                <a:spcPts val="500"/>
              </a:spcBef>
              <a:buFont typeface="Wingdings 3"/>
              <a:buChar char="}"/>
            </a:pPr>
            <a:r>
              <a:rPr sz="1050">
                <a:latin typeface="나눔고딕"/>
                <a:ea typeface="나눔고딕"/>
                <a:cs typeface="나눔고딕"/>
              </a:rPr>
              <a:t>스폰서·제휴·B2B API</a:t>
            </a:r>
          </a:p>
          <a:p xmlns:a="http://schemas.openxmlformats.org/drawingml/2006/main">
            <a:pPr>
              <a:spcBef>
                <a:spcPts val="500"/>
              </a:spcBef>
              <a:buFont typeface="Wingdings 3"/>
              <a:buChar char="}"/>
            </a:pPr>
            <a:r>
              <a:rPr sz="1050">
                <a:ln w="11430">
                  <a:noFill/>
                </a:ln>
                <a:latin typeface="나눔고딕"/>
                <a:ea typeface="나눔고딕"/>
                <a:cs typeface="나눔고딕"/>
              </a:rPr>
              <a:t>수요 인사이트</a:t>
            </a:r>
          </a:p>
        </p:txBody>
      </p:sp>
      <p:sp>
        <p:nvSpPr>
          <p:cNvPr id="38" name="직사각형 37">
            <a:extLst xmlns:a="http://schemas.openxmlformats.org/drawingml/2006/main">
              <a:ext uri="{FF2B5EF4-FFF2-40B4-BE49-F238E27FC236}">
                <a16:creationId xmlns:a16="http://schemas.microsoft.com/office/drawing/2014/main" id="{B1518440-D941-4F63-9C43-FF2511259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087" y="2865869"/>
            <a:ext cx="2811446" cy="48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9EF1"/>
          </a:solidFill>
          <a:ln xmlns:a="http://schemas.openxmlformats.org/drawingml/2006/main" w="9525">
            <a:noFill/>
          </a:ln>
        </p:spPr>
        <p:txBody>
          <a:bodyPr xmlns:a="http://schemas.openxmlformats.org/drawingml/2006/main" wrap="none" lIns="0" rIns="0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spcBef>
                <a:spcPts val="600"/>
              </a:spcBef>
              <a:buNone/>
            </a:pPr>
            <a:r>
              <a:rPr sz="1300" b="1">
                <a:ln>
                  <a:solidFill>
                    <a:srgbClr val="CCECFF">
                      <a:alpha val="0"/>
                    </a:srgbClr>
                  </a:solidFill>
                </a:ln>
                <a:solidFill>
                  <a:schemeClr val="bg1"/>
                </a:solidFill>
                <a:latin typeface="나눔고딕"/>
                <a:ea typeface="나눔고딕"/>
                <a:cs typeface="나눔고딕"/>
              </a:rPr>
              <a:t>거래 수익</a:t>
            </a:r>
          </a:p>
        </p:txBody>
      </p:sp>
      <p:sp>
        <p:nvSpPr>
          <p:cNvPr id="39" name="직사각형 38">
            <a:extLst xmlns:a="http://schemas.openxmlformats.org/drawingml/2006/main">
              <a:ext uri="{FF2B5EF4-FFF2-40B4-BE49-F238E27FC236}">
                <a16:creationId xmlns:a16="http://schemas.microsoft.com/office/drawing/2014/main" id="{1E9B8607-6B74-409B-9702-B4D862CD1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6665" y="2865869"/>
            <a:ext cx="2807497" cy="48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9EF1"/>
          </a:solidFill>
          <a:ln xmlns:a="http://schemas.openxmlformats.org/drawingml/2006/main" w="9525">
            <a:noFill/>
          </a:ln>
        </p:spPr>
        <p:txBody>
          <a:bodyPr xmlns:a="http://schemas.openxmlformats.org/drawingml/2006/main" wrap="none" lIns="0" r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1">
                <a:ln>
                  <a:solidFill>
                    <a:srgbClr val="CCECFF">
                      <a:alpha val="0"/>
                    </a:srgbClr>
                  </a:solidFill>
                </a:ln>
                <a:solidFill>
                  <a:schemeClr val="bg1"/>
                </a:solidFill>
                <a:latin typeface="나눔고딕"/>
                <a:ea typeface="나눔고딕"/>
                <a:cs typeface="나눔고딕"/>
              </a:rPr>
              <a:t>운영 수익</a:t>
            </a:r>
          </a:p>
        </p:txBody>
      </p:sp>
      <p:sp>
        <p:nvSpPr>
          <p:cNvPr id="40" name="직사각형 39">
            <a:extLst xmlns:a="http://schemas.openxmlformats.org/drawingml/2006/main">
              <a:ext uri="{FF2B5EF4-FFF2-40B4-BE49-F238E27FC236}">
                <a16:creationId xmlns:a16="http://schemas.microsoft.com/office/drawing/2014/main" id="{6BDD85B1-23E7-49B9-8DEB-FCF2ACF69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6704" y="2852504"/>
            <a:ext cx="2807497" cy="48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9EF1"/>
          </a:solidFill>
          <a:ln xmlns:a="http://schemas.openxmlformats.org/drawingml/2006/main" w="9525">
            <a:noFill/>
          </a:ln>
        </p:spPr>
        <p:txBody>
          <a:bodyPr xmlns:a="http://schemas.openxmlformats.org/drawingml/2006/main" wrap="none" lIns="0" rIns="0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spcBef>
                <a:spcPts val="600"/>
              </a:spcBef>
              <a:buNone/>
            </a:pPr>
            <a:r>
              <a:rPr sz="1300" b="1">
                <a:ln>
                  <a:solidFill>
                    <a:srgbClr val="CCECFF">
                      <a:alpha val="0"/>
                    </a:srgbClr>
                  </a:solidFill>
                </a:ln>
                <a:solidFill>
                  <a:schemeClr val="bg1"/>
                </a:solidFill>
                <a:latin typeface="나눔고딕"/>
                <a:ea typeface="나눔고딕"/>
                <a:cs typeface="나눔고딕"/>
              </a:rPr>
              <a:t>성장 수익</a:t>
            </a:r>
          </a:p>
        </p:txBody>
      </p:sp>
      <p:sp>
        <p:nvSpPr>
          <p:cNvPr id="30" name="AutoShape 1073">
            <a:extLst xmlns:a="http://schemas.openxmlformats.org/drawingml/2006/main">
              <a:ext uri="{FF2B5EF4-FFF2-40B4-BE49-F238E27FC236}">
                <a16:creationId xmlns:a16="http://schemas.microsoft.com/office/drawing/2014/main" id="{7AE85CCB-A499-464E-8F37-5A3EB5D68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087" y="6102821"/>
            <a:ext cx="8599625" cy="330307"/>
          </a:xfrm>
          <a:prstGeom xmlns:a="http://schemas.openxmlformats.org/drawingml/2006/main" prst="roundRect">
            <a:avLst>
              <a:gd name="adj" fmla="val 12278"/>
            </a:avLst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46800" rIns="0" bIns="46800" anchor="ctr"/>
          <a:lstStyle xmlns:a="http://schemas.openxmlformats.org/drawingml/2006/main">
            <a:lvl1pPr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1pPr>
            <a:lvl2pPr marL="742950" indent="-28575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2pPr>
            <a:lvl3pPr marL="11430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3pPr>
            <a:lvl4pPr marL="16002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4pPr>
            <a:lvl5pPr marL="20574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9pPr>
          </a:lstStyle>
          <a:p xmlns:a="http://schemas.openxmlformats.org/drawingml/2006/main">
            <a:pPr>
              <a:buClr>
                <a:schemeClr val="accent2"/>
              </a:buClr>
              <a:buNone/>
            </a:pPr>
            <a:r>
              <a:rPr sz="1000">
                <a:latin typeface="나눔고딕"/>
                <a:ea typeface="나눔고딕"/>
                <a:cs typeface="나눔고딕"/>
              </a:rPr>
              <a:t>구체 수수료율은 업종·시장·공급 협상에 따라 파일럿에서 검증합니다.</a:t>
            </a:r>
          </a:p>
        </p:txBody>
      </p:sp>
      <p:sp>
        <p:nvSpPr>
          <p:cNvPr id="2" name="슬라이드 번호 개체 틀 1">
            <a:extLst xmlns:a="http://schemas.openxmlformats.org/drawingml/2006/main">
              <a:ext uri="{FF2B5EF4-FFF2-40B4-BE49-F238E27FC236}">
                <a16:creationId xmlns:a16="http://schemas.microsoft.com/office/drawing/2014/main" id="{DDFC9716-A9B0-4549-A5B9-FE0891C55E6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F91274-D221-1BB4-3BF9-836E3AD31EBE}" type="slidenum">
              <a:rPr>
                <a:latin typeface="나눔고딕"/>
                <a:ea typeface="나눔고딕"/>
                <a:cs typeface="나눔고딕"/>
              </a:rPr>
              <a:t>19</a:t>
            </a:fld>
          </a:p>
        </p:txBody>
      </p:sp>
    </p:spTree>
    <p:extLst>
      <p:ext uri="{BB962C8B-B14F-4D97-AF65-F5344CB8AC3E}">
        <p14:creationId xmlns:p14="http://schemas.microsoft.com/office/powerpoint/2010/main" val="2112425122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제목 71">
            <a:extLst xmlns:a="http://schemas.openxmlformats.org/drawingml/2006/main">
              <a:ext uri="{FF2B5EF4-FFF2-40B4-BE49-F238E27FC236}">
                <a16:creationId xmlns:a16="http://schemas.microsoft.com/office/drawing/2014/main" id="{0A4D92D9-7E69-480C-9827-E9CD4C613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487" y="71414"/>
            <a:ext cx="6768753" cy="57150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6800" rIns="91440" bIns="46800" anchor="b">
            <a:normAutofit fontScale="100000"/>
          </a:bodyPr>
          <a:lstStyle xmlns:a="http://schemas.openxmlformats.org/drawingml/2006/main">
            <a:lvl1pPr algn="l" defTabSz="914400">
              <a:spcBef>
                <a:spcPct val="0"/>
              </a:spcBef>
              <a:buNone/>
              <a:defRPr sz="1800" b="1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rPr>
                <a:solidFill>
                  <a:schemeClr val="bg1"/>
                </a:solidFill>
                <a:latin typeface="나눔고딕"/>
                <a:ea typeface="나눔고딕"/>
                <a:cs typeface="나눔고딕"/>
              </a:rPr>
              <a:t>10. 시장 진입과 Go-to-Market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3F454521-134A-4C19-B324-2C34D0011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512" y="908720"/>
            <a:ext cx="8945580" cy="8475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1300" b="1">
                <a:latin typeface="나눔고딕"/>
                <a:ea typeface="나눔고딕"/>
                <a:cs typeface="나눔고딕"/>
              </a:rPr>
              <a:t>국내 전역을 한 번에 확장하기보다 해외 자유여행 수요가 높고 호텔·액티비티 공급을 밀도 있게 확보할 수 있는 도시 단위로 검증합니다.</a:t>
            </a:r>
          </a:p>
        </p:txBody>
      </p:sp>
      <p:sp>
        <p:nvSpPr>
          <p:cNvPr id="10" name="삼각형 8">
            <a:extLst xmlns:a="http://schemas.openxmlformats.org/drawingml/2006/main">
              <a:ext uri="{FF2B5EF4-FFF2-40B4-BE49-F238E27FC236}">
                <a16:creationId xmlns:a16="http://schemas.microsoft.com/office/drawing/2014/main" id="{96744AEB-2A7A-45EC-9328-C78D7D088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520" y="1784011"/>
            <a:ext cx="7818959" cy="1210857"/>
          </a:xfrm>
          <a:prstGeom xmlns:a="http://schemas.openxmlformats.org/drawingml/2006/main" prst="triangle">
            <a:avLst>
              <a:gd name="adj" fmla="val 49887"/>
            </a:avLst>
          </a:prstGeom>
          <a:gradFill xmlns:a="http://schemas.openxmlformats.org/drawingml/2006/main" rotWithShape="1">
            <a:gsLst>
              <a:gs pos="0">
                <a:srgbClr val="D1EFF9">
                  <a:alpha val="30000"/>
                </a:srgb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162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Clr>
                <a:srgbClr val="000000"/>
              </a:buClr>
              <a:buFont typeface="Arial"/>
              <a:buNone/>
            </a:pPr>
          </a:p>
        </p:txBody>
      </p:sp>
      <p:sp>
        <p:nvSpPr>
          <p:cNvPr id="11" name="사각형: 둥근 모서리 10">
            <a:extLst xmlns:a="http://schemas.openxmlformats.org/drawingml/2006/main">
              <a:ext uri="{FF2B5EF4-FFF2-40B4-BE49-F238E27FC236}">
                <a16:creationId xmlns:a16="http://schemas.microsoft.com/office/drawing/2014/main" id="{08657C82-0C4A-4BB5-941E-A1F4CCD8B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474" y="4832033"/>
            <a:ext cx="8644727" cy="122285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9525">
            <a:solidFill>
              <a:schemeClr val="bg1">
                <a:lumMod val="65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 Box 1059">
            <a:extLst xmlns:a="http://schemas.openxmlformats.org/drawingml/2006/main">
              <a:ext uri="{FF2B5EF4-FFF2-40B4-BE49-F238E27FC236}">
                <a16:creationId xmlns:a16="http://schemas.microsoft.com/office/drawing/2014/main" id="{A1C9E121-F826-4C77-AFFB-93257D138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4608" y="5039197"/>
            <a:ext cx="2016224" cy="4308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1pPr>
            <a:lvl2pPr marL="742950" indent="-28575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2pPr>
            <a:lvl3pPr marL="11430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3pPr>
            <a:lvl4pPr marL="16002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4pPr>
            <a:lvl5pPr marL="20574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9pPr>
          </a:lstStyle>
          <a:p xmlns:a="http://schemas.openxmlformats.org/drawingml/2006/main">
            <a:pPr>
              <a:buNone/>
            </a:pPr>
            <a:r>
              <a:rPr sz="1100" b="1">
                <a:latin typeface="나눔고딕"/>
                <a:ea typeface="나눔고딕"/>
                <a:cs typeface="나눔고딕"/>
              </a:rPr>
              <a:t>• 다낭 등 대표 도시에서 4박5일 완결 여정 검증</a:t>
            </a:r>
          </a:p>
        </p:txBody>
      </p:sp>
      <p:sp>
        <p:nvSpPr>
          <p:cNvPr id="14" name="사각형: 둥근 모서리 13">
            <a:extLst xmlns:a="http://schemas.openxmlformats.org/drawingml/2006/main">
              <a:ext uri="{FF2B5EF4-FFF2-40B4-BE49-F238E27FC236}">
                <a16:creationId xmlns:a16="http://schemas.microsoft.com/office/drawing/2014/main" id="{6BED4BEC-4414-418C-AD4E-70FE50217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474" y="1926992"/>
            <a:ext cx="8644727" cy="493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54D83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Clr>
                <a:srgbClr val="000000"/>
              </a:buClr>
              <a:buFont typeface="Arial"/>
              <a:buNone/>
            </a:pPr>
            <a:r>
              <a:rPr b="1">
                <a:solidFill>
                  <a:schemeClr val="bg1"/>
                </a:solidFill>
                <a:latin typeface="나눔고딕"/>
                <a:ea typeface="나눔고딕"/>
                <a:cs typeface="나눔고딕"/>
              </a:rPr>
              <a:t>한 도시의 완결된 여행부터</a:t>
            </a:r>
          </a:p>
          <a:p xmlns:a="http://schemas.openxmlformats.org/drawingml/2006/main">
            <a:pPr algn="ctr">
              <a:buClr>
                <a:srgbClr val="000000"/>
              </a:buClr>
              <a:buFont typeface="Arial"/>
              <a:buNone/>
            </a:pPr>
            <a:r>
              <a:rPr b="1">
                <a:solidFill>
                  <a:schemeClr val="bg1"/>
                </a:solidFill>
                <a:latin typeface="나눔고딕"/>
                <a:ea typeface="나눔고딕"/>
                <a:cs typeface="나눔고딕"/>
              </a:rPr>
              <a:t>다도시 플랫폼으로 확장</a:t>
            </a:r>
          </a:p>
        </p:txBody>
      </p:sp>
      <p:sp>
        <p:nvSpPr>
          <p:cNvPr id="16" name="AutoShape 1073">
            <a:extLst xmlns:a="http://schemas.openxmlformats.org/drawingml/2006/main">
              <a:ext uri="{FF2B5EF4-FFF2-40B4-BE49-F238E27FC236}">
                <a16:creationId xmlns:a16="http://schemas.microsoft.com/office/drawing/2014/main" id="{C46E2062-1BD1-41E4-BB85-27970B07D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202" y="2432230"/>
            <a:ext cx="8155110" cy="393789"/>
          </a:xfrm>
          <a:prstGeom xmlns:a="http://schemas.openxmlformats.org/drawingml/2006/main" prst="roundRect">
            <a:avLst>
              <a:gd name="adj" fmla="val 12278"/>
            </a:avLst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46800" rIns="0" bIns="46800" anchor="ctr"/>
          <a:lstStyle xmlns:a="http://schemas.openxmlformats.org/drawingml/2006/main">
            <a:lvl1pPr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1pPr>
            <a:lvl2pPr marL="742950" indent="-28575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2pPr>
            <a:lvl3pPr marL="11430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3pPr>
            <a:lvl4pPr marL="16002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4pPr>
            <a:lvl5pPr marL="20574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9pPr>
          </a:lstStyle>
          <a:p xmlns:a="http://schemas.openxmlformats.org/drawingml/2006/main">
            <a:pPr algn="ctr">
              <a:buClr>
                <a:schemeClr val="accent2"/>
              </a:buClr>
              <a:buNone/>
            </a:pPr>
            <a:r>
              <a:rPr sz="1600" b="1">
                <a:latin typeface="나눔고딕"/>
                <a:ea typeface="나눔고딕"/>
                <a:cs typeface="나눔고딕"/>
              </a:rPr>
              <a:t>Destination Playbook + Content Commerce + Supply Density</a:t>
            </a:r>
          </a:p>
        </p:txBody>
      </p:sp>
      <p:sp>
        <p:nvSpPr>
          <p:cNvPr id="17" name="사각형: 둥근 모서리 16">
            <a:extLst xmlns:a="http://schemas.openxmlformats.org/drawingml/2006/main">
              <a:ext uri="{FF2B5EF4-FFF2-40B4-BE49-F238E27FC236}">
                <a16:creationId xmlns:a16="http://schemas.microsoft.com/office/drawing/2014/main" id="{9227A528-23D7-430D-82C2-CC04E412A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097" y="4653136"/>
            <a:ext cx="7359190" cy="34588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tIns="0" bIns="0" anchor="ctr"/>
          <a:lstStyle xmlns:a="http://schemas.openxmlformats.org/drawingml/2006/main"/>
          <a:p xmlns:a="http://schemas.openxmlformats.org/drawingml/2006/main">
            <a:pPr algn="ctr">
              <a:buClr>
                <a:srgbClr val="000000"/>
              </a:buClr>
              <a:buFont typeface="Arial"/>
              <a:buNone/>
            </a:pPr>
            <a:r>
              <a:rPr sz="1400" b="1">
                <a:latin typeface="나눔고딕"/>
                <a:ea typeface="나눔고딕"/>
                <a:cs typeface="나눔고딕"/>
              </a:rPr>
              <a:t>초기 시장 플레이북</a:t>
            </a:r>
          </a:p>
        </p:txBody>
      </p:sp>
      <p:sp>
        <p:nvSpPr>
          <p:cNvPr id="18" name="사각형: 둥근 모서리 17">
            <a:extLst xmlns:a="http://schemas.openxmlformats.org/drawingml/2006/main">
              <a:ext uri="{FF2B5EF4-FFF2-40B4-BE49-F238E27FC236}">
                <a16:creationId xmlns:a16="http://schemas.microsoft.com/office/drawing/2014/main" id="{9B1F9BE3-70A7-4D4D-8EE6-71B6AFED7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6035" y="5281071"/>
            <a:ext cx="1399410" cy="428931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BE3EE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Clr>
                <a:srgbClr val="000000"/>
              </a:buClr>
              <a:buFont typeface="Arial"/>
              <a:buNone/>
            </a:pPr>
          </a:p>
        </p:txBody>
      </p:sp>
      <p:sp>
        <p:nvSpPr>
          <p:cNvPr id="19" name="Text Box 1067">
            <a:extLst xmlns:a="http://schemas.openxmlformats.org/drawingml/2006/main">
              <a:ext uri="{FF2B5EF4-FFF2-40B4-BE49-F238E27FC236}">
                <a16:creationId xmlns:a16="http://schemas.microsoft.com/office/drawing/2014/main" id="{127D301A-BA50-4D6F-8A82-A09973BD4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4760" y="5357037"/>
            <a:ext cx="1821959" cy="2769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spAutoFit/>
          </a:bodyPr>
          <a:lstStyle xmlns:a="http://schemas.openxmlformats.org/drawingml/2006/main">
            <a:lvl1pPr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1pPr>
            <a:lvl2pPr marL="742950" indent="-28575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2pPr>
            <a:lvl3pPr marL="11430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3pPr>
            <a:lvl4pPr marL="16002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4pPr>
            <a:lvl5pPr marL="20574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9pPr>
          </a:lstStyle>
          <a:p xmlns:a="http://schemas.openxmlformats.org/drawingml/2006/main">
            <a:pPr algn="ctr">
              <a:buNone/>
            </a:pPr>
            <a:r>
              <a:rPr b="1">
                <a:latin typeface="나눔고딕"/>
                <a:ea typeface="나눔고딕"/>
                <a:cs typeface="나눔고딕"/>
              </a:rPr>
              <a:t>CITY BY CITY</a:t>
            </a:r>
          </a:p>
        </p:txBody>
      </p:sp>
      <p:cxnSp>
        <p:nvCxnSpPr>
          <p:cNvPr id="65" name="연결선: 꺾임 20"/>
          <p:cNvCxnSpPr/>
          <p:nvPr/>
        </p:nvCxnSpPr>
        <p:spPr>
          <a:xfrm xmlns:a="http://schemas.openxmlformats.org/drawingml/2006/main" rot="0" flipH="0" flipV="1">
            <a:off x="5514397" y="5218539"/>
            <a:ext cx="647542" cy="280326"/>
          </a:xfrm>
          <a:prstGeom xmlns:a="http://schemas.openxmlformats.org/drawingml/2006/main" prst="bentConnector3">
            <a:avLst/>
          </a:prstGeom>
          <a:ln xmlns:a="http://schemas.openxmlformats.org/drawingml/2006/main">
            <a:solidFill>
              <a:srgbClr val="C7B38F"/>
            </a:solidFill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66" name="연결선: 꺾임 21"/>
          <p:cNvCxnSpPr/>
          <p:nvPr/>
        </p:nvCxnSpPr>
        <p:spPr>
          <a:xfrm xmlns:a="http://schemas.openxmlformats.org/drawingml/2006/main" rot="0" flipH="0" flipV="0">
            <a:off x="5514397" y="5498865"/>
            <a:ext cx="647542" cy="346166"/>
          </a:xfrm>
          <a:prstGeom xmlns:a="http://schemas.openxmlformats.org/drawingml/2006/main" prst="bentConnector3">
            <a:avLst/>
          </a:prstGeom>
          <a:ln xmlns:a="http://schemas.openxmlformats.org/drawingml/2006/main">
            <a:solidFill>
              <a:srgbClr val="C7B38F"/>
            </a:solidFill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67" name="연결선: 꺾임 23"/>
          <p:cNvCxnSpPr/>
          <p:nvPr/>
        </p:nvCxnSpPr>
        <p:spPr>
          <a:xfrm xmlns:a="http://schemas.openxmlformats.org/drawingml/2006/main" rot="10800000" flipH="0" flipV="0">
            <a:off x="-8573939" y="5218539"/>
            <a:ext cx="647542" cy="276999"/>
          </a:xfrm>
          <a:prstGeom xmlns:a="http://schemas.openxmlformats.org/drawingml/2006/main" prst="bentConnector3">
            <a:avLst/>
          </a:prstGeom>
          <a:ln xmlns:a="http://schemas.openxmlformats.org/drawingml/2006/main">
            <a:solidFill>
              <a:srgbClr val="C7B38F"/>
            </a:solidFill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68" name="연결선: 꺾임 24"/>
          <p:cNvCxnSpPr/>
          <p:nvPr/>
        </p:nvCxnSpPr>
        <p:spPr>
          <a:xfrm xmlns:a="http://schemas.openxmlformats.org/drawingml/2006/main" rot="0" flipH="1" flipV="0">
            <a:off x="-8573939" y="5495537"/>
            <a:ext cx="647542" cy="346166"/>
          </a:xfrm>
          <a:prstGeom xmlns:a="http://schemas.openxmlformats.org/drawingml/2006/main" prst="bentConnector3">
            <a:avLst/>
          </a:prstGeom>
          <a:ln xmlns:a="http://schemas.openxmlformats.org/drawingml/2006/main">
            <a:solidFill>
              <a:srgbClr val="C7B38F"/>
            </a:solidFill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26" name="Text Box 1059">
            <a:extLst xmlns:a="http://schemas.openxmlformats.org/drawingml/2006/main">
              <a:ext uri="{FF2B5EF4-FFF2-40B4-BE49-F238E27FC236}">
                <a16:creationId xmlns:a16="http://schemas.microsoft.com/office/drawing/2014/main" id="{1ECA50C8-87E4-43BB-8927-5FB42570C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4608" y="5590401"/>
            <a:ext cx="2016224" cy="4308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1pPr>
            <a:lvl2pPr marL="742950" indent="-28575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2pPr>
            <a:lvl3pPr marL="11430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3pPr>
            <a:lvl4pPr marL="16002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4pPr>
            <a:lvl5pPr marL="20574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9pPr>
          </a:lstStyle>
          <a:p xmlns:a="http://schemas.openxmlformats.org/drawingml/2006/main">
            <a:pPr>
              <a:buNone/>
            </a:pPr>
            <a:r>
              <a:rPr sz="1100" b="1">
                <a:latin typeface="나눔고딕"/>
                <a:ea typeface="나눔고딕"/>
                <a:cs typeface="나눔고딕"/>
              </a:rPr>
              <a:t>• 콘텐츠 조회 → 일정 담기 → 예약 전환 퍼널 측정</a:t>
            </a:r>
          </a:p>
        </p:txBody>
      </p:sp>
      <p:sp>
        <p:nvSpPr>
          <p:cNvPr id="27" name="Text Box 1059">
            <a:extLst xmlns:a="http://schemas.openxmlformats.org/drawingml/2006/main">
              <a:ext uri="{FF2B5EF4-FFF2-40B4-BE49-F238E27FC236}">
                <a16:creationId xmlns:a16="http://schemas.microsoft.com/office/drawing/2014/main" id="{21413528-3D4D-43BA-92A5-64FEE2C9A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9143" y="5039197"/>
            <a:ext cx="2245143" cy="4308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>
              <a:buNone/>
              <a:defRPr sz="1100" b="1">
                <a:latin typeface="+mn-ea"/>
                <a:ea typeface="+mn-ea"/>
                <a:cs typeface="+mn-ea"/>
              </a:defRPr>
            </a:lvl1pPr>
            <a:lvl2pPr marL="742950" indent="-285750">
              <a:buNone/>
              <a:defRPr sz="1200">
                <a:latin typeface="굴림"/>
                <a:ea typeface="굴림"/>
                <a:cs typeface="굴림"/>
              </a:defRPr>
            </a:lvl2pPr>
            <a:lvl3pPr marL="1143000" indent="-228600">
              <a:buNone/>
              <a:defRPr sz="1200">
                <a:latin typeface="굴림"/>
                <a:ea typeface="굴림"/>
                <a:cs typeface="굴림"/>
              </a:defRPr>
            </a:lvl3pPr>
            <a:lvl4pPr marL="1600200" indent="-228600">
              <a:buNone/>
              <a:defRPr sz="1200">
                <a:latin typeface="굴림"/>
                <a:ea typeface="굴림"/>
                <a:cs typeface="굴림"/>
              </a:defRPr>
            </a:lvl4pPr>
            <a:lvl5pPr marL="2057400" indent="-228600">
              <a:buNone/>
              <a:defRPr sz="1200">
                <a:latin typeface="굴림"/>
                <a:ea typeface="굴림"/>
                <a:cs typeface="굴림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 sz="1200">
                <a:latin typeface="굴림"/>
                <a:ea typeface="굴림"/>
                <a:cs typeface="굴림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 sz="1200">
                <a:latin typeface="굴림"/>
                <a:ea typeface="굴림"/>
                <a:cs typeface="굴림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 sz="1200">
                <a:latin typeface="굴림"/>
                <a:ea typeface="굴림"/>
                <a:cs typeface="굴림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 sz="1200">
                <a:latin typeface="굴림"/>
                <a:ea typeface="굴림"/>
                <a:cs typeface="굴림"/>
              </a:defRPr>
            </a:lvl9pPr>
          </a:lstStyle>
          <a:p xmlns:a="http://schemas.openxmlformats.org/drawingml/2006/main">
            <a:r>
              <a:rPr>
                <a:latin typeface="나눔고딕"/>
                <a:ea typeface="나눔고딕"/>
                <a:cs typeface="나눔고딕"/>
              </a:rPr>
              <a:t>• 품질 좋은 공유 일정의 재사용률을 성장 지표로 관리</a:t>
            </a:r>
          </a:p>
        </p:txBody>
      </p:sp>
      <p:sp>
        <p:nvSpPr>
          <p:cNvPr id="28" name="Text Box 1059">
            <a:extLst xmlns:a="http://schemas.openxmlformats.org/drawingml/2006/main">
              <a:ext uri="{FF2B5EF4-FFF2-40B4-BE49-F238E27FC236}">
                <a16:creationId xmlns:a16="http://schemas.microsoft.com/office/drawing/2014/main" id="{DA221758-3EA0-4588-A66C-A7D2BAD77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9144" y="5590401"/>
            <a:ext cx="2016224" cy="4308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>
              <a:buNone/>
              <a:defRPr sz="1100" b="1">
                <a:latin typeface="+mn-ea"/>
                <a:ea typeface="+mn-ea"/>
                <a:cs typeface="+mn-ea"/>
              </a:defRPr>
            </a:lvl1pPr>
            <a:lvl2pPr marL="742950" indent="-285750">
              <a:buNone/>
              <a:defRPr sz="1200">
                <a:latin typeface="굴림"/>
                <a:ea typeface="굴림"/>
                <a:cs typeface="굴림"/>
              </a:defRPr>
            </a:lvl2pPr>
            <a:lvl3pPr marL="1143000" indent="-228600">
              <a:buNone/>
              <a:defRPr sz="1200">
                <a:latin typeface="굴림"/>
                <a:ea typeface="굴림"/>
                <a:cs typeface="굴림"/>
              </a:defRPr>
            </a:lvl3pPr>
            <a:lvl4pPr marL="1600200" indent="-228600">
              <a:buNone/>
              <a:defRPr sz="1200">
                <a:latin typeface="굴림"/>
                <a:ea typeface="굴림"/>
                <a:cs typeface="굴림"/>
              </a:defRPr>
            </a:lvl4pPr>
            <a:lvl5pPr marL="2057400" indent="-228600">
              <a:buNone/>
              <a:defRPr sz="1200">
                <a:latin typeface="굴림"/>
                <a:ea typeface="굴림"/>
                <a:cs typeface="굴림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 sz="1200">
                <a:latin typeface="굴림"/>
                <a:ea typeface="굴림"/>
                <a:cs typeface="굴림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 sz="1200">
                <a:latin typeface="굴림"/>
                <a:ea typeface="굴림"/>
                <a:cs typeface="굴림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 sz="1200">
                <a:latin typeface="굴림"/>
                <a:ea typeface="굴림"/>
                <a:cs typeface="굴림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 sz="1200">
                <a:latin typeface="굴림"/>
                <a:ea typeface="굴림"/>
                <a:cs typeface="굴림"/>
              </a:defRPr>
            </a:lvl9pPr>
          </a:lstStyle>
          <a:p xmlns:a="http://schemas.openxmlformats.org/drawingml/2006/main">
            <a:r>
              <a:rPr>
                <a:latin typeface="나눔고딕"/>
                <a:ea typeface="나눔고딕"/>
                <a:cs typeface="나눔고딕"/>
              </a:rPr>
              <a:t>• 거래·CS·정산 데이터를 다음 도시의 표준으로 재사용</a:t>
            </a:r>
          </a:p>
        </p:txBody>
      </p:sp>
      <p:sp>
        <p:nvSpPr>
          <p:cNvPr id="32" name="직사각형 31">
            <a:extLst xmlns:a="http://schemas.openxmlformats.org/drawingml/2006/main">
              <a:ext uri="{FF2B5EF4-FFF2-40B4-BE49-F238E27FC236}">
                <a16:creationId xmlns:a16="http://schemas.microsoft.com/office/drawing/2014/main" id="{08F828A6-21D3-4344-A304-3F25615B6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087" y="3348469"/>
            <a:ext cx="2808697" cy="122285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350">
            <a:solidFill>
              <a:schemeClr val="bg1">
                <a:lumMod val="65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>
                <a:solidFill>
                  <a:schemeClr val="tx1"/>
                </a:solidFill>
                <a:latin typeface="나눔고딕"/>
                <a:ea typeface="나눔고딕"/>
                <a:cs typeface="나눔고딕"/>
              </a:rPr>
              <a:t>  </a:t>
            </a:r>
          </a:p>
        </p:txBody>
      </p:sp>
      <p:sp>
        <p:nvSpPr>
          <p:cNvPr id="33" name="직사각형 32">
            <a:extLst xmlns:a="http://schemas.openxmlformats.org/drawingml/2006/main">
              <a:ext uri="{FF2B5EF4-FFF2-40B4-BE49-F238E27FC236}">
                <a16:creationId xmlns:a16="http://schemas.microsoft.com/office/drawing/2014/main" id="{C56ADAF5-7FFB-4EF1-A92F-865832FA7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6704" y="3348469"/>
            <a:ext cx="2808697" cy="122285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350">
            <a:solidFill>
              <a:schemeClr val="bg1">
                <a:lumMod val="65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>
                <a:solidFill>
                  <a:schemeClr val="tx1"/>
                </a:solidFill>
                <a:latin typeface="나눔고딕"/>
                <a:ea typeface="나눔고딕"/>
                <a:cs typeface="나눔고딕"/>
              </a:rPr>
              <a:t>  </a:t>
            </a:r>
          </a:p>
        </p:txBody>
      </p:sp>
      <p:sp>
        <p:nvSpPr>
          <p:cNvPr id="34" name="직사각형 33">
            <a:extLst xmlns:a="http://schemas.openxmlformats.org/drawingml/2006/main">
              <a:ext uri="{FF2B5EF4-FFF2-40B4-BE49-F238E27FC236}">
                <a16:creationId xmlns:a16="http://schemas.microsoft.com/office/drawing/2014/main" id="{F00FDFFB-2264-49DF-9081-626215A8F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6665" y="3348469"/>
            <a:ext cx="2807497" cy="122285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350">
            <a:solidFill>
              <a:schemeClr val="bg1">
                <a:lumMod val="65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>
                <a:solidFill>
                  <a:schemeClr val="tx1"/>
                </a:solidFill>
                <a:latin typeface="나눔고딕"/>
                <a:ea typeface="나눔고딕"/>
                <a:cs typeface="나눔고딕"/>
              </a:rPr>
              <a:t>  </a:t>
            </a:r>
          </a:p>
        </p:txBody>
      </p:sp>
      <p:sp>
        <p:nvSpPr>
          <p:cNvPr id="35" name="Text Box 1078">
            <a:extLst xmlns:a="http://schemas.openxmlformats.org/drawingml/2006/main">
              <a:ext uri="{FF2B5EF4-FFF2-40B4-BE49-F238E27FC236}">
                <a16:creationId xmlns:a16="http://schemas.microsoft.com/office/drawing/2014/main" id="{702D5D0A-CE8A-41E3-B5FF-9B3172961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036" y="3391772"/>
            <a:ext cx="2779928" cy="11310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1pPr>
            <a:lvl2pPr marL="742950" indent="-28575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2pPr>
            <a:lvl3pPr marL="11430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3pPr>
            <a:lvl4pPr marL="16002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4pPr>
            <a:lvl5pPr marL="20574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9pPr>
          </a:lstStyle>
          <a:p xmlns:a="http://schemas.openxmlformats.org/drawingml/2006/main">
            <a:pPr>
              <a:spcBef>
                <a:spcPts val="600"/>
              </a:spcBef>
              <a:buFont typeface="Wingdings 3"/>
              <a:buChar char="}"/>
            </a:pPr>
            <a:r>
              <a:rPr sz="1050">
                <a:latin typeface="나눔고딕"/>
                <a:ea typeface="나눔고딕"/>
                <a:cs typeface="나눔고딕"/>
              </a:rPr>
              <a:t>랜드마크·크리에이터 일정</a:t>
            </a:r>
          </a:p>
          <a:p xmlns:a="http://schemas.openxmlformats.org/drawingml/2006/main">
            <a:pPr>
              <a:spcBef>
                <a:spcPts val="600"/>
              </a:spcBef>
              <a:buFont typeface="Wingdings 3"/>
              <a:buChar char="}"/>
            </a:pPr>
            <a:r>
              <a:rPr sz="1050">
                <a:ln w="11430">
                  <a:noFill/>
                </a:ln>
                <a:latin typeface="나눔고딕"/>
                <a:ea typeface="나눔고딕"/>
                <a:cs typeface="나눔고딕"/>
              </a:rPr>
              <a:t>검색·SNS 유입과 전환</a:t>
            </a:r>
          </a:p>
        </p:txBody>
      </p:sp>
      <p:sp>
        <p:nvSpPr>
          <p:cNvPr id="36" name="Text Box 1078">
            <a:extLst xmlns:a="http://schemas.openxmlformats.org/drawingml/2006/main">
              <a:ext uri="{FF2B5EF4-FFF2-40B4-BE49-F238E27FC236}">
                <a16:creationId xmlns:a16="http://schemas.microsoft.com/office/drawing/2014/main" id="{DEAE33C5-46D8-4BD7-BCCF-FA48AB3B0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0226" y="3391772"/>
            <a:ext cx="2892138" cy="11387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spcBef>
                <a:spcPts val="600"/>
              </a:spcBef>
              <a:buFont typeface="Wingdings 3"/>
              <a:buChar char="}"/>
              <a:defRPr sz="1050">
                <a:latin typeface="나눔고딕"/>
                <a:ea typeface="나눔고딕"/>
                <a:cs typeface="나눔고딕"/>
              </a:defRPr>
            </a:lvl1pPr>
            <a:lvl2pPr marL="742950" indent="-285750">
              <a:buNone/>
              <a:defRPr sz="1200">
                <a:latin typeface="굴림"/>
                <a:ea typeface="굴림"/>
                <a:cs typeface="굴림"/>
              </a:defRPr>
            </a:lvl2pPr>
            <a:lvl3pPr marL="1143000" indent="-228600">
              <a:buNone/>
              <a:defRPr sz="1200">
                <a:latin typeface="굴림"/>
                <a:ea typeface="굴림"/>
                <a:cs typeface="굴림"/>
              </a:defRPr>
            </a:lvl3pPr>
            <a:lvl4pPr marL="1600200" indent="-228600">
              <a:buNone/>
              <a:defRPr sz="1200">
                <a:latin typeface="굴림"/>
                <a:ea typeface="굴림"/>
                <a:cs typeface="굴림"/>
              </a:defRPr>
            </a:lvl4pPr>
            <a:lvl5pPr marL="2057400" indent="-228600">
              <a:buNone/>
              <a:defRPr sz="1200">
                <a:latin typeface="굴림"/>
                <a:ea typeface="굴림"/>
                <a:cs typeface="굴림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 sz="1200">
                <a:latin typeface="굴림"/>
                <a:ea typeface="굴림"/>
                <a:cs typeface="굴림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 sz="1200">
                <a:latin typeface="굴림"/>
                <a:ea typeface="굴림"/>
                <a:cs typeface="굴림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 sz="1200">
                <a:latin typeface="굴림"/>
                <a:ea typeface="굴림"/>
                <a:cs typeface="굴림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 sz="1200">
                <a:latin typeface="굴림"/>
                <a:ea typeface="굴림"/>
                <a:cs typeface="굴림"/>
              </a:defRPr>
            </a:lvl9pPr>
          </a:lstStyle>
          <a:p xmlns:a="http://schemas.openxmlformats.org/drawingml/2006/main">
            <a:r>
              <a:t>PMS 호텔·핵심 업종 상품</a:t>
            </a:r>
          </a:p>
          <a:p xmlns:a="http://schemas.openxmlformats.org/drawingml/2006/main">
            <a:r>
              <a:t>셀프 온보딩과 승인</a:t>
            </a:r>
          </a:p>
        </p:txBody>
      </p:sp>
      <p:sp>
        <p:nvSpPr>
          <p:cNvPr id="37" name="Text Box 1078">
            <a:extLst xmlns:a="http://schemas.openxmlformats.org/drawingml/2006/main">
              <a:ext uri="{FF2B5EF4-FFF2-40B4-BE49-F238E27FC236}">
                <a16:creationId xmlns:a16="http://schemas.microsoft.com/office/drawing/2014/main" id="{E49E58D5-12D6-4D3B-83F1-0C24B1DC9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0265" y="3378407"/>
            <a:ext cx="2787943" cy="10926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1pPr>
            <a:lvl2pPr marL="742950" indent="-28575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2pPr>
            <a:lvl3pPr marL="11430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3pPr>
            <a:lvl4pPr marL="16002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4pPr>
            <a:lvl5pPr marL="20574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9pPr>
          </a:lstStyle>
          <a:p xmlns:a="http://schemas.openxmlformats.org/drawingml/2006/main">
            <a:pPr>
              <a:spcBef>
                <a:spcPts val="500"/>
              </a:spcBef>
              <a:buFont typeface="Wingdings 3"/>
              <a:buChar char="}"/>
            </a:pPr>
            <a:r>
              <a:rPr sz="1050">
                <a:latin typeface="나눔고딕"/>
                <a:ea typeface="나눔고딕"/>
                <a:cs typeface="나눔고딕"/>
              </a:rPr>
              <a:t>관광청·항공·카드·DMC</a:t>
            </a:r>
          </a:p>
          <a:p xmlns:a="http://schemas.openxmlformats.org/drawingml/2006/main">
            <a:pPr>
              <a:spcBef>
                <a:spcPts val="500"/>
              </a:spcBef>
              <a:buFont typeface="Wingdings 3"/>
              <a:buChar char="}"/>
            </a:pPr>
            <a:r>
              <a:rPr sz="1050">
                <a:ln w="11430">
                  <a:noFill/>
                </a:ln>
                <a:latin typeface="나눔고딕"/>
                <a:ea typeface="나눔고딕"/>
                <a:cs typeface="나눔고딕"/>
              </a:rPr>
              <a:t>공동 캠페인·번들</a:t>
            </a:r>
          </a:p>
        </p:txBody>
      </p:sp>
      <p:sp>
        <p:nvSpPr>
          <p:cNvPr id="38" name="직사각형 37">
            <a:extLst xmlns:a="http://schemas.openxmlformats.org/drawingml/2006/main">
              <a:ext uri="{FF2B5EF4-FFF2-40B4-BE49-F238E27FC236}">
                <a16:creationId xmlns:a16="http://schemas.microsoft.com/office/drawing/2014/main" id="{B1518440-D941-4F63-9C43-FF2511259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087" y="2865869"/>
            <a:ext cx="2811446" cy="48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9EF1"/>
          </a:solidFill>
          <a:ln xmlns:a="http://schemas.openxmlformats.org/drawingml/2006/main" w="9525">
            <a:noFill/>
          </a:ln>
        </p:spPr>
        <p:txBody>
          <a:bodyPr xmlns:a="http://schemas.openxmlformats.org/drawingml/2006/main" wrap="none" lIns="0" rIns="0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spcBef>
                <a:spcPts val="600"/>
              </a:spcBef>
              <a:buNone/>
            </a:pPr>
            <a:r>
              <a:rPr sz="1300" b="1">
                <a:ln>
                  <a:solidFill>
                    <a:srgbClr val="CCECFF">
                      <a:alpha val="0"/>
                    </a:srgbClr>
                  </a:solidFill>
                </a:ln>
                <a:solidFill>
                  <a:schemeClr val="bg1"/>
                </a:solidFill>
                <a:latin typeface="나눔고딕"/>
                <a:ea typeface="나눔고딕"/>
                <a:cs typeface="나눔고딕"/>
              </a:rPr>
              <a:t>고객 획득</a:t>
            </a:r>
          </a:p>
        </p:txBody>
      </p:sp>
      <p:sp>
        <p:nvSpPr>
          <p:cNvPr id="39" name="직사각형 38">
            <a:extLst xmlns:a="http://schemas.openxmlformats.org/drawingml/2006/main">
              <a:ext uri="{FF2B5EF4-FFF2-40B4-BE49-F238E27FC236}">
                <a16:creationId xmlns:a16="http://schemas.microsoft.com/office/drawing/2014/main" id="{1E9B8607-6B74-409B-9702-B4D862CD1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6665" y="2865869"/>
            <a:ext cx="2807497" cy="48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9EF1"/>
          </a:solidFill>
          <a:ln xmlns:a="http://schemas.openxmlformats.org/drawingml/2006/main" w="9525">
            <a:noFill/>
          </a:ln>
        </p:spPr>
        <p:txBody>
          <a:bodyPr xmlns:a="http://schemas.openxmlformats.org/drawingml/2006/main" wrap="none" lIns="0" r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1">
                <a:ln>
                  <a:solidFill>
                    <a:srgbClr val="CCECFF">
                      <a:alpha val="0"/>
                    </a:srgbClr>
                  </a:solidFill>
                </a:ln>
                <a:solidFill>
                  <a:schemeClr val="bg1"/>
                </a:solidFill>
                <a:latin typeface="나눔고딕"/>
                <a:ea typeface="나눔고딕"/>
                <a:cs typeface="나눔고딕"/>
              </a:rPr>
              <a:t>공급 획득</a:t>
            </a:r>
          </a:p>
        </p:txBody>
      </p:sp>
      <p:sp>
        <p:nvSpPr>
          <p:cNvPr id="40" name="직사각형 39">
            <a:extLst xmlns:a="http://schemas.openxmlformats.org/drawingml/2006/main">
              <a:ext uri="{FF2B5EF4-FFF2-40B4-BE49-F238E27FC236}">
                <a16:creationId xmlns:a16="http://schemas.microsoft.com/office/drawing/2014/main" id="{6BDD85B1-23E7-49B9-8DEB-FCF2ACF69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6704" y="2852504"/>
            <a:ext cx="2807497" cy="48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9EF1"/>
          </a:solidFill>
          <a:ln xmlns:a="http://schemas.openxmlformats.org/drawingml/2006/main" w="9525">
            <a:noFill/>
          </a:ln>
        </p:spPr>
        <p:txBody>
          <a:bodyPr xmlns:a="http://schemas.openxmlformats.org/drawingml/2006/main" wrap="none" lIns="0" rIns="0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spcBef>
                <a:spcPts val="600"/>
              </a:spcBef>
              <a:buNone/>
            </a:pPr>
            <a:r>
              <a:rPr sz="1300" b="1">
                <a:ln>
                  <a:solidFill>
                    <a:srgbClr val="CCECFF">
                      <a:alpha val="0"/>
                    </a:srgbClr>
                  </a:solidFill>
                </a:ln>
                <a:solidFill>
                  <a:schemeClr val="bg1"/>
                </a:solidFill>
                <a:latin typeface="나눔고딕"/>
                <a:ea typeface="나눔고딕"/>
                <a:cs typeface="나눔고딕"/>
              </a:rPr>
              <a:t>파트너십</a:t>
            </a:r>
          </a:p>
        </p:txBody>
      </p:sp>
      <p:sp>
        <p:nvSpPr>
          <p:cNvPr id="30" name="AutoShape 1073">
            <a:extLst xmlns:a="http://schemas.openxmlformats.org/drawingml/2006/main">
              <a:ext uri="{FF2B5EF4-FFF2-40B4-BE49-F238E27FC236}">
                <a16:creationId xmlns:a16="http://schemas.microsoft.com/office/drawing/2014/main" id="{7AE85CCB-A499-464E-8F37-5A3EB5D68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087" y="6102821"/>
            <a:ext cx="8599625" cy="330307"/>
          </a:xfrm>
          <a:prstGeom xmlns:a="http://schemas.openxmlformats.org/drawingml/2006/main" prst="roundRect">
            <a:avLst>
              <a:gd name="adj" fmla="val 12278"/>
            </a:avLst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46800" rIns="0" bIns="46800" anchor="ctr"/>
          <a:lstStyle xmlns:a="http://schemas.openxmlformats.org/drawingml/2006/main">
            <a:lvl1pPr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1pPr>
            <a:lvl2pPr marL="742950" indent="-28575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2pPr>
            <a:lvl3pPr marL="11430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3pPr>
            <a:lvl4pPr marL="16002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4pPr>
            <a:lvl5pPr marL="20574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9pPr>
          </a:lstStyle>
          <a:p xmlns:a="http://schemas.openxmlformats.org/drawingml/2006/main">
            <a:pPr>
              <a:buClr>
                <a:schemeClr val="accent2"/>
              </a:buClr>
              <a:buNone/>
            </a:pPr>
            <a:r>
              <a:rPr sz="1000">
                <a:latin typeface="나눔고딕"/>
                <a:ea typeface="나눔고딕"/>
                <a:cs typeface="나눔고딕"/>
              </a:rPr>
              <a:t>경쟁 우위는 단일 최저가가 아니라 콘텐츠, 일정, 다업종 거래, 공급 운영의 연결에 있습니다.</a:t>
            </a:r>
          </a:p>
        </p:txBody>
      </p:sp>
      <p:sp>
        <p:nvSpPr>
          <p:cNvPr id="2" name="슬라이드 번호 개체 틀 1">
            <a:extLst xmlns:a="http://schemas.openxmlformats.org/drawingml/2006/main">
              <a:ext uri="{FF2B5EF4-FFF2-40B4-BE49-F238E27FC236}">
                <a16:creationId xmlns:a16="http://schemas.microsoft.com/office/drawing/2014/main" id="{DDFC9716-A9B0-4549-A5B9-FE0891C55E6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44E025A-983C-6D44-79C6-4612AACD43FC}" type="slidenum">
              <a:rPr>
                <a:latin typeface="나눔고딕"/>
                <a:ea typeface="나눔고딕"/>
                <a:cs typeface="나눔고딕"/>
              </a:rPr>
              <a:t>20</a:t>
            </a:fld>
          </a:p>
        </p:txBody>
      </p:sp>
    </p:spTree>
    <p:extLst>
      <p:ext uri="{BB962C8B-B14F-4D97-AF65-F5344CB8AC3E}">
        <p14:creationId xmlns:p14="http://schemas.microsoft.com/office/powerpoint/2010/main" val="2112425122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제목 71">
            <a:extLst xmlns:a="http://schemas.openxmlformats.org/drawingml/2006/main">
              <a:ext uri="{FF2B5EF4-FFF2-40B4-BE49-F238E27FC236}">
                <a16:creationId xmlns:a16="http://schemas.microsoft.com/office/drawing/2014/main" id="{12D639E7-4AB0-408A-9CA1-DBA13EB12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487" y="71414"/>
            <a:ext cx="6768753" cy="57150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6800" rIns="91440" bIns="46800" anchor="b">
            <a:normAutofit fontScale="100000"/>
          </a:bodyPr>
          <a:lstStyle xmlns:a="http://schemas.openxmlformats.org/drawingml/2006/main">
            <a:lvl1pPr>
              <a:spcBef>
                <a:spcPct val="0"/>
              </a:spcBef>
              <a:buNone/>
              <a:defRPr b="1">
                <a:solidFill>
                  <a:schemeClr val="bg1"/>
                </a:solidFill>
                <a:latin typeface="나눔고딕"/>
                <a:ea typeface="나눔고딕"/>
                <a:cs typeface="나눔고딕"/>
              </a:defRPr>
            </a:lvl1pPr>
          </a:lstStyle>
          <a:p xmlns:a="http://schemas.openxmlformats.org/drawingml/2006/main">
            <a:r>
              <a:t>11. 단계별 출시 로드맵</a:t>
            </a:r>
          </a:p>
        </p:txBody>
      </p:sp>
      <p:sp>
        <p:nvSpPr>
          <p:cNvPr id="88" name="TextBox 87">
            <a:extLst xmlns:a="http://schemas.openxmlformats.org/drawingml/2006/main">
              <a:ext uri="{FF2B5EF4-FFF2-40B4-BE49-F238E27FC236}">
                <a16:creationId xmlns:a16="http://schemas.microsoft.com/office/drawing/2014/main" id="{D9C31D69-297C-4A9A-8918-0EF5D404F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512" y="908720"/>
            <a:ext cx="9217024" cy="86946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285750" indent="-285750">
              <a:lnSpc>
                <a:spcPct val="120000"/>
              </a:lnSpc>
              <a:buFont typeface="Wingdings"/>
              <a:buChar char="§"/>
            </a:pPr>
            <a:r>
              <a:rPr sz="1300" b="1">
                <a:latin typeface="나눔고딕"/>
                <a:ea typeface="나눔고딕"/>
                <a:cs typeface="나눔고딕"/>
              </a:rPr>
              <a:t>고객 경험과 공급 계약을 먼저 검증한 뒤, 실거래와 정산을 연결하고 도시·공급을 확장합니다.</a:t>
            </a:r>
          </a:p>
        </p:txBody>
      </p:sp>
      <p:sp>
        <p:nvSpPr>
          <p:cNvPr id="25" name="직사각형 24">
            <a:extLst xmlns:a="http://schemas.openxmlformats.org/drawingml/2006/main">
              <a:ext uri="{FF2B5EF4-FFF2-40B4-BE49-F238E27FC236}">
                <a16:creationId xmlns:a16="http://schemas.microsoft.com/office/drawing/2014/main" id="{C23FFE76-8DAA-4E4E-9220-09A488C1E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287" y="5549337"/>
            <a:ext cx="8674863" cy="75998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EC"/>
          </a:solidFill>
          <a:ln xmlns:a="http://schemas.openxmlformats.org/drawingml/2006/main" w="6350">
            <a:solidFill>
              <a:schemeClr val="bg1">
                <a:lumMod val="65000"/>
              </a:schemeClr>
            </a:solidFill>
            <a:prstDash val="dash"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직사각형 26">
            <a:extLst xmlns:a="http://schemas.openxmlformats.org/drawingml/2006/main">
              <a:ext uri="{FF2B5EF4-FFF2-40B4-BE49-F238E27FC236}">
                <a16:creationId xmlns:a16="http://schemas.microsoft.com/office/drawing/2014/main" id="{C474BD65-3329-43F8-A52C-70FCE1E79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289" y="5220664"/>
            <a:ext cx="1431777" cy="29776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96D1"/>
          </a:solidFill>
          <a:ln xmlns:a="http://schemas.openxmlformats.org/drawingml/2006/main" w="6350">
            <a:noFill/>
            <a:prstDash val="solid"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chemeClr val="bg1"/>
                </a:solidFill>
                <a:latin typeface="나눔고딕"/>
                <a:ea typeface="나눔고딕"/>
                <a:cs typeface="나눔고딕"/>
              </a:rPr>
              <a:t>단계별 핵심 산출물</a:t>
            </a:r>
          </a:p>
        </p:txBody>
      </p:sp>
      <p:sp>
        <p:nvSpPr>
          <p:cNvPr id="28" name="직사각형 27">
            <a:extLst xmlns:a="http://schemas.openxmlformats.org/drawingml/2006/main">
              <a:ext uri="{FF2B5EF4-FFF2-40B4-BE49-F238E27FC236}">
                <a16:creationId xmlns:a16="http://schemas.microsoft.com/office/drawing/2014/main" id="{9C655343-6782-44FD-AC27-64CF94B4D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639" y="5634889"/>
            <a:ext cx="1322116" cy="2602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350">
            <a:solidFill>
              <a:schemeClr val="bg1">
                <a:lumMod val="85000"/>
              </a:schemeClr>
            </a:solidFill>
            <a:prstDash val="solid"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나눔고딕"/>
                <a:ea typeface="나눔고딕"/>
                <a:cs typeface="나눔고딕"/>
              </a:rPr>
              <a:t>Foundation</a:t>
            </a:r>
          </a:p>
        </p:txBody>
      </p:sp>
      <p:sp>
        <p:nvSpPr>
          <p:cNvPr id="29" name="직사각형 28">
            <a:extLst xmlns:a="http://schemas.openxmlformats.org/drawingml/2006/main">
              <a:ext uri="{FF2B5EF4-FFF2-40B4-BE49-F238E27FC236}">
                <a16:creationId xmlns:a16="http://schemas.microsoft.com/office/drawing/2014/main" id="{4E733BBB-D862-43E1-97A4-FD3B66658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56" y="5967079"/>
            <a:ext cx="1322116" cy="2602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350">
            <a:solidFill>
              <a:schemeClr val="bg1">
                <a:lumMod val="85000"/>
              </a:schemeClr>
            </a:solidFill>
            <a:prstDash val="solid"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나눔고딕"/>
                <a:ea typeface="나눔고딕"/>
                <a:cs typeface="나눔고딕"/>
              </a:rPr>
              <a:t>Hotel Mock</a:t>
            </a:r>
          </a:p>
        </p:txBody>
      </p:sp>
      <p:sp>
        <p:nvSpPr>
          <p:cNvPr id="30" name="직사각형 29">
            <a:extLst xmlns:a="http://schemas.openxmlformats.org/drawingml/2006/main">
              <a:ext uri="{FF2B5EF4-FFF2-40B4-BE49-F238E27FC236}">
                <a16:creationId xmlns:a16="http://schemas.microsoft.com/office/drawing/2014/main" id="{BD2B8EFC-53BF-4C4F-90DA-95D217AF6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9763" y="5967079"/>
            <a:ext cx="1322116" cy="2602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350">
            <a:solidFill>
              <a:schemeClr val="bg1">
                <a:lumMod val="85000"/>
              </a:schemeClr>
            </a:solidFill>
            <a:prstDash val="solid"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나눔고딕"/>
                <a:ea typeface="나눔고딕"/>
                <a:cs typeface="나눔고딕"/>
              </a:rPr>
              <a:t>Partner/Admin</a:t>
            </a:r>
          </a:p>
        </p:txBody>
      </p:sp>
      <p:sp>
        <p:nvSpPr>
          <p:cNvPr id="34" name="직선 연결선 33">
            <a:extLst xmlns:a="http://schemas.openxmlformats.org/drawingml/2006/main">
              <a:ext uri="{FF2B5EF4-FFF2-40B4-BE49-F238E27FC236}">
                <a16:creationId xmlns:a16="http://schemas.microsoft.com/office/drawing/2014/main" id="{BC812D4D-211A-43F9-92D1-C52E18F76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189" y="3624871"/>
            <a:ext cx="0" cy="2667589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>
                <a:lumMod val="65000"/>
              </a:schemeClr>
            </a:solidFill>
            <a:prstDash val="dash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2" name="직사각형 51">
            <a:extLst xmlns:a="http://schemas.openxmlformats.org/drawingml/2006/main">
              <a:ext uri="{FF2B5EF4-FFF2-40B4-BE49-F238E27FC236}">
                <a16:creationId xmlns:a16="http://schemas.microsoft.com/office/drawing/2014/main" id="{58188420-D10B-445C-A5D2-676A2D504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6704" y="5641727"/>
            <a:ext cx="1322116" cy="2602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350">
            <a:solidFill>
              <a:schemeClr val="bg1">
                <a:lumMod val="85000"/>
              </a:schemeClr>
            </a:solidFill>
            <a:prstDash val="solid"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나눔고딕"/>
                <a:ea typeface="나눔고딕"/>
                <a:cs typeface="나눔고딕"/>
              </a:rPr>
              <a:t>City Pilot</a:t>
            </a:r>
          </a:p>
        </p:txBody>
      </p:sp>
      <p:sp>
        <p:nvSpPr>
          <p:cNvPr id="53" name="직사각형 52">
            <a:extLst xmlns:a="http://schemas.openxmlformats.org/drawingml/2006/main">
              <a:ext uri="{FF2B5EF4-FFF2-40B4-BE49-F238E27FC236}">
                <a16:creationId xmlns:a16="http://schemas.microsoft.com/office/drawing/2014/main" id="{CA745B72-BFBA-4810-BC3A-E1D88ABB3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8321" y="5973917"/>
            <a:ext cx="1322116" cy="2602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350">
            <a:solidFill>
              <a:schemeClr val="bg1">
                <a:lumMod val="85000"/>
              </a:schemeClr>
            </a:solidFill>
            <a:prstDash val="solid"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나눔고딕"/>
                <a:ea typeface="나눔고딕"/>
                <a:cs typeface="나눔고딕"/>
              </a:rPr>
              <a:t>PMS Channel</a:t>
            </a:r>
          </a:p>
        </p:txBody>
      </p:sp>
      <p:sp>
        <p:nvSpPr>
          <p:cNvPr id="54" name="직사각형 53">
            <a:extLst xmlns:a="http://schemas.openxmlformats.org/drawingml/2006/main">
              <a:ext uri="{FF2B5EF4-FFF2-40B4-BE49-F238E27FC236}">
                <a16:creationId xmlns:a16="http://schemas.microsoft.com/office/drawing/2014/main" id="{ADE63B59-49E4-4FBE-BE7F-37964A9FA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0828" y="5973917"/>
            <a:ext cx="1322116" cy="2602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350">
            <a:solidFill>
              <a:schemeClr val="bg1">
                <a:lumMod val="85000"/>
              </a:schemeClr>
            </a:solidFill>
            <a:prstDash val="solid"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나눔고딕"/>
                <a:ea typeface="나눔고딕"/>
                <a:cs typeface="나눔고딕"/>
              </a:rPr>
              <a:t>Settlement</a:t>
            </a:r>
          </a:p>
        </p:txBody>
      </p:sp>
      <p:sp>
        <p:nvSpPr>
          <p:cNvPr id="55" name="직사각형 54">
            <a:extLst xmlns:a="http://schemas.openxmlformats.org/drawingml/2006/main">
              <a:ext uri="{FF2B5EF4-FFF2-40B4-BE49-F238E27FC236}">
                <a16:creationId xmlns:a16="http://schemas.microsoft.com/office/drawing/2014/main" id="{39B331DF-04BD-4774-852B-67CA34185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2509" y="5641727"/>
            <a:ext cx="1322116" cy="2602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350">
            <a:solidFill>
              <a:schemeClr val="bg1">
                <a:lumMod val="85000"/>
              </a:schemeClr>
            </a:solidFill>
            <a:prstDash val="solid"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나눔고딕"/>
                <a:ea typeface="나눔고딕"/>
                <a:cs typeface="나눔고딕"/>
              </a:rPr>
              <a:t>Commerce</a:t>
            </a:r>
          </a:p>
        </p:txBody>
      </p:sp>
      <p:sp>
        <p:nvSpPr>
          <p:cNvPr id="56" name="직사각형 55">
            <a:extLst xmlns:a="http://schemas.openxmlformats.org/drawingml/2006/main">
              <a:ext uri="{FF2B5EF4-FFF2-40B4-BE49-F238E27FC236}">
                <a16:creationId xmlns:a16="http://schemas.microsoft.com/office/drawing/2014/main" id="{ECD62E14-CB90-4E9E-8086-BC2CBD6B7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9762" y="5641727"/>
            <a:ext cx="1322116" cy="2602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350">
            <a:solidFill>
              <a:schemeClr val="bg1">
                <a:lumMod val="85000"/>
              </a:schemeClr>
            </a:solidFill>
            <a:prstDash val="solid"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나눔고딕"/>
                <a:ea typeface="나눔고딕"/>
                <a:cs typeface="나눔고딕"/>
              </a:rPr>
              <a:t>AI/RAG</a:t>
            </a:r>
          </a:p>
        </p:txBody>
      </p:sp>
      <p:sp>
        <p:nvSpPr>
          <p:cNvPr id="57" name="직사각형 56">
            <a:extLst xmlns:a="http://schemas.openxmlformats.org/drawingml/2006/main">
              <a:ext uri="{FF2B5EF4-FFF2-40B4-BE49-F238E27FC236}">
                <a16:creationId xmlns:a16="http://schemas.microsoft.com/office/drawing/2014/main" id="{5C51841A-D8E3-4FD3-904D-48425437A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173" y="5641727"/>
            <a:ext cx="2511759" cy="2602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350">
            <a:solidFill>
              <a:schemeClr val="bg1">
                <a:lumMod val="85000"/>
              </a:schemeClr>
            </a:solidFill>
            <a:prstDash val="solid"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나눔고딕"/>
                <a:ea typeface="나눔고딕"/>
                <a:cs typeface="나눔고딕"/>
              </a:rPr>
              <a:t>Adapters</a:t>
            </a:r>
          </a:p>
        </p:txBody>
      </p:sp>
      <p:sp>
        <p:nvSpPr>
          <p:cNvPr id="58" name="직사각형 57">
            <a:extLst xmlns:a="http://schemas.openxmlformats.org/drawingml/2006/main">
              <a:ext uri="{FF2B5EF4-FFF2-40B4-BE49-F238E27FC236}">
                <a16:creationId xmlns:a16="http://schemas.microsoft.com/office/drawing/2014/main" id="{8416654F-5668-4CB9-9C1E-002A9AE18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5791" y="5973917"/>
            <a:ext cx="1224000" cy="2602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350">
            <a:solidFill>
              <a:schemeClr val="bg1">
                <a:lumMod val="85000"/>
              </a:schemeClr>
            </a:solidFill>
            <a:prstDash val="solid"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나눔고딕"/>
                <a:ea typeface="나눔고딕"/>
                <a:cs typeface="나눔고딕"/>
              </a:rPr>
              <a:t>Multi-city</a:t>
            </a:r>
          </a:p>
        </p:txBody>
      </p:sp>
      <p:sp>
        <p:nvSpPr>
          <p:cNvPr id="59" name="직사각형 58">
            <a:extLst xmlns:a="http://schemas.openxmlformats.org/drawingml/2006/main">
              <a:ext uri="{FF2B5EF4-FFF2-40B4-BE49-F238E27FC236}">
                <a16:creationId xmlns:a16="http://schemas.microsoft.com/office/drawing/2014/main" id="{C429D717-6762-4DED-993D-5AF57E586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1935" y="5973917"/>
            <a:ext cx="1224000" cy="2602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350">
            <a:solidFill>
              <a:schemeClr val="bg1">
                <a:lumMod val="85000"/>
              </a:schemeClr>
            </a:solidFill>
            <a:prstDash val="solid"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나눔고딕"/>
                <a:ea typeface="나눔고딕"/>
                <a:cs typeface="나눔고딕"/>
              </a:rPr>
              <a:t>B2B</a:t>
            </a:r>
          </a:p>
        </p:txBody>
      </p:sp>
      <p:sp>
        <p:nvSpPr>
          <p:cNvPr id="51" name="모서리가 둥근 직사각형 93">
            <a:extLst xmlns:a="http://schemas.openxmlformats.org/drawingml/2006/main">
              <a:ext uri="{FF2B5EF4-FFF2-40B4-BE49-F238E27FC236}">
                <a16:creationId xmlns:a16="http://schemas.microsoft.com/office/drawing/2014/main" id="{C53CC221-4F15-4BF7-9C91-60ED691A9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492249" y="2556841"/>
            <a:ext cx="3067768" cy="865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3B8">
              <a:alpha val="3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lIns="36000" tIns="36000" rIns="36000" bIns="36000" anchor="ctr"/>
          <a:lstStyle xmlns:a="http://schemas.openxmlformats.org/drawingml/2006/main">
            <a:lvl1pPr defTabSz="1092200">
              <a:buNone/>
              <a:tabLst>
                <a:tab pos="814388" algn="l"/>
              </a:tabLst>
              <a:defRPr sz="21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1pPr>
            <a:lvl2pPr defTabSz="1092200">
              <a:buNone/>
              <a:tabLst>
                <a:tab pos="814388" algn="l"/>
              </a:tabLst>
              <a:defRPr sz="21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2pPr>
            <a:lvl3pPr defTabSz="1092200">
              <a:buNone/>
              <a:tabLst>
                <a:tab pos="814388" algn="l"/>
              </a:tabLst>
              <a:defRPr sz="21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3pPr>
            <a:lvl4pPr defTabSz="1092200">
              <a:buNone/>
              <a:tabLst>
                <a:tab pos="814388" algn="l"/>
              </a:tabLst>
              <a:defRPr sz="21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4pPr>
            <a:lvl5pPr defTabSz="1092200">
              <a:buNone/>
              <a:tabLst>
                <a:tab pos="814388" algn="l"/>
              </a:tabLst>
              <a:defRPr sz="21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5pPr>
            <a:lvl6pPr marL="2543175" indent="-257175" defTabSz="1092200">
              <a:spcBef>
                <a:spcPct val="0"/>
              </a:spcBef>
              <a:spcAft>
                <a:spcPct val="0"/>
              </a:spcAft>
              <a:buNone/>
              <a:tabLst>
                <a:tab pos="814388" algn="l"/>
              </a:tabLst>
              <a:defRPr sz="21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6pPr>
            <a:lvl7pPr marL="3000375" indent="-257175" defTabSz="1092200">
              <a:spcBef>
                <a:spcPct val="0"/>
              </a:spcBef>
              <a:spcAft>
                <a:spcPct val="0"/>
              </a:spcAft>
              <a:buNone/>
              <a:tabLst>
                <a:tab pos="814388" algn="l"/>
              </a:tabLst>
              <a:defRPr sz="21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7pPr>
            <a:lvl8pPr marL="3457575" indent="-257175" defTabSz="1092200">
              <a:spcBef>
                <a:spcPct val="0"/>
              </a:spcBef>
              <a:spcAft>
                <a:spcPct val="0"/>
              </a:spcAft>
              <a:buNone/>
              <a:tabLst>
                <a:tab pos="814388" algn="l"/>
              </a:tabLst>
              <a:defRPr sz="21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8pPr>
            <a:lvl9pPr marL="3914775" indent="-257175" defTabSz="1092200">
              <a:spcBef>
                <a:spcPct val="0"/>
              </a:spcBef>
              <a:spcAft>
                <a:spcPct val="0"/>
              </a:spcAft>
              <a:buNone/>
              <a:tabLst>
                <a:tab pos="814388" algn="l"/>
              </a:tabLst>
              <a:defRPr sz="21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9pPr>
          </a:lstStyle>
          <a:p xmlns:a="http://schemas.openxmlformats.org/drawingml/2006/main">
            <a:pPr algn="ctr">
              <a:lnSpc>
                <a:spcPts val="1000"/>
              </a:lnSpc>
              <a:buClr>
                <a:srgbClr val="3271AA"/>
              </a:buClr>
              <a:buSzPct val="140000"/>
              <a:buNone/>
            </a:pPr>
          </a:p>
        </p:txBody>
      </p:sp>
      <p:sp>
        <p:nvSpPr>
          <p:cNvPr id="60" name="모서리가 둥근 직사각형 93">
            <a:extLst xmlns:a="http://schemas.openxmlformats.org/drawingml/2006/main">
              <a:ext uri="{FF2B5EF4-FFF2-40B4-BE49-F238E27FC236}">
                <a16:creationId xmlns:a16="http://schemas.microsoft.com/office/drawing/2014/main" id="{B131DA18-6111-4933-9149-7530C19A4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3560014" y="2291606"/>
            <a:ext cx="2976709" cy="865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3B8">
              <a:alpha val="5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lIns="36000" tIns="36000" rIns="36000" bIns="36000" anchor="ctr"/>
          <a:lstStyle xmlns:a="http://schemas.openxmlformats.org/drawingml/2006/main"/>
          <a:p xmlns:a="http://schemas.openxmlformats.org/drawingml/2006/main">
            <a:pPr algn="ctr" defTabSz="1092200">
              <a:lnSpc>
                <a:spcPts val="1000"/>
              </a:lnSpc>
              <a:buClr>
                <a:srgbClr val="3271AA"/>
              </a:buClr>
              <a:buSzPct val="140000"/>
              <a:buNone/>
              <a:tabLst>
                <a:tab pos="814388" algn="l"/>
              </a:tabLst>
            </a:pPr>
          </a:p>
        </p:txBody>
      </p:sp>
      <p:sp>
        <p:nvSpPr>
          <p:cNvPr id="61" name="화살표: 오른쪽 60">
            <a:extLst xmlns:a="http://schemas.openxmlformats.org/drawingml/2006/main">
              <a:ext uri="{FF2B5EF4-FFF2-40B4-BE49-F238E27FC236}">
                <a16:creationId xmlns:a16="http://schemas.microsoft.com/office/drawing/2014/main" id="{D11E023B-AEBC-4CD8-999D-E5776A443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21869" y="2007666"/>
            <a:ext cx="3005287" cy="865962"/>
          </a:xfrm>
          <a:prstGeom xmlns:a="http://schemas.openxmlformats.org/drawingml/2006/main" prst="rightArrow">
            <a:avLst>
              <a:gd name="adj1" fmla="val 100000"/>
              <a:gd name="adj2" fmla="val 35827"/>
            </a:avLst>
          </a:prstGeom>
          <a:solidFill xmlns:a="http://schemas.openxmlformats.org/drawingml/2006/main">
            <a:srgbClr val="0053B8"/>
          </a:solidFill>
          <a:ln xmlns:a="http://schemas.openxmlformats.org/drawingml/2006/main">
            <a:noFill/>
          </a:ln>
        </p:spPr>
        <p:txBody>
          <a:bodyPr xmlns:a="http://schemas.openxmlformats.org/drawingml/2006/main" lIns="36000" tIns="36000" rIns="36000" bIns="36000" anchor="ctr"/>
          <a:lstStyle xmlns:a="http://schemas.openxmlformats.org/drawingml/2006/main"/>
          <a:p xmlns:a="http://schemas.openxmlformats.org/drawingml/2006/main">
            <a:pPr algn="ctr" defTabSz="1092200">
              <a:lnSpc>
                <a:spcPts val="1000"/>
              </a:lnSpc>
              <a:buClr>
                <a:srgbClr val="3271AA"/>
              </a:buClr>
              <a:buSzPct val="140000"/>
              <a:buNone/>
              <a:tabLst>
                <a:tab pos="814388" algn="l"/>
              </a:tabLst>
            </a:pPr>
          </a:p>
        </p:txBody>
      </p:sp>
      <p:sp>
        <p:nvSpPr>
          <p:cNvPr id="63" name="직각 삼각형 62">
            <a:extLst xmlns:a="http://schemas.openxmlformats.org/drawingml/2006/main">
              <a:ext uri="{FF2B5EF4-FFF2-40B4-BE49-F238E27FC236}">
                <a16:creationId xmlns:a16="http://schemas.microsoft.com/office/drawing/2014/main" id="{A7C8FD70-E779-4CCF-ADCA-C5DC333A7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 flipH="0" flipV="0">
            <a:off x="3588180" y="3124966"/>
            <a:ext cx="273330" cy="32854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0053B8">
              <a:alpha val="3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lIns="36000" tIns="36000" rIns="36000" bIns="36000" anchor="ctr"/>
          <a:lstStyle xmlns:a="http://schemas.openxmlformats.org/drawingml/2006/main"/>
          <a:p xmlns:a="http://schemas.openxmlformats.org/drawingml/2006/main">
            <a:pPr algn="ctr" defTabSz="1092200">
              <a:lnSpc>
                <a:spcPts val="1000"/>
              </a:lnSpc>
              <a:buClr>
                <a:srgbClr val="3271AA"/>
              </a:buClr>
              <a:buSzPct val="140000"/>
              <a:buNone/>
              <a:tabLst>
                <a:tab pos="814388" algn="l"/>
              </a:tabLst>
            </a:pPr>
          </a:p>
        </p:txBody>
      </p:sp>
      <p:sp>
        <p:nvSpPr>
          <p:cNvPr id="64" name="직각 삼각형 63">
            <a:extLst xmlns:a="http://schemas.openxmlformats.org/drawingml/2006/main">
              <a:ext uri="{FF2B5EF4-FFF2-40B4-BE49-F238E27FC236}">
                <a16:creationId xmlns:a16="http://schemas.microsoft.com/office/drawing/2014/main" id="{C432747F-CF82-4BEC-B2F3-5DFD198C6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 flipH="0" flipV="0">
            <a:off x="6559557" y="2850417"/>
            <a:ext cx="273330" cy="32854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0053B8">
              <a:alpha val="5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lIns="36000" tIns="36000" rIns="36000" bIns="36000" anchor="ctr"/>
          <a:lstStyle xmlns:a="http://schemas.openxmlformats.org/drawingml/2006/main"/>
          <a:p xmlns:a="http://schemas.openxmlformats.org/drawingml/2006/main">
            <a:pPr algn="ctr" defTabSz="1092200">
              <a:lnSpc>
                <a:spcPts val="1000"/>
              </a:lnSpc>
              <a:buClr>
                <a:srgbClr val="3271AA"/>
              </a:buClr>
              <a:buSzPct val="140000"/>
              <a:buNone/>
              <a:tabLst>
                <a:tab pos="814388" algn="l"/>
              </a:tabLst>
            </a:pPr>
          </a:p>
        </p:txBody>
      </p:sp>
      <p:sp>
        <p:nvSpPr>
          <p:cNvPr id="65" name="직각 삼각형 64">
            <a:extLst xmlns:a="http://schemas.openxmlformats.org/drawingml/2006/main">
              <a:ext uri="{FF2B5EF4-FFF2-40B4-BE49-F238E27FC236}">
                <a16:creationId xmlns:a16="http://schemas.microsoft.com/office/drawing/2014/main" id="{9A027049-224A-4759-B496-5CA0CA4A9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0" flipV="0">
            <a:off x="492249" y="3422976"/>
            <a:ext cx="330527" cy="209653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chemeClr val="bg1">
              <a:lumMod val="75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lIns="36000" tIns="36000" rIns="36000" bIns="36000" anchor="ctr"/>
          <a:lstStyle xmlns:a="http://schemas.openxmlformats.org/drawingml/2006/main"/>
          <a:p xmlns:a="http://schemas.openxmlformats.org/drawingml/2006/main">
            <a:pPr algn="ctr" defTabSz="1092200">
              <a:lnSpc>
                <a:spcPts val="1000"/>
              </a:lnSpc>
              <a:buClr>
                <a:srgbClr val="3271AA"/>
              </a:buClr>
              <a:buSzPct val="140000"/>
              <a:buNone/>
              <a:tabLst>
                <a:tab pos="814388" algn="l"/>
              </a:tabLst>
            </a:pPr>
          </a:p>
        </p:txBody>
      </p:sp>
      <p:sp>
        <p:nvSpPr>
          <p:cNvPr id="66" name="직각 삼각형 65">
            <a:extLst xmlns:a="http://schemas.openxmlformats.org/drawingml/2006/main">
              <a:ext uri="{FF2B5EF4-FFF2-40B4-BE49-F238E27FC236}">
                <a16:creationId xmlns:a16="http://schemas.microsoft.com/office/drawing/2014/main" id="{3638736E-AA1F-4296-8D37-3729FFC0C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0" flipV="0">
            <a:off x="3548905" y="3157741"/>
            <a:ext cx="330527" cy="209653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chemeClr val="bg1">
              <a:lumMod val="75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lIns="36000" tIns="36000" rIns="36000" bIns="36000" anchor="ctr"/>
          <a:lstStyle xmlns:a="http://schemas.openxmlformats.org/drawingml/2006/main"/>
          <a:p xmlns:a="http://schemas.openxmlformats.org/drawingml/2006/main">
            <a:pPr algn="ctr" defTabSz="1092200">
              <a:lnSpc>
                <a:spcPts val="1000"/>
              </a:lnSpc>
              <a:buClr>
                <a:srgbClr val="3271AA"/>
              </a:buClr>
              <a:buSzPct val="140000"/>
              <a:buNone/>
              <a:tabLst>
                <a:tab pos="814388" algn="l"/>
              </a:tabLst>
            </a:pPr>
          </a:p>
        </p:txBody>
      </p:sp>
      <p:sp>
        <p:nvSpPr>
          <p:cNvPr id="67" name="직각 삼각형 66">
            <a:extLst xmlns:a="http://schemas.openxmlformats.org/drawingml/2006/main">
              <a:ext uri="{FF2B5EF4-FFF2-40B4-BE49-F238E27FC236}">
                <a16:creationId xmlns:a16="http://schemas.microsoft.com/office/drawing/2014/main" id="{7CACFBD4-2F5F-474C-A464-2689AFFD7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0" flipV="0">
            <a:off x="6525616" y="2873801"/>
            <a:ext cx="330527" cy="209653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chemeClr val="bg1">
              <a:lumMod val="75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lIns="36000" tIns="36000" rIns="36000" bIns="36000" anchor="ctr"/>
          <a:lstStyle xmlns:a="http://schemas.openxmlformats.org/drawingml/2006/main"/>
          <a:p xmlns:a="http://schemas.openxmlformats.org/drawingml/2006/main">
            <a:pPr algn="ctr" defTabSz="1092200">
              <a:lnSpc>
                <a:spcPts val="1000"/>
              </a:lnSpc>
              <a:buClr>
                <a:srgbClr val="3271AA"/>
              </a:buClr>
              <a:buSzPct val="140000"/>
              <a:buNone/>
              <a:tabLst>
                <a:tab pos="814388" algn="l"/>
              </a:tabLst>
            </a:pPr>
          </a:p>
        </p:txBody>
      </p:sp>
      <p:sp>
        <p:nvSpPr>
          <p:cNvPr id="68" name="TextBox 67">
            <a:extLst xmlns:a="http://schemas.openxmlformats.org/drawingml/2006/main">
              <a:ext uri="{FF2B5EF4-FFF2-40B4-BE49-F238E27FC236}">
                <a16:creationId xmlns:a16="http://schemas.microsoft.com/office/drawing/2014/main" id="{96CAD037-C77C-4143-B150-B88D86146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8504" y="2616130"/>
            <a:ext cx="3060399" cy="61424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chemeClr val="bg1"/>
                </a:solidFill>
              </a:rPr>
              <a:t>[ 1단계 ]</a:t>
            </a:r>
          </a:p>
          <a:p xmlns:a="http://schemas.openxmlformats.org/drawingml/2006/main">
            <a:pPr algn="ctr">
              <a:spcBef>
                <a:spcPts val="300"/>
              </a:spcBef>
              <a:buNone/>
            </a:pPr>
            <a:r>
              <a:rPr sz="1400" b="1">
                <a:solidFill>
                  <a:schemeClr val="bg1"/>
                </a:solidFill>
              </a:rPr>
              <a:t>FOUNDATION</a:t>
            </a:r>
          </a:p>
          <a:p xmlns:a="http://schemas.openxmlformats.org/drawingml/2006/main">
            <a:pPr algn="ctr">
              <a:spcBef>
                <a:spcPts val="300"/>
              </a:spcBef>
              <a:buNone/>
            </a:pPr>
            <a:r>
              <a:rPr sz="1400" b="1">
                <a:solidFill>
                  <a:schemeClr val="bg1"/>
                </a:solidFill>
              </a:rPr>
              <a:t>경험·계약 검증</a:t>
            </a:r>
          </a:p>
        </p:txBody>
      </p:sp>
      <p:sp>
        <p:nvSpPr>
          <p:cNvPr id="69" name="TextBox 68">
            <a:extLst xmlns:a="http://schemas.openxmlformats.org/drawingml/2006/main">
              <a:ext uri="{FF2B5EF4-FFF2-40B4-BE49-F238E27FC236}">
                <a16:creationId xmlns:a16="http://schemas.microsoft.com/office/drawing/2014/main" id="{A44CB60F-85D6-4B27-B09C-987C22EB2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567953" y="2416426"/>
            <a:ext cx="2942802" cy="61424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chemeClr val="bg1"/>
                </a:solidFill>
              </a:rPr>
              <a:t>[ 2단계 ]</a:t>
            </a:r>
          </a:p>
          <a:p xmlns:a="http://schemas.openxmlformats.org/drawingml/2006/main">
            <a:pPr algn="ctr">
              <a:spcBef>
                <a:spcPts val="300"/>
              </a:spcBef>
              <a:buNone/>
            </a:pPr>
            <a:r>
              <a:rPr sz="1400" b="1">
                <a:solidFill>
                  <a:schemeClr val="bg1"/>
                </a:solidFill>
              </a:rPr>
              <a:t>COMMERCE</a:t>
            </a:r>
          </a:p>
          <a:p xmlns:a="http://schemas.openxmlformats.org/drawingml/2006/main">
            <a:pPr algn="ctr">
              <a:spcBef>
                <a:spcPts val="300"/>
              </a:spcBef>
              <a:buNone/>
            </a:pPr>
            <a:r>
              <a:rPr sz="1400" b="1">
                <a:solidFill>
                  <a:schemeClr val="bg1"/>
                </a:solidFill>
              </a:rPr>
              <a:t>실거래·공급 검증</a:t>
            </a:r>
          </a:p>
        </p:txBody>
      </p:sp>
      <p:sp>
        <p:nvSpPr>
          <p:cNvPr id="70" name="TextBox 69">
            <a:extLst xmlns:a="http://schemas.openxmlformats.org/drawingml/2006/main">
              <a:ext uri="{FF2B5EF4-FFF2-40B4-BE49-F238E27FC236}">
                <a16:creationId xmlns:a16="http://schemas.microsoft.com/office/drawing/2014/main" id="{B076D8E8-B8AC-492E-B713-CD5DE435D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36723" y="2140591"/>
            <a:ext cx="2808765" cy="61424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chemeClr val="bg1"/>
                </a:solidFill>
              </a:rPr>
              <a:t>[ 3단계 ]</a:t>
            </a:r>
          </a:p>
          <a:p xmlns:a="http://schemas.openxmlformats.org/drawingml/2006/main">
            <a:pPr algn="ctr">
              <a:spcBef>
                <a:spcPts val="300"/>
              </a:spcBef>
              <a:buNone/>
            </a:pPr>
            <a:r>
              <a:rPr sz="1400" b="1">
                <a:solidFill>
                  <a:schemeClr val="bg1"/>
                </a:solidFill>
              </a:rPr>
              <a:t>SCALE</a:t>
            </a:r>
          </a:p>
          <a:p xmlns:a="http://schemas.openxmlformats.org/drawingml/2006/main">
            <a:pPr algn="ctr">
              <a:spcBef>
                <a:spcPts val="300"/>
              </a:spcBef>
              <a:buNone/>
            </a:pPr>
            <a:r>
              <a:rPr sz="1400" b="1">
                <a:solidFill>
                  <a:schemeClr val="bg1"/>
                </a:solidFill>
              </a:rPr>
              <a:t>도시·공급 확장</a:t>
            </a:r>
          </a:p>
        </p:txBody>
      </p:sp>
      <p:sp>
        <p:nvSpPr>
          <p:cNvPr id="71" name="TextBox 70">
            <a:extLst xmlns:a="http://schemas.openxmlformats.org/drawingml/2006/main">
              <a:ext uri="{FF2B5EF4-FFF2-40B4-BE49-F238E27FC236}">
                <a16:creationId xmlns:a16="http://schemas.microsoft.com/office/drawing/2014/main" id="{EF2223BE-DA52-4F08-9DF1-BDB9A7ADC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543" y="3560622"/>
            <a:ext cx="2959819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 marL="180000" indent="-180000">
              <a:buFont typeface="Arial"/>
              <a:buChar char="•"/>
            </a:pPr>
            <a:r>
              <a:rPr sz="1300" b="1"/>
              <a:t>핵심 고객 여정 완성</a:t>
            </a:r>
          </a:p>
        </p:txBody>
      </p:sp>
      <p:sp>
        <p:nvSpPr>
          <p:cNvPr id="72" name="TextBox 71">
            <a:extLst xmlns:a="http://schemas.openxmlformats.org/drawingml/2006/main">
              <a:ext uri="{FF2B5EF4-FFF2-40B4-BE49-F238E27FC236}">
                <a16:creationId xmlns:a16="http://schemas.microsoft.com/office/drawing/2014/main" id="{CFAAEC4D-A95C-4CB1-ABF8-95FE99534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544" y="3924340"/>
            <a:ext cx="2289222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 marL="180000" indent="-180000">
              <a:buFont typeface="Arial"/>
              <a:buChar char="•"/>
            </a:pPr>
            <a:r>
              <a:rPr sz="1300" b="1"/>
              <a:t>공급 계약·Mock 검증</a:t>
            </a:r>
          </a:p>
        </p:txBody>
      </p:sp>
      <p:sp>
        <p:nvSpPr>
          <p:cNvPr id="73" name="TextBox 72">
            <a:extLst xmlns:a="http://schemas.openxmlformats.org/drawingml/2006/main">
              <a:ext uri="{FF2B5EF4-FFF2-40B4-BE49-F238E27FC236}">
                <a16:creationId xmlns:a16="http://schemas.microsoft.com/office/drawing/2014/main" id="{363404AF-C60B-4E46-9C74-465AB54BD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544" y="4288058"/>
            <a:ext cx="2632367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 marL="180000" indent="-180000">
              <a:buFont typeface="Arial"/>
              <a:buChar char="•"/>
            </a:pPr>
            <a:r>
              <a:rPr sz="1300" b="1"/>
              <a:t>Partner·Admin 기반</a:t>
            </a:r>
          </a:p>
        </p:txBody>
      </p:sp>
      <p:sp>
        <p:nvSpPr>
          <p:cNvPr id="74" name="TextBox 73">
            <a:extLst xmlns:a="http://schemas.openxmlformats.org/drawingml/2006/main">
              <a:ext uri="{FF2B5EF4-FFF2-40B4-BE49-F238E27FC236}">
                <a16:creationId xmlns:a16="http://schemas.microsoft.com/office/drawing/2014/main" id="{E3E73525-7CEF-4C0B-94A9-AF509CFF9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544" y="4651775"/>
            <a:ext cx="2632367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 marL="180000" indent="-180000">
              <a:buFont typeface="Arial"/>
              <a:buChar char="•"/>
            </a:pPr>
            <a:r>
              <a:rPr sz="1300" b="1"/>
              <a:t>단일 도시 카탈로그</a:t>
            </a:r>
          </a:p>
        </p:txBody>
      </p:sp>
      <p:sp>
        <p:nvSpPr>
          <p:cNvPr id="75" name="TextBox 74">
            <a:extLst xmlns:a="http://schemas.openxmlformats.org/drawingml/2006/main">
              <a:ext uri="{FF2B5EF4-FFF2-40B4-BE49-F238E27FC236}">
                <a16:creationId xmlns:a16="http://schemas.microsoft.com/office/drawing/2014/main" id="{F83FFB76-18B1-472B-B60E-0998023C6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9855" y="3272590"/>
            <a:ext cx="2794985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 marL="180000" indent="-180000">
              <a:buFont typeface="Arial"/>
              <a:buChar char="•"/>
            </a:pPr>
            <a:r>
              <a:rPr sz="1300" b="1"/>
              <a:t>PMS 채널 Shadow 조회</a:t>
            </a:r>
          </a:p>
        </p:txBody>
      </p:sp>
      <p:sp>
        <p:nvSpPr>
          <p:cNvPr id="76" name="TextBox 75">
            <a:extLst xmlns:a="http://schemas.openxmlformats.org/drawingml/2006/main">
              <a:ext uri="{FF2B5EF4-FFF2-40B4-BE49-F238E27FC236}">
                <a16:creationId xmlns:a16="http://schemas.microsoft.com/office/drawing/2014/main" id="{BD5A9C7F-96FD-406B-B5F2-A3F895149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9856" y="3924340"/>
            <a:ext cx="2794984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 marL="180000" indent="-180000">
              <a:buFont typeface="Arial"/>
              <a:buChar char="•"/>
            </a:pPr>
            <a:r>
              <a:rPr sz="1300" b="1"/>
              <a:t>실예약·결제·취소</a:t>
            </a:r>
          </a:p>
        </p:txBody>
      </p:sp>
      <p:sp>
        <p:nvSpPr>
          <p:cNvPr id="77" name="TextBox 76">
            <a:extLst xmlns:a="http://schemas.openxmlformats.org/drawingml/2006/main">
              <a:ext uri="{FF2B5EF4-FFF2-40B4-BE49-F238E27FC236}">
                <a16:creationId xmlns:a16="http://schemas.microsoft.com/office/drawing/2014/main" id="{43E3B7F2-907E-42EC-B911-0BCDCAFFC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9856" y="4400495"/>
            <a:ext cx="2632367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 marL="180000" indent="-180000">
              <a:buFont typeface="Arial"/>
              <a:buChar char="•"/>
            </a:pPr>
            <a:r>
              <a:rPr sz="1300" b="1"/>
              <a:t>정산·CS·대사</a:t>
            </a:r>
          </a:p>
        </p:txBody>
      </p:sp>
      <p:sp>
        <p:nvSpPr>
          <p:cNvPr id="78" name="TextBox 77">
            <a:extLst xmlns:a="http://schemas.openxmlformats.org/drawingml/2006/main">
              <a:ext uri="{FF2B5EF4-FFF2-40B4-BE49-F238E27FC236}">
                <a16:creationId xmlns:a16="http://schemas.microsoft.com/office/drawing/2014/main" id="{B37B3A90-CF59-4CA1-AEE0-6C56E2BF0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9856" y="4742159"/>
            <a:ext cx="2632367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 marL="180000" indent="-180000">
              <a:buFont typeface="Arial"/>
              <a:buChar char="•"/>
            </a:pPr>
            <a:r>
              <a:rPr sz="1300" b="1"/>
              <a:t>검증형 AI/RAG</a:t>
            </a:r>
          </a:p>
        </p:txBody>
      </p:sp>
      <p:sp>
        <p:nvSpPr>
          <p:cNvPr id="79" name="TextBox 78">
            <a:extLst xmlns:a="http://schemas.openxmlformats.org/drawingml/2006/main">
              <a:ext uri="{FF2B5EF4-FFF2-40B4-BE49-F238E27FC236}">
                <a16:creationId xmlns:a16="http://schemas.microsoft.com/office/drawing/2014/main" id="{E20305B2-186C-46EA-8526-03655A71D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7216" y="3056565"/>
            <a:ext cx="2626856" cy="7689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 marL="180000" indent="-180000">
              <a:buFont typeface="Arial"/>
              <a:buChar char="•"/>
            </a:pPr>
            <a:r>
              <a:rPr sz="1300" b="1"/>
              <a:t>외부 PMS·채널 확장</a:t>
            </a:r>
          </a:p>
        </p:txBody>
      </p:sp>
      <p:sp>
        <p:nvSpPr>
          <p:cNvPr id="80" name="TextBox 79">
            <a:extLst xmlns:a="http://schemas.openxmlformats.org/drawingml/2006/main">
              <a:ext uri="{FF2B5EF4-FFF2-40B4-BE49-F238E27FC236}">
                <a16:creationId xmlns:a16="http://schemas.microsoft.com/office/drawing/2014/main" id="{E8192461-8ECB-46F5-BBBA-78BECA4A8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7216" y="3924340"/>
            <a:ext cx="2289222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 marL="180000" indent="-180000">
              <a:buFont typeface="Arial"/>
              <a:buChar char="•"/>
            </a:pPr>
            <a:r>
              <a:rPr sz="1300" b="1"/>
              <a:t>도시·공급 확대</a:t>
            </a:r>
          </a:p>
        </p:txBody>
      </p:sp>
      <p:sp>
        <p:nvSpPr>
          <p:cNvPr id="81" name="TextBox 80">
            <a:extLst xmlns:a="http://schemas.openxmlformats.org/drawingml/2006/main">
              <a:ext uri="{FF2B5EF4-FFF2-40B4-BE49-F238E27FC236}">
                <a16:creationId xmlns:a16="http://schemas.microsoft.com/office/drawing/2014/main" id="{6CDD0D1A-2675-4EB8-A409-9BB5ABAFD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7216" y="4507759"/>
            <a:ext cx="2632367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 marL="180000" indent="-180000">
              <a:buFont typeface="Arial"/>
              <a:buChar char="•"/>
            </a:pPr>
            <a:r>
              <a:rPr sz="1300" b="1"/>
              <a:t>B2B·제휴 API</a:t>
            </a:r>
          </a:p>
        </p:txBody>
      </p:sp>
      <p:sp>
        <p:nvSpPr>
          <p:cNvPr id="82" name="TextBox 81">
            <a:extLst xmlns:a="http://schemas.openxmlformats.org/drawingml/2006/main">
              <a:ext uri="{FF2B5EF4-FFF2-40B4-BE49-F238E27FC236}">
                <a16:creationId xmlns:a16="http://schemas.microsoft.com/office/drawing/2014/main" id="{38023A91-C8C2-4DF9-94FB-8CFCE06A5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5838" y="5083823"/>
            <a:ext cx="2632367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 marL="180000" indent="-180000">
              <a:buFont typeface="Arial"/>
              <a:buChar char="•"/>
            </a:pPr>
            <a:r>
              <a:rPr sz="1300" b="1"/>
              <a:t>도시 KPI·공헌이익 Gate</a:t>
            </a:r>
          </a:p>
        </p:txBody>
      </p:sp>
      <p:sp>
        <p:nvSpPr>
          <p:cNvPr id="21" name="직선 연결선 20">
            <a:extLst xmlns:a="http://schemas.openxmlformats.org/drawingml/2006/main">
              <a:ext uri="{FF2B5EF4-FFF2-40B4-BE49-F238E27FC236}">
                <a16:creationId xmlns:a16="http://schemas.microsoft.com/office/drawing/2014/main" id="{9405B363-B9DB-418C-8B23-F7448CD05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00" y="3381478"/>
            <a:ext cx="0" cy="2927842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>
                <a:lumMod val="65000"/>
              </a:schemeClr>
            </a:solidFill>
            <a:prstDash val="dash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2" name="직선 연결선 21">
            <a:extLst xmlns:a="http://schemas.openxmlformats.org/drawingml/2006/main">
              <a:ext uri="{FF2B5EF4-FFF2-40B4-BE49-F238E27FC236}">
                <a16:creationId xmlns:a16="http://schemas.microsoft.com/office/drawing/2014/main" id="{27A5DEAA-6B09-4843-8479-2E9B2936C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3810" y="3143231"/>
            <a:ext cx="0" cy="3155563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>
                <a:lumMod val="65000"/>
              </a:schemeClr>
            </a:solidFill>
            <a:prstDash val="dash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" name="슬라이드 번호 개체 틀 2">
            <a:extLst xmlns:a="http://schemas.openxmlformats.org/drawingml/2006/main">
              <a:ext uri="{FF2B5EF4-FFF2-40B4-BE49-F238E27FC236}">
                <a16:creationId xmlns:a16="http://schemas.microsoft.com/office/drawing/2014/main" id="{3A0E6096-8CA1-423D-A977-D8BFA2F53FD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DF2BE2-2DFA-1C03-677D-BDC2260D6D92}" type="slidenum">
              <a:rPr>
                <a:latin typeface="나눔고딕"/>
                <a:ea typeface="나눔고딕"/>
                <a:cs typeface="나눔고딕"/>
              </a:rPr>
              <a:t>21</a:t>
            </a:fld>
          </a:p>
        </p:txBody>
      </p:sp>
    </p:spTree>
    <p:extLst>
      <p:ext uri="{BB962C8B-B14F-4D97-AF65-F5344CB8AC3E}">
        <p14:creationId xmlns:p14="http://schemas.microsoft.com/office/powerpoint/2010/main" val="3933655606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제목 71">
            <a:extLst xmlns:a="http://schemas.openxmlformats.org/drawingml/2006/main">
              <a:ext uri="{FF2B5EF4-FFF2-40B4-BE49-F238E27FC236}">
                <a16:creationId xmlns:a16="http://schemas.microsoft.com/office/drawing/2014/main" id="{0A4D92D9-7E69-480C-9827-E9CD4C613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487" y="71414"/>
            <a:ext cx="6768753" cy="57150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6800" rIns="91440" bIns="46800" anchor="b">
            <a:normAutofit fontScale="100000"/>
          </a:bodyPr>
          <a:lstStyle xmlns:a="http://schemas.openxmlformats.org/drawingml/2006/main">
            <a:lvl1pPr algn="l" defTabSz="914400">
              <a:spcBef>
                <a:spcPct val="0"/>
              </a:spcBef>
              <a:buNone/>
              <a:defRPr sz="1800" b="1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rPr>
                <a:solidFill>
                  <a:schemeClr val="bg1"/>
                </a:solidFill>
                <a:latin typeface="나눔고딕"/>
                <a:ea typeface="나눔고딕"/>
                <a:cs typeface="나눔고딕"/>
              </a:rPr>
              <a:t>12. KPI·위험·의사결정 Gate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3F454521-134A-4C19-B324-2C34D0011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512" y="908720"/>
            <a:ext cx="8945580" cy="8475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1300" b="1">
                <a:latin typeface="나눔고딕"/>
                <a:ea typeface="나눔고딕"/>
                <a:cs typeface="나눔고딕"/>
              </a:rPr>
              <a:t>기능 개수가 아니라 고객의 여행 완성도, 공급의 거래 가능성, 예약과 정산의 정확성, 도시 단위 경제성을 기준으로 다음 단계 진입을 결정합니다.</a:t>
            </a:r>
          </a:p>
        </p:txBody>
      </p:sp>
      <p:sp>
        <p:nvSpPr>
          <p:cNvPr id="10" name="삼각형 8">
            <a:extLst xmlns:a="http://schemas.openxmlformats.org/drawingml/2006/main">
              <a:ext uri="{FF2B5EF4-FFF2-40B4-BE49-F238E27FC236}">
                <a16:creationId xmlns:a16="http://schemas.microsoft.com/office/drawing/2014/main" id="{96744AEB-2A7A-45EC-9328-C78D7D088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520" y="1784011"/>
            <a:ext cx="7818959" cy="1210857"/>
          </a:xfrm>
          <a:prstGeom xmlns:a="http://schemas.openxmlformats.org/drawingml/2006/main" prst="triangle">
            <a:avLst>
              <a:gd name="adj" fmla="val 49887"/>
            </a:avLst>
          </a:prstGeom>
          <a:gradFill xmlns:a="http://schemas.openxmlformats.org/drawingml/2006/main" rotWithShape="1">
            <a:gsLst>
              <a:gs pos="0">
                <a:srgbClr val="D1EFF9">
                  <a:alpha val="30000"/>
                </a:srgb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162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Clr>
                <a:srgbClr val="000000"/>
              </a:buClr>
              <a:buFont typeface="Arial"/>
              <a:buNone/>
            </a:pPr>
          </a:p>
        </p:txBody>
      </p:sp>
      <p:sp>
        <p:nvSpPr>
          <p:cNvPr id="11" name="사각형: 둥근 모서리 10">
            <a:extLst xmlns:a="http://schemas.openxmlformats.org/drawingml/2006/main">
              <a:ext uri="{FF2B5EF4-FFF2-40B4-BE49-F238E27FC236}">
                <a16:creationId xmlns:a16="http://schemas.microsoft.com/office/drawing/2014/main" id="{08657C82-0C4A-4BB5-941E-A1F4CCD8B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474" y="4832033"/>
            <a:ext cx="8644727" cy="122285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9525">
            <a:solidFill>
              <a:schemeClr val="bg1">
                <a:lumMod val="65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 Box 1059">
            <a:extLst xmlns:a="http://schemas.openxmlformats.org/drawingml/2006/main">
              <a:ext uri="{FF2B5EF4-FFF2-40B4-BE49-F238E27FC236}">
                <a16:creationId xmlns:a16="http://schemas.microsoft.com/office/drawing/2014/main" id="{A1C9E121-F826-4C77-AFFB-93257D138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4608" y="5039197"/>
            <a:ext cx="2016224" cy="4308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1pPr>
            <a:lvl2pPr marL="742950" indent="-28575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2pPr>
            <a:lvl3pPr marL="11430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3pPr>
            <a:lvl4pPr marL="16002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4pPr>
            <a:lvl5pPr marL="20574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9pPr>
          </a:lstStyle>
          <a:p xmlns:a="http://schemas.openxmlformats.org/drawingml/2006/main">
            <a:pPr>
              <a:buNone/>
            </a:pPr>
            <a:r>
              <a:rPr sz="1100" b="1">
                <a:latin typeface="나눔고딕"/>
                <a:ea typeface="나눔고딕"/>
                <a:cs typeface="나눔고딕"/>
              </a:rPr>
              <a:t>• Gate 1: 고객이 4박5일 일정을 완성하고 저장하는가</a:t>
            </a:r>
          </a:p>
        </p:txBody>
      </p:sp>
      <p:sp>
        <p:nvSpPr>
          <p:cNvPr id="14" name="사각형: 둥근 모서리 13">
            <a:extLst xmlns:a="http://schemas.openxmlformats.org/drawingml/2006/main">
              <a:ext uri="{FF2B5EF4-FFF2-40B4-BE49-F238E27FC236}">
                <a16:creationId xmlns:a16="http://schemas.microsoft.com/office/drawing/2014/main" id="{6BED4BEC-4414-418C-AD4E-70FE50217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474" y="1926992"/>
            <a:ext cx="8644727" cy="493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54D83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Clr>
                <a:srgbClr val="000000"/>
              </a:buClr>
              <a:buFont typeface="Arial"/>
              <a:buNone/>
            </a:pPr>
            <a:r>
              <a:rPr b="1">
                <a:solidFill>
                  <a:schemeClr val="bg1"/>
                </a:solidFill>
                <a:latin typeface="나눔고딕"/>
                <a:ea typeface="나눔고딕"/>
                <a:cs typeface="나눔고딕"/>
              </a:rPr>
              <a:t>성장보다 먼저</a:t>
            </a:r>
          </a:p>
          <a:p xmlns:a="http://schemas.openxmlformats.org/drawingml/2006/main">
            <a:pPr algn="ctr">
              <a:buClr>
                <a:srgbClr val="000000"/>
              </a:buClr>
              <a:buFont typeface="Arial"/>
              <a:buNone/>
            </a:pPr>
            <a:r>
              <a:rPr b="1">
                <a:solidFill>
                  <a:schemeClr val="bg1"/>
                </a:solidFill>
                <a:latin typeface="나눔고딕"/>
                <a:ea typeface="나눔고딕"/>
                <a:cs typeface="나눔고딕"/>
              </a:rPr>
              <a:t>신뢰 가능한 거래를 증명</a:t>
            </a:r>
          </a:p>
        </p:txBody>
      </p:sp>
      <p:sp>
        <p:nvSpPr>
          <p:cNvPr id="16" name="AutoShape 1073">
            <a:extLst xmlns:a="http://schemas.openxmlformats.org/drawingml/2006/main">
              <a:ext uri="{FF2B5EF4-FFF2-40B4-BE49-F238E27FC236}">
                <a16:creationId xmlns:a16="http://schemas.microsoft.com/office/drawing/2014/main" id="{C46E2062-1BD1-41E4-BB85-27970B07D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202" y="2432230"/>
            <a:ext cx="8155110" cy="393789"/>
          </a:xfrm>
          <a:prstGeom xmlns:a="http://schemas.openxmlformats.org/drawingml/2006/main" prst="roundRect">
            <a:avLst>
              <a:gd name="adj" fmla="val 12278"/>
            </a:avLst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46800" rIns="0" bIns="46800" anchor="ctr"/>
          <a:lstStyle xmlns:a="http://schemas.openxmlformats.org/drawingml/2006/main">
            <a:lvl1pPr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1pPr>
            <a:lvl2pPr marL="742950" indent="-28575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2pPr>
            <a:lvl3pPr marL="11430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3pPr>
            <a:lvl4pPr marL="16002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4pPr>
            <a:lvl5pPr marL="20574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9pPr>
          </a:lstStyle>
          <a:p xmlns:a="http://schemas.openxmlformats.org/drawingml/2006/main">
            <a:pPr algn="ctr">
              <a:buClr>
                <a:schemeClr val="accent2"/>
              </a:buClr>
              <a:buNone/>
            </a:pPr>
            <a:r>
              <a:rPr sz="1600" b="1">
                <a:latin typeface="나눔고딕"/>
                <a:ea typeface="나눔고딕"/>
                <a:cs typeface="나눔고딕"/>
              </a:rPr>
              <a:t>Customer Value · Supply Quality · Transaction Trust</a:t>
            </a:r>
          </a:p>
        </p:txBody>
      </p:sp>
      <p:sp>
        <p:nvSpPr>
          <p:cNvPr id="17" name="사각형: 둥근 모서리 16">
            <a:extLst xmlns:a="http://schemas.openxmlformats.org/drawingml/2006/main">
              <a:ext uri="{FF2B5EF4-FFF2-40B4-BE49-F238E27FC236}">
                <a16:creationId xmlns:a16="http://schemas.microsoft.com/office/drawing/2014/main" id="{9227A528-23D7-430D-82C2-CC04E412A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097" y="4653136"/>
            <a:ext cx="7359190" cy="34588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tIns="0" bIns="0" anchor="ctr"/>
          <a:lstStyle xmlns:a="http://schemas.openxmlformats.org/drawingml/2006/main"/>
          <a:p xmlns:a="http://schemas.openxmlformats.org/drawingml/2006/main">
            <a:pPr algn="ctr">
              <a:buClr>
                <a:srgbClr val="000000"/>
              </a:buClr>
              <a:buFont typeface="Arial"/>
              <a:buNone/>
            </a:pPr>
            <a:r>
              <a:rPr sz="1400" b="1">
                <a:latin typeface="나눔고딕"/>
                <a:ea typeface="나눔고딕"/>
                <a:cs typeface="나눔고딕"/>
              </a:rPr>
              <a:t>의사결정 Gate</a:t>
            </a:r>
          </a:p>
        </p:txBody>
      </p:sp>
      <p:sp>
        <p:nvSpPr>
          <p:cNvPr id="18" name="사각형: 둥근 모서리 17">
            <a:extLst xmlns:a="http://schemas.openxmlformats.org/drawingml/2006/main">
              <a:ext uri="{FF2B5EF4-FFF2-40B4-BE49-F238E27FC236}">
                <a16:creationId xmlns:a16="http://schemas.microsoft.com/office/drawing/2014/main" id="{9B1F9BE3-70A7-4D4D-8EE6-71B6AFED7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6035" y="5281071"/>
            <a:ext cx="1399410" cy="428931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BE3EE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Clr>
                <a:srgbClr val="000000"/>
              </a:buClr>
              <a:buFont typeface="Arial"/>
              <a:buNone/>
            </a:pPr>
          </a:p>
        </p:txBody>
      </p:sp>
      <p:sp>
        <p:nvSpPr>
          <p:cNvPr id="19" name="Text Box 1067">
            <a:extLst xmlns:a="http://schemas.openxmlformats.org/drawingml/2006/main">
              <a:ext uri="{FF2B5EF4-FFF2-40B4-BE49-F238E27FC236}">
                <a16:creationId xmlns:a16="http://schemas.microsoft.com/office/drawing/2014/main" id="{127D301A-BA50-4D6F-8A82-A09973BD4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4760" y="5357037"/>
            <a:ext cx="1821959" cy="2769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spAutoFit/>
          </a:bodyPr>
          <a:lstStyle xmlns:a="http://schemas.openxmlformats.org/drawingml/2006/main">
            <a:lvl1pPr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1pPr>
            <a:lvl2pPr marL="742950" indent="-28575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2pPr>
            <a:lvl3pPr marL="11430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3pPr>
            <a:lvl4pPr marL="16002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4pPr>
            <a:lvl5pPr marL="20574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9pPr>
          </a:lstStyle>
          <a:p xmlns:a="http://schemas.openxmlformats.org/drawingml/2006/main">
            <a:pPr algn="ctr">
              <a:buNone/>
            </a:pPr>
            <a:r>
              <a:rPr b="1">
                <a:latin typeface="나눔고딕"/>
                <a:ea typeface="나눔고딕"/>
                <a:cs typeface="나눔고딕"/>
              </a:rPr>
              <a:t>GO / HOLD / STOP</a:t>
            </a:r>
          </a:p>
        </p:txBody>
      </p:sp>
      <p:cxnSp>
        <p:nvCxnSpPr>
          <p:cNvPr id="65" name="연결선: 꺾임 20"/>
          <p:cNvCxnSpPr/>
          <p:nvPr/>
        </p:nvCxnSpPr>
        <p:spPr>
          <a:xfrm xmlns:a="http://schemas.openxmlformats.org/drawingml/2006/main" rot="0" flipH="0" flipV="1">
            <a:off x="5514397" y="5218539"/>
            <a:ext cx="647542" cy="280326"/>
          </a:xfrm>
          <a:prstGeom xmlns:a="http://schemas.openxmlformats.org/drawingml/2006/main" prst="bentConnector3">
            <a:avLst/>
          </a:prstGeom>
          <a:ln xmlns:a="http://schemas.openxmlformats.org/drawingml/2006/main">
            <a:solidFill>
              <a:srgbClr val="C7B38F"/>
            </a:solidFill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66" name="연결선: 꺾임 21"/>
          <p:cNvCxnSpPr/>
          <p:nvPr/>
        </p:nvCxnSpPr>
        <p:spPr>
          <a:xfrm xmlns:a="http://schemas.openxmlformats.org/drawingml/2006/main" rot="0" flipH="0" flipV="0">
            <a:off x="5514397" y="5498865"/>
            <a:ext cx="647542" cy="346166"/>
          </a:xfrm>
          <a:prstGeom xmlns:a="http://schemas.openxmlformats.org/drawingml/2006/main" prst="bentConnector3">
            <a:avLst/>
          </a:prstGeom>
          <a:ln xmlns:a="http://schemas.openxmlformats.org/drawingml/2006/main">
            <a:solidFill>
              <a:srgbClr val="C7B38F"/>
            </a:solidFill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67" name="연결선: 꺾임 23"/>
          <p:cNvCxnSpPr/>
          <p:nvPr/>
        </p:nvCxnSpPr>
        <p:spPr>
          <a:xfrm xmlns:a="http://schemas.openxmlformats.org/drawingml/2006/main" rot="10800000" flipH="0" flipV="0">
            <a:off x="-8573939" y="5218539"/>
            <a:ext cx="647542" cy="276999"/>
          </a:xfrm>
          <a:prstGeom xmlns:a="http://schemas.openxmlformats.org/drawingml/2006/main" prst="bentConnector3">
            <a:avLst/>
          </a:prstGeom>
          <a:ln xmlns:a="http://schemas.openxmlformats.org/drawingml/2006/main">
            <a:solidFill>
              <a:srgbClr val="C7B38F"/>
            </a:solidFill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68" name="연결선: 꺾임 24"/>
          <p:cNvCxnSpPr/>
          <p:nvPr/>
        </p:nvCxnSpPr>
        <p:spPr>
          <a:xfrm xmlns:a="http://schemas.openxmlformats.org/drawingml/2006/main" rot="0" flipH="1" flipV="0">
            <a:off x="-8573939" y="5495537"/>
            <a:ext cx="647542" cy="346166"/>
          </a:xfrm>
          <a:prstGeom xmlns:a="http://schemas.openxmlformats.org/drawingml/2006/main" prst="bentConnector3">
            <a:avLst/>
          </a:prstGeom>
          <a:ln xmlns:a="http://schemas.openxmlformats.org/drawingml/2006/main">
            <a:solidFill>
              <a:srgbClr val="C7B38F"/>
            </a:solidFill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26" name="Text Box 1059">
            <a:extLst xmlns:a="http://schemas.openxmlformats.org/drawingml/2006/main">
              <a:ext uri="{FF2B5EF4-FFF2-40B4-BE49-F238E27FC236}">
                <a16:creationId xmlns:a16="http://schemas.microsoft.com/office/drawing/2014/main" id="{1ECA50C8-87E4-43BB-8927-5FB42570C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4608" y="5590401"/>
            <a:ext cx="2016224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1pPr>
            <a:lvl2pPr marL="742950" indent="-28575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2pPr>
            <a:lvl3pPr marL="11430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3pPr>
            <a:lvl4pPr marL="16002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4pPr>
            <a:lvl5pPr marL="20574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9pPr>
          </a:lstStyle>
          <a:p xmlns:a="http://schemas.openxmlformats.org/drawingml/2006/main">
            <a:pPr>
              <a:buNone/>
            </a:pPr>
            <a:r>
              <a:rPr sz="1100" b="1">
                <a:latin typeface="나눔고딕"/>
                <a:ea typeface="나눔고딕"/>
                <a:cs typeface="나눔고딕"/>
              </a:rPr>
              <a:t>• Gate 2: 공급자가 상품·예약·정산을 스스로 운영하는가</a:t>
            </a:r>
          </a:p>
        </p:txBody>
      </p:sp>
      <p:sp>
        <p:nvSpPr>
          <p:cNvPr id="27" name="Text Box 1059">
            <a:extLst xmlns:a="http://schemas.openxmlformats.org/drawingml/2006/main">
              <a:ext uri="{FF2B5EF4-FFF2-40B4-BE49-F238E27FC236}">
                <a16:creationId xmlns:a16="http://schemas.microsoft.com/office/drawing/2014/main" id="{21413528-3D4D-43BA-92A5-64FEE2C9A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9143" y="5039197"/>
            <a:ext cx="2245143" cy="4308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>
              <a:buNone/>
              <a:defRPr sz="1100" b="1">
                <a:latin typeface="+mn-ea"/>
                <a:ea typeface="+mn-ea"/>
                <a:cs typeface="+mn-ea"/>
              </a:defRPr>
            </a:lvl1pPr>
            <a:lvl2pPr marL="742950" indent="-285750">
              <a:buNone/>
              <a:defRPr sz="1200">
                <a:latin typeface="굴림"/>
                <a:ea typeface="굴림"/>
                <a:cs typeface="굴림"/>
              </a:defRPr>
            </a:lvl2pPr>
            <a:lvl3pPr marL="1143000" indent="-228600">
              <a:buNone/>
              <a:defRPr sz="1200">
                <a:latin typeface="굴림"/>
                <a:ea typeface="굴림"/>
                <a:cs typeface="굴림"/>
              </a:defRPr>
            </a:lvl3pPr>
            <a:lvl4pPr marL="1600200" indent="-228600">
              <a:buNone/>
              <a:defRPr sz="1200">
                <a:latin typeface="굴림"/>
                <a:ea typeface="굴림"/>
                <a:cs typeface="굴림"/>
              </a:defRPr>
            </a:lvl4pPr>
            <a:lvl5pPr marL="2057400" indent="-228600">
              <a:buNone/>
              <a:defRPr sz="1200">
                <a:latin typeface="굴림"/>
                <a:ea typeface="굴림"/>
                <a:cs typeface="굴림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 sz="1200">
                <a:latin typeface="굴림"/>
                <a:ea typeface="굴림"/>
                <a:cs typeface="굴림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 sz="1200">
                <a:latin typeface="굴림"/>
                <a:ea typeface="굴림"/>
                <a:cs typeface="굴림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 sz="1200">
                <a:latin typeface="굴림"/>
                <a:ea typeface="굴림"/>
                <a:cs typeface="굴림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 sz="1200">
                <a:latin typeface="굴림"/>
                <a:ea typeface="굴림"/>
                <a:cs typeface="굴림"/>
              </a:defRPr>
            </a:lvl9pPr>
          </a:lstStyle>
          <a:p xmlns:a="http://schemas.openxmlformats.org/drawingml/2006/main">
            <a:r>
              <a:rPr>
                <a:latin typeface="나눔고딕"/>
                <a:ea typeface="나눔고딕"/>
                <a:cs typeface="나눔고딕"/>
              </a:rPr>
              <a:t>• Gate 3: 허위 재고·가격 없이 거래를 확정하는가</a:t>
            </a:r>
          </a:p>
        </p:txBody>
      </p:sp>
      <p:sp>
        <p:nvSpPr>
          <p:cNvPr id="28" name="Text Box 1059">
            <a:extLst xmlns:a="http://schemas.openxmlformats.org/drawingml/2006/main">
              <a:ext uri="{FF2B5EF4-FFF2-40B4-BE49-F238E27FC236}">
                <a16:creationId xmlns:a16="http://schemas.microsoft.com/office/drawing/2014/main" id="{DA221758-3EA0-4588-A66C-A7D2BAD77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9144" y="5590401"/>
            <a:ext cx="2016224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>
              <a:buNone/>
              <a:defRPr sz="1100" b="1">
                <a:latin typeface="+mn-ea"/>
                <a:ea typeface="+mn-ea"/>
                <a:cs typeface="+mn-ea"/>
              </a:defRPr>
            </a:lvl1pPr>
            <a:lvl2pPr marL="742950" indent="-285750">
              <a:buNone/>
              <a:defRPr sz="1200">
                <a:latin typeface="굴림"/>
                <a:ea typeface="굴림"/>
                <a:cs typeface="굴림"/>
              </a:defRPr>
            </a:lvl2pPr>
            <a:lvl3pPr marL="1143000" indent="-228600">
              <a:buNone/>
              <a:defRPr sz="1200">
                <a:latin typeface="굴림"/>
                <a:ea typeface="굴림"/>
                <a:cs typeface="굴림"/>
              </a:defRPr>
            </a:lvl3pPr>
            <a:lvl4pPr marL="1600200" indent="-228600">
              <a:buNone/>
              <a:defRPr sz="1200">
                <a:latin typeface="굴림"/>
                <a:ea typeface="굴림"/>
                <a:cs typeface="굴림"/>
              </a:defRPr>
            </a:lvl4pPr>
            <a:lvl5pPr marL="2057400" indent="-228600">
              <a:buNone/>
              <a:defRPr sz="1200">
                <a:latin typeface="굴림"/>
                <a:ea typeface="굴림"/>
                <a:cs typeface="굴림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 sz="1200">
                <a:latin typeface="굴림"/>
                <a:ea typeface="굴림"/>
                <a:cs typeface="굴림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 sz="1200">
                <a:latin typeface="굴림"/>
                <a:ea typeface="굴림"/>
                <a:cs typeface="굴림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 sz="1200">
                <a:latin typeface="굴림"/>
                <a:ea typeface="굴림"/>
                <a:cs typeface="굴림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 sz="1200">
                <a:latin typeface="굴림"/>
                <a:ea typeface="굴림"/>
                <a:cs typeface="굴림"/>
              </a:defRPr>
            </a:lvl9pPr>
          </a:lstStyle>
          <a:p xmlns:a="http://schemas.openxmlformats.org/drawingml/2006/main">
            <a:r>
              <a:rPr>
                <a:latin typeface="나눔고딕"/>
                <a:ea typeface="나눔고딕"/>
                <a:cs typeface="나눔고딕"/>
              </a:rPr>
              <a:t>• Gate 4: 도시 단위 공헌이익과 재구매 신호가 있는가</a:t>
            </a:r>
          </a:p>
        </p:txBody>
      </p:sp>
      <p:sp>
        <p:nvSpPr>
          <p:cNvPr id="32" name="직사각형 31">
            <a:extLst xmlns:a="http://schemas.openxmlformats.org/drawingml/2006/main">
              <a:ext uri="{FF2B5EF4-FFF2-40B4-BE49-F238E27FC236}">
                <a16:creationId xmlns:a16="http://schemas.microsoft.com/office/drawing/2014/main" id="{08F828A6-21D3-4344-A304-3F25615B6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087" y="3348469"/>
            <a:ext cx="2808697" cy="122285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350">
            <a:solidFill>
              <a:schemeClr val="bg1">
                <a:lumMod val="65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>
                <a:solidFill>
                  <a:schemeClr val="tx1"/>
                </a:solidFill>
                <a:latin typeface="나눔고딕"/>
                <a:ea typeface="나눔고딕"/>
                <a:cs typeface="나눔고딕"/>
              </a:rPr>
              <a:t>  </a:t>
            </a:r>
          </a:p>
        </p:txBody>
      </p:sp>
      <p:sp>
        <p:nvSpPr>
          <p:cNvPr id="33" name="직사각형 32">
            <a:extLst xmlns:a="http://schemas.openxmlformats.org/drawingml/2006/main">
              <a:ext uri="{FF2B5EF4-FFF2-40B4-BE49-F238E27FC236}">
                <a16:creationId xmlns:a16="http://schemas.microsoft.com/office/drawing/2014/main" id="{C56ADAF5-7FFB-4EF1-A92F-865832FA7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6704" y="3348469"/>
            <a:ext cx="2808697" cy="122285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350">
            <a:solidFill>
              <a:schemeClr val="bg1">
                <a:lumMod val="65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>
                <a:solidFill>
                  <a:schemeClr val="tx1"/>
                </a:solidFill>
                <a:latin typeface="나눔고딕"/>
                <a:ea typeface="나눔고딕"/>
                <a:cs typeface="나눔고딕"/>
              </a:rPr>
              <a:t>  </a:t>
            </a:r>
          </a:p>
        </p:txBody>
      </p:sp>
      <p:sp>
        <p:nvSpPr>
          <p:cNvPr id="34" name="직사각형 33">
            <a:extLst xmlns:a="http://schemas.openxmlformats.org/drawingml/2006/main">
              <a:ext uri="{FF2B5EF4-FFF2-40B4-BE49-F238E27FC236}">
                <a16:creationId xmlns:a16="http://schemas.microsoft.com/office/drawing/2014/main" id="{F00FDFFB-2264-49DF-9081-626215A8F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6665" y="3348469"/>
            <a:ext cx="2807497" cy="122285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350">
            <a:solidFill>
              <a:schemeClr val="bg1">
                <a:lumMod val="65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>
                <a:solidFill>
                  <a:schemeClr val="tx1"/>
                </a:solidFill>
                <a:latin typeface="나눔고딕"/>
                <a:ea typeface="나눔고딕"/>
                <a:cs typeface="나눔고딕"/>
              </a:rPr>
              <a:t>  </a:t>
            </a:r>
          </a:p>
        </p:txBody>
      </p:sp>
      <p:sp>
        <p:nvSpPr>
          <p:cNvPr id="35" name="Text Box 1078">
            <a:extLst xmlns:a="http://schemas.openxmlformats.org/drawingml/2006/main">
              <a:ext uri="{FF2B5EF4-FFF2-40B4-BE49-F238E27FC236}">
                <a16:creationId xmlns:a16="http://schemas.microsoft.com/office/drawing/2014/main" id="{702D5D0A-CE8A-41E3-B5FF-9B3172961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036" y="3391772"/>
            <a:ext cx="2779928" cy="11310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1pPr>
            <a:lvl2pPr marL="742950" indent="-28575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2pPr>
            <a:lvl3pPr marL="11430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3pPr>
            <a:lvl4pPr marL="16002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4pPr>
            <a:lvl5pPr marL="20574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9pPr>
          </a:lstStyle>
          <a:p xmlns:a="http://schemas.openxmlformats.org/drawingml/2006/main">
            <a:pPr>
              <a:spcBef>
                <a:spcPts val="600"/>
              </a:spcBef>
              <a:buFont typeface="Wingdings 3"/>
              <a:buChar char="}"/>
            </a:pPr>
            <a:r>
              <a:rPr sz="1050">
                <a:latin typeface="나눔고딕"/>
                <a:ea typeface="나눔고딕"/>
                <a:cs typeface="나눔고딕"/>
              </a:rPr>
              <a:t>일정 완성·카트 전환</a:t>
            </a:r>
          </a:p>
          <a:p xmlns:a="http://schemas.openxmlformats.org/drawingml/2006/main">
            <a:pPr>
              <a:spcBef>
                <a:spcPts val="600"/>
              </a:spcBef>
              <a:buFont typeface="Wingdings 3"/>
              <a:buChar char="}"/>
            </a:pPr>
            <a:r>
              <a:rPr sz="1050">
                <a:ln w="11430">
                  <a:noFill/>
                </a:ln>
                <a:latin typeface="나눔고딕"/>
                <a:ea typeface="나눔고딕"/>
                <a:cs typeface="나눔고딕"/>
              </a:rPr>
              <a:t>재방문·예약 전환</a:t>
            </a:r>
          </a:p>
        </p:txBody>
      </p:sp>
      <p:sp>
        <p:nvSpPr>
          <p:cNvPr id="36" name="Text Box 1078">
            <a:extLst xmlns:a="http://schemas.openxmlformats.org/drawingml/2006/main">
              <a:ext uri="{FF2B5EF4-FFF2-40B4-BE49-F238E27FC236}">
                <a16:creationId xmlns:a16="http://schemas.microsoft.com/office/drawing/2014/main" id="{DEAE33C5-46D8-4BD7-BCCF-FA48AB3B0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0226" y="3391772"/>
            <a:ext cx="2892138" cy="11387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spcBef>
                <a:spcPts val="600"/>
              </a:spcBef>
              <a:buFont typeface="Wingdings 3"/>
              <a:buChar char="}"/>
              <a:defRPr sz="1050">
                <a:latin typeface="나눔고딕"/>
                <a:ea typeface="나눔고딕"/>
                <a:cs typeface="나눔고딕"/>
              </a:defRPr>
            </a:lvl1pPr>
            <a:lvl2pPr marL="742950" indent="-285750">
              <a:buNone/>
              <a:defRPr sz="1200">
                <a:latin typeface="굴림"/>
                <a:ea typeface="굴림"/>
                <a:cs typeface="굴림"/>
              </a:defRPr>
            </a:lvl2pPr>
            <a:lvl3pPr marL="1143000" indent="-228600">
              <a:buNone/>
              <a:defRPr sz="1200">
                <a:latin typeface="굴림"/>
                <a:ea typeface="굴림"/>
                <a:cs typeface="굴림"/>
              </a:defRPr>
            </a:lvl3pPr>
            <a:lvl4pPr marL="1600200" indent="-228600">
              <a:buNone/>
              <a:defRPr sz="1200">
                <a:latin typeface="굴림"/>
                <a:ea typeface="굴림"/>
                <a:cs typeface="굴림"/>
              </a:defRPr>
            </a:lvl4pPr>
            <a:lvl5pPr marL="2057400" indent="-228600">
              <a:buNone/>
              <a:defRPr sz="1200">
                <a:latin typeface="굴림"/>
                <a:ea typeface="굴림"/>
                <a:cs typeface="굴림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 sz="1200">
                <a:latin typeface="굴림"/>
                <a:ea typeface="굴림"/>
                <a:cs typeface="굴림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 sz="1200">
                <a:latin typeface="굴림"/>
                <a:ea typeface="굴림"/>
                <a:cs typeface="굴림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 sz="1200">
                <a:latin typeface="굴림"/>
                <a:ea typeface="굴림"/>
                <a:cs typeface="굴림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 sz="1200">
                <a:latin typeface="굴림"/>
                <a:ea typeface="굴림"/>
                <a:cs typeface="굴림"/>
              </a:defRPr>
            </a:lvl9pPr>
          </a:lstStyle>
          <a:p xmlns:a="http://schemas.openxmlformats.org/drawingml/2006/main">
            <a:r>
              <a:t>활성 공급·가격 최신성</a:t>
            </a:r>
          </a:p>
          <a:p xmlns:a="http://schemas.openxmlformats.org/drawingml/2006/main">
            <a:r>
              <a:t>확정·취소·PMS 대사</a:t>
            </a:r>
          </a:p>
        </p:txBody>
      </p:sp>
      <p:sp>
        <p:nvSpPr>
          <p:cNvPr id="37" name="Text Box 1078">
            <a:extLst xmlns:a="http://schemas.openxmlformats.org/drawingml/2006/main">
              <a:ext uri="{FF2B5EF4-FFF2-40B4-BE49-F238E27FC236}">
                <a16:creationId xmlns:a16="http://schemas.microsoft.com/office/drawing/2014/main" id="{E49E58D5-12D6-4D3B-83F1-0C24B1DC9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0265" y="3378407"/>
            <a:ext cx="2787943" cy="10926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1pPr>
            <a:lvl2pPr marL="742950" indent="-28575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2pPr>
            <a:lvl3pPr marL="11430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3pPr>
            <a:lvl4pPr marL="16002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4pPr>
            <a:lvl5pPr marL="20574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9pPr>
          </a:lstStyle>
          <a:p xmlns:a="http://schemas.openxmlformats.org/drawingml/2006/main">
            <a:pPr>
              <a:spcBef>
                <a:spcPts val="500"/>
              </a:spcBef>
              <a:buFont typeface="Wingdings 3"/>
              <a:buChar char="}"/>
            </a:pPr>
            <a:r>
              <a:rPr sz="1050">
                <a:latin typeface="나눔고딕"/>
                <a:ea typeface="나눔고딕"/>
                <a:cs typeface="나눔고딕"/>
              </a:rPr>
              <a:t>CS·환불·정산 차이</a:t>
            </a:r>
          </a:p>
          <a:p xmlns:a="http://schemas.openxmlformats.org/drawingml/2006/main">
            <a:pPr>
              <a:spcBef>
                <a:spcPts val="500"/>
              </a:spcBef>
              <a:buFont typeface="Wingdings 3"/>
              <a:buChar char="}"/>
            </a:pPr>
            <a:r>
              <a:rPr sz="1050">
                <a:ln w="11430">
                  <a:noFill/>
                </a:ln>
                <a:latin typeface="나눔고딕"/>
                <a:ea typeface="나눔고딕"/>
                <a:cs typeface="나눔고딕"/>
              </a:rPr>
              <a:t>GMV·공헌이익·CAC</a:t>
            </a:r>
          </a:p>
        </p:txBody>
      </p:sp>
      <p:sp>
        <p:nvSpPr>
          <p:cNvPr id="38" name="직사각형 37">
            <a:extLst xmlns:a="http://schemas.openxmlformats.org/drawingml/2006/main">
              <a:ext uri="{FF2B5EF4-FFF2-40B4-BE49-F238E27FC236}">
                <a16:creationId xmlns:a16="http://schemas.microsoft.com/office/drawing/2014/main" id="{B1518440-D941-4F63-9C43-FF2511259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087" y="2865869"/>
            <a:ext cx="2811446" cy="48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9EF1"/>
          </a:solidFill>
          <a:ln xmlns:a="http://schemas.openxmlformats.org/drawingml/2006/main" w="9525">
            <a:noFill/>
          </a:ln>
        </p:spPr>
        <p:txBody>
          <a:bodyPr xmlns:a="http://schemas.openxmlformats.org/drawingml/2006/main" wrap="none" lIns="0" rIns="0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spcBef>
                <a:spcPts val="600"/>
              </a:spcBef>
              <a:buNone/>
            </a:pPr>
            <a:r>
              <a:rPr sz="1300" b="1">
                <a:ln>
                  <a:solidFill>
                    <a:srgbClr val="CCECFF">
                      <a:alpha val="0"/>
                    </a:srgbClr>
                  </a:solidFill>
                </a:ln>
                <a:solidFill>
                  <a:schemeClr val="bg1"/>
                </a:solidFill>
                <a:latin typeface="나눔고딕"/>
                <a:ea typeface="나눔고딕"/>
                <a:cs typeface="나눔고딕"/>
              </a:rPr>
              <a:t>고객 KPI</a:t>
            </a:r>
          </a:p>
        </p:txBody>
      </p:sp>
      <p:sp>
        <p:nvSpPr>
          <p:cNvPr id="39" name="직사각형 38">
            <a:extLst xmlns:a="http://schemas.openxmlformats.org/drawingml/2006/main">
              <a:ext uri="{FF2B5EF4-FFF2-40B4-BE49-F238E27FC236}">
                <a16:creationId xmlns:a16="http://schemas.microsoft.com/office/drawing/2014/main" id="{1E9B8607-6B74-409B-9702-B4D862CD1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6665" y="2865869"/>
            <a:ext cx="2807497" cy="48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9EF1"/>
          </a:solidFill>
          <a:ln xmlns:a="http://schemas.openxmlformats.org/drawingml/2006/main" w="9525">
            <a:noFill/>
          </a:ln>
        </p:spPr>
        <p:txBody>
          <a:bodyPr xmlns:a="http://schemas.openxmlformats.org/drawingml/2006/main" wrap="none" lIns="0" r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1">
                <a:ln>
                  <a:solidFill>
                    <a:srgbClr val="CCECFF">
                      <a:alpha val="0"/>
                    </a:srgbClr>
                  </a:solidFill>
                </a:ln>
                <a:solidFill>
                  <a:schemeClr val="bg1"/>
                </a:solidFill>
                <a:latin typeface="나눔고딕"/>
                <a:ea typeface="나눔고딕"/>
                <a:cs typeface="나눔고딕"/>
              </a:rPr>
              <a:t>공급·거래 KPI</a:t>
            </a:r>
          </a:p>
        </p:txBody>
      </p:sp>
      <p:sp>
        <p:nvSpPr>
          <p:cNvPr id="40" name="직사각형 39">
            <a:extLst xmlns:a="http://schemas.openxmlformats.org/drawingml/2006/main">
              <a:ext uri="{FF2B5EF4-FFF2-40B4-BE49-F238E27FC236}">
                <a16:creationId xmlns:a16="http://schemas.microsoft.com/office/drawing/2014/main" id="{6BDD85B1-23E7-49B9-8DEB-FCF2ACF69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6704" y="2852504"/>
            <a:ext cx="2807497" cy="48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9EF1"/>
          </a:solidFill>
          <a:ln xmlns:a="http://schemas.openxmlformats.org/drawingml/2006/main" w="9525">
            <a:noFill/>
          </a:ln>
        </p:spPr>
        <p:txBody>
          <a:bodyPr xmlns:a="http://schemas.openxmlformats.org/drawingml/2006/main" wrap="none" lIns="0" rIns="0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spcBef>
                <a:spcPts val="600"/>
              </a:spcBef>
              <a:buNone/>
            </a:pPr>
            <a:r>
              <a:rPr sz="1300" b="1">
                <a:ln>
                  <a:solidFill>
                    <a:srgbClr val="CCECFF">
                      <a:alpha val="0"/>
                    </a:srgbClr>
                  </a:solidFill>
                </a:ln>
                <a:solidFill>
                  <a:schemeClr val="bg1"/>
                </a:solidFill>
                <a:latin typeface="나눔고딕"/>
                <a:ea typeface="나눔고딕"/>
                <a:cs typeface="나눔고딕"/>
              </a:rPr>
              <a:t>운영·재무 KPI</a:t>
            </a:r>
          </a:p>
        </p:txBody>
      </p:sp>
      <p:sp>
        <p:nvSpPr>
          <p:cNvPr id="30" name="AutoShape 1073">
            <a:extLst xmlns:a="http://schemas.openxmlformats.org/drawingml/2006/main">
              <a:ext uri="{FF2B5EF4-FFF2-40B4-BE49-F238E27FC236}">
                <a16:creationId xmlns:a16="http://schemas.microsoft.com/office/drawing/2014/main" id="{7AE85CCB-A499-464E-8F37-5A3EB5D68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087" y="6102821"/>
            <a:ext cx="8599625" cy="330307"/>
          </a:xfrm>
          <a:prstGeom xmlns:a="http://schemas.openxmlformats.org/drawingml/2006/main" prst="roundRect">
            <a:avLst>
              <a:gd name="adj" fmla="val 12278"/>
            </a:avLst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46800" rIns="0" bIns="46800" anchor="ctr"/>
          <a:lstStyle xmlns:a="http://schemas.openxmlformats.org/drawingml/2006/main">
            <a:lvl1pPr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1pPr>
            <a:lvl2pPr marL="742950" indent="-28575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2pPr>
            <a:lvl3pPr marL="11430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3pPr>
            <a:lvl4pPr marL="16002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4pPr>
            <a:lvl5pPr marL="2057400" indent="-228600"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굴림"/>
                <a:ea typeface="굴림"/>
                <a:cs typeface="굴림"/>
              </a:defRPr>
            </a:lvl9pPr>
          </a:lstStyle>
          <a:p xmlns:a="http://schemas.openxmlformats.org/drawingml/2006/main">
            <a:pPr>
              <a:buClr>
                <a:schemeClr val="accent2"/>
              </a:buClr>
              <a:buNone/>
            </a:pPr>
            <a:r>
              <a:rPr sz="1000">
                <a:latin typeface="나눔고딕"/>
                <a:ea typeface="나눔고딕"/>
                <a:cs typeface="나눔고딕"/>
              </a:rPr>
              <a:t>핵심 위험: 공급 부족, API 불안정, AI 환각, 개인정보·결제 규제, 취소·환불 분쟁. 각 위험은 상태·근거·감사·수동 복구로 통제합니다.</a:t>
            </a:r>
          </a:p>
        </p:txBody>
      </p:sp>
      <p:sp>
        <p:nvSpPr>
          <p:cNvPr id="2" name="슬라이드 번호 개체 틀 1">
            <a:extLst xmlns:a="http://schemas.openxmlformats.org/drawingml/2006/main">
              <a:ext uri="{FF2B5EF4-FFF2-40B4-BE49-F238E27FC236}">
                <a16:creationId xmlns:a16="http://schemas.microsoft.com/office/drawing/2014/main" id="{DDFC9716-A9B0-4549-A5B9-FE0891C55E6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BB18BA8-60F4-C50D-CD9B-1BB87D3E8506}" type="slidenum">
              <a:rPr>
                <a:latin typeface="나눔고딕"/>
                <a:ea typeface="나눔고딕"/>
                <a:cs typeface="나눔고딕"/>
              </a:rPr>
              <a:t>22</a:t>
            </a:fld>
          </a:p>
        </p:txBody>
      </p:sp>
    </p:spTree>
    <p:extLst>
      <p:ext uri="{BB962C8B-B14F-4D97-AF65-F5344CB8AC3E}">
        <p14:creationId xmlns:p14="http://schemas.microsoft.com/office/powerpoint/2010/main" val="2112425122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1121379C-0D13-4AE8-B8BB-5348C5B15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7" y="3661851"/>
            <a:ext cx="2058577" cy="944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defTabSz="371475">
              <a:buNone/>
            </a:pPr>
            <a:r>
              <a:rPr sz="2800" b="1">
                <a:solidFill>
                  <a:prstClr val="white"/>
                </a:solidFill>
                <a:latin typeface="나눔고딕"/>
                <a:ea typeface="나눔고딕"/>
                <a:cs typeface="나눔고딕"/>
              </a:rPr>
              <a:t>HotelNGo와 함께</a:t>
            </a:r>
          </a:p>
          <a:p xmlns:a="http://schemas.openxmlformats.org/drawingml/2006/main">
            <a:pPr defTabSz="371475">
              <a:buNone/>
            </a:pPr>
            <a:r>
              <a:rPr sz="2800" b="1">
                <a:solidFill>
                  <a:prstClr val="white"/>
                </a:solidFill>
                <a:latin typeface="나눔고딕"/>
                <a:ea typeface="나눔고딕"/>
                <a:cs typeface="나눔고딕"/>
              </a:rPr>
              <a:t>여행을 하나의 흐름으로 만들겠습니다.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F7CF67EE-D90A-4BE7-841F-23076BCF5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7342" y="2471762"/>
            <a:ext cx="6996953" cy="2529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 defTabSz="371475">
              <a:buNone/>
            </a:pPr>
            <a:r>
              <a:rPr sz="8000" b="1">
                <a:solidFill>
                  <a:prstClr val="white">
                    <a:alpha val="10000"/>
                  </a:prstClr>
                </a:solidFill>
                <a:latin typeface="Malgun Gothic"/>
                <a:ea typeface="Malgun Gothic"/>
                <a:cs typeface="Malgun Gothic"/>
              </a:rPr>
              <a:t>NEXT DECISION</a:t>
            </a:r>
          </a:p>
        </p:txBody>
      </p:sp>
    </p:spTree>
    <p:extLst>
      <p:ext uri="{BB962C8B-B14F-4D97-AF65-F5344CB8AC3E}">
        <p14:creationId xmlns:p14="http://schemas.microsoft.com/office/powerpoint/2010/main" val="1104532447"/>
      </p:ext>
    </p:extLst>
  </p:cSld>
</p:sld>
</file>

<file path=ppt/theme/theme1.xml><?xml version="1.0" encoding="utf-8"?>
<a:theme xmlns:a="http://schemas.openxmlformats.org/drawingml/2006/main" name="Office 테마">
  <a:themeElements>
    <a:clrScheme name="회색조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회색조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2026-07-27T05:56:46.1390000Z</dcterms:created>
  <dcterms:modified xsi:type="dcterms:W3CDTF">2026-07-27T05:56:46.1390000Z</dcterms:modified>
</coreProperties>
</file>